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accuracy</c:v>
                </c:pt>
              </c:strCache>
            </c:strRef>
          </c:tx>
          <c:spPr>
            <a:solidFill>
              <a:srgbClr val="5B6E88"/>
            </a:solidFill>
            <a:effectLst/>
          </c:spPr>
          <c:invertIfNegative val="0"/>
          <c:dLbls>
            <c:numFmt formatCode="0.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dPt>
            <c:idx val="0"/>
            <c:invertIfNegative val="0"/>
            <c:bubble3D val="0"/>
            <c:spPr>
              <a:solidFill>
                <a:srgbClr val="5B6E88"/>
              </a:solidFill>
              <a:effectLst/>
            </c:spPr>
          </c:dPt>
          <c:dPt>
            <c:idx val="1"/>
            <c:invertIfNegative val="0"/>
            <c:bubble3D val="0"/>
            <c:spPr>
              <a:solidFill>
                <a:srgbClr val="5B6E88"/>
              </a:solidFill>
              <a:effectLst/>
            </c:spPr>
          </c:dPt>
          <c:dPt>
            <c:idx val="2"/>
            <c:invertIfNegative val="0"/>
            <c:bubble3D val="0"/>
            <c:spPr>
              <a:solidFill>
                <a:srgbClr val="5B6E88"/>
              </a:solidFill>
              <a:effectLst/>
            </c:spPr>
          </c:dPt>
          <c:dPt>
            <c:idx val="3"/>
            <c:invertIfNegative val="0"/>
            <c:bubble3D val="0"/>
            <c:spPr>
              <a:solidFill>
                <a:srgbClr val="7FA8C9"/>
              </a:solidFill>
              <a:effectLst/>
            </c:spPr>
          </c:dPt>
          <c:dPt>
            <c:idx val="4"/>
            <c:invertIfNegative val="0"/>
            <c:bubble3D val="0"/>
            <c:spPr>
              <a:solidFill>
                <a:srgbClr val="7FA8C9"/>
              </a:solidFill>
              <a:effectLst/>
            </c:spPr>
          </c:dPt>
          <c:dPt>
            <c:idx val="5"/>
            <c:invertIfNegative val="0"/>
            <c:bubble3D val="0"/>
            <c:spPr>
              <a:solidFill>
                <a:srgbClr val="0E2A47"/>
              </a:solidFill>
              <a:effectLst/>
            </c:spPr>
          </c:dPt>
          <c:dPt>
            <c:idx val="6"/>
            <c:invertIfNegative val="0"/>
            <c:bubble3D val="0"/>
            <c:spPr>
              <a:solidFill>
                <a:srgbClr val="00A896"/>
              </a:solidFill>
              <a:effectLst/>
            </c:spPr>
          </c:dPt>
          <c:cat>
            <c:multiLvlStrRef>
              <c:f>Sheet1!$A$2:$A$8</c:f>
              <c:multiLvlStrCache>
                <c:ptCount val="7"/>
                <c:lvl>
                  <c:pt idx="0">
                    <c:v>48-view grid</c:v>
                  </c:pt>
                  <c:pt idx="1">
                    <c:v>8-view (old default)</c:v>
                  </c:pt>
                  <c:pt idx="2">
                    <c:v>hflip × rot × scale</c:v>
                  </c:pt>
                  <c:pt idx="3">
                    <c:v>hflip × scale</c:v>
                  </c:pt>
                  <c:pt idx="4">
                    <c:v>hflip × rot ±8°</c:v>
                  </c:pt>
                  <c:pt idx="5">
                    <c:v>No TTA</c:v>
                  </c:pt>
                  <c:pt idx="6">
                    <c:v>hflip only (shipped)</c:v>
                  </c:pt>
                </c:lvl>
              </c:multiLvlStrCache>
            </c:multiLvlStrRef>
          </c:cat>
          <c:val>
            <c:numRef>
              <c:f>Sheet1!$B$2:$B$8</c:f>
              <c:numCache>
                <c:formatCode>General</c:formatCode>
                <c:ptCount val="7"/>
                <c:pt idx="0">
                  <c:v>0.8869</c:v>
                </c:pt>
                <c:pt idx="1">
                  <c:v>0.8894</c:v>
                </c:pt>
                <c:pt idx="2">
                  <c:v>0.8906</c:v>
                </c:pt>
                <c:pt idx="3">
                  <c:v>0.9394</c:v>
                </c:pt>
                <c:pt idx="4">
                  <c:v>0.9456</c:v>
                </c:pt>
                <c:pt idx="5">
                  <c:v>0.9513</c:v>
                </c:pt>
                <c:pt idx="6">
                  <c:v>0.955</c:v>
                </c:pt>
              </c:numCache>
            </c:numRef>
          </c:val>
        </c:ser>
        <c:dLbls>
          <c:numFmt formatCode="0.0%" sourceLinked="0"/>
          <c:txPr>
            <a:bodyPr/>
            <a:lstStyle/>
            <a:p>
              <a:pPr>
                <a:defRPr b="0" i="0" strike="noStrike" sz="1000" u="none">
                  <a:solidFill>
                    <a:srgbClr val="1226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2263A"/>
                </a:solidFill>
                <a:latin typeface="Calibri"/>
              </a:defRPr>
            </a:pPr>
            <a:endParaRPr lang="en-US"/>
          </a:p>
        </c:txPr>
        <c:crossAx val="2094734552"/>
        <c:crosses val="autoZero"/>
        <c:auto val="1"/>
        <c:lblAlgn val="ctr"/>
        <c:noMultiLvlLbl val="1"/>
      </c:catAx>
      <c:valAx>
        <c:axId val="2094734552"/>
        <c:scaling>
          <c:orientation val="minMax"/>
          <c:max val="0.98"/>
          <c:min val="0.85"/>
        </c:scaling>
        <c:delete val="0"/>
        <c:axPos val="b"/>
        <c:majorGridlines>
          <c:spPr>
            <a:ln w="12700" cap="flat">
              <a:solidFill>
                <a:srgbClr val="E4EAF2"/>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E8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Precision</c:v>
                </c:pt>
              </c:strCache>
            </c:strRef>
          </c:tx>
          <c:spPr>
            <a:solidFill>
              <a:srgbClr val="0E2A47"/>
            </a:solidFill>
            <a:effectLst/>
          </c:spPr>
          <c:invertIfNegative val="0"/>
          <c:dLbls>
            <c:numFmt formatCode="0.00" sourceLinked="0"/>
            <c:txPr>
              <a:bodyPr/>
              <a:lstStyle/>
              <a:p>
                <a:pPr>
                  <a:defRPr b="0" i="0" strike="noStrike" sz="800" u="none">
                    <a:solidFill>
                      <a:srgbClr val="12263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Glioma</c:v>
                  </c:pt>
                  <c:pt idx="1">
                    <c:v>Meningioma</c:v>
                  </c:pt>
                  <c:pt idx="2">
                    <c:v>No_Tumor</c:v>
                  </c:pt>
                  <c:pt idx="3">
                    <c:v>Pituitary</c:v>
                  </c:pt>
                </c:lvl>
              </c:multiLvlStrCache>
            </c:multiLvlStrRef>
          </c:cat>
          <c:val>
            <c:numRef>
              <c:f>Sheet1!$B$2:$B$5</c:f>
              <c:numCache>
                <c:formatCode>General</c:formatCode>
                <c:ptCount val="4"/>
                <c:pt idx="0">
                  <c:v>0.9859</c:v>
                </c:pt>
                <c:pt idx="1">
                  <c:v>0.904</c:v>
                </c:pt>
                <c:pt idx="2">
                  <c:v>0.9662</c:v>
                </c:pt>
                <c:pt idx="3">
                  <c:v>0.9728</c:v>
                </c:pt>
              </c:numCache>
            </c:numRef>
          </c:val>
        </c:ser>
        <c:ser>
          <c:idx val="1"/>
          <c:order val="1"/>
          <c:tx>
            <c:strRef>
              <c:f>Sheet1!$C$1</c:f>
              <c:strCache>
                <c:ptCount val="1"/>
                <c:pt idx="0">
                  <c:v>Recall</c:v>
                </c:pt>
              </c:strCache>
            </c:strRef>
          </c:tx>
          <c:spPr>
            <a:solidFill>
              <a:srgbClr val="00A896"/>
            </a:solidFill>
            <a:effectLst/>
          </c:spPr>
          <c:invertIfNegative val="0"/>
          <c:dLbls>
            <c:numFmt formatCode="0.00" sourceLinked="0"/>
            <c:txPr>
              <a:bodyPr/>
              <a:lstStyle/>
              <a:p>
                <a:pPr>
                  <a:defRPr b="0" i="0" strike="noStrike" sz="800" u="none">
                    <a:solidFill>
                      <a:srgbClr val="12263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Glioma</c:v>
                  </c:pt>
                  <c:pt idx="1">
                    <c:v>Meningioma</c:v>
                  </c:pt>
                  <c:pt idx="2">
                    <c:v>No_Tumor</c:v>
                  </c:pt>
                  <c:pt idx="3">
                    <c:v>Pituitary</c:v>
                  </c:pt>
                </c:lvl>
              </c:multiLvlStrCache>
            </c:multiLvlStrRef>
          </c:cat>
          <c:val>
            <c:numRef>
              <c:f>Sheet1!$C$2:$C$5</c:f>
              <c:numCache>
                <c:formatCode>General</c:formatCode>
                <c:ptCount val="4"/>
                <c:pt idx="0">
                  <c:v>0.8725</c:v>
                </c:pt>
                <c:pt idx="1">
                  <c:v>0.965</c:v>
                </c:pt>
                <c:pt idx="2">
                  <c:v>1</c:v>
                </c:pt>
                <c:pt idx="3">
                  <c:v>0.985</c:v>
                </c:pt>
              </c:numCache>
            </c:numRef>
          </c:val>
        </c:ser>
        <c:ser>
          <c:idx val="2"/>
          <c:order val="2"/>
          <c:tx>
            <c:strRef>
              <c:f>Sheet1!$D$1</c:f>
              <c:strCache>
                <c:ptCount val="1"/>
                <c:pt idx="0">
                  <c:v>F1-score</c:v>
                </c:pt>
              </c:strCache>
            </c:strRef>
          </c:tx>
          <c:spPr>
            <a:solidFill>
              <a:srgbClr val="E9973F"/>
            </a:solidFill>
            <a:effectLst/>
          </c:spPr>
          <c:invertIfNegative val="0"/>
          <c:dLbls>
            <c:numFmt formatCode="0.00" sourceLinked="0"/>
            <c:txPr>
              <a:bodyPr/>
              <a:lstStyle/>
              <a:p>
                <a:pPr>
                  <a:defRPr b="0" i="0" strike="noStrike" sz="800" u="none">
                    <a:solidFill>
                      <a:srgbClr val="12263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Glioma</c:v>
                  </c:pt>
                  <c:pt idx="1">
                    <c:v>Meningioma</c:v>
                  </c:pt>
                  <c:pt idx="2">
                    <c:v>No_Tumor</c:v>
                  </c:pt>
                  <c:pt idx="3">
                    <c:v>Pituitary</c:v>
                  </c:pt>
                </c:lvl>
              </c:multiLvlStrCache>
            </c:multiLvlStrRef>
          </c:cat>
          <c:val>
            <c:numRef>
              <c:f>Sheet1!$D$2:$D$5</c:f>
              <c:numCache>
                <c:formatCode>General</c:formatCode>
                <c:ptCount val="4"/>
                <c:pt idx="0">
                  <c:v>0.9257</c:v>
                </c:pt>
                <c:pt idx="1">
                  <c:v>0.9335</c:v>
                </c:pt>
                <c:pt idx="2">
                  <c:v>0.9828</c:v>
                </c:pt>
                <c:pt idx="3">
                  <c:v>0.9789</c:v>
                </c:pt>
              </c:numCache>
            </c:numRef>
          </c:val>
        </c:ser>
        <c:dLbls>
          <c:numFmt formatCode="0.00" sourceLinked="0"/>
          <c:txPr>
            <a:bodyPr/>
            <a:lstStyle/>
            <a:p>
              <a:pPr>
                <a:defRPr b="0" i="0" strike="noStrike" sz="800" u="none">
                  <a:solidFill>
                    <a:srgbClr val="1226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63A"/>
                </a:solidFill>
                <a:latin typeface="Calibri"/>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12700" cap="flat">
              <a:solidFill>
                <a:srgbClr val="E4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E8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12263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Both headline numbers are shown, but flag immediately that the two systems were evaluated on different datasets, so this is not a like-for-like race. The real contribution is the engineering and clinical layer, covered from slide 13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slide so no term in the deck is unexplained. Both systems share MRI, CNN, HOG, CBAM and Grad-CAM. PCA, TTA, AMP, WHO and AUC appear only in our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Name the authors and venue — examiners expect the source to be credited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64x64 resolution and the class imbalance are the two facts that matter most here — both become upgrade targets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CNN is shallow and trained from scratch - 1.15M parameters. Note that they use the attention idea we also use; the difference is the backbone it sits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for the viva: the SVM is a SECOND, separate training stage on frozen CNN features. The CNN never learns from the SVM's mistakes. That is exactly what we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steps. The important structural fact is steps 4 and 8: two separate training stages, with a hard freeze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strongest class is Pituitary. Their weakest is Meningioma precision at 0.90. Flag the imbalance now so the comparability discussion later is not a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Everything we changed answers something the authors themselves listed as unfinished — that is the cleanest possible justification for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second half: the paper produced a classifier; we produced a deployable system with safeguards around the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architectural difference: our two branches are jointly optimised. The paper's CNN and SVM are trained in two separate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slowly in the viva. Steps 1-5 map onto the paper; steps 6-9 are the clinical decision-support layer that makes this a system rather than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the code walkthrough. These are the real functions from the repository, not pseudocode.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uses this same CBAM idea (Section III.B) on a 3-block custom CNN. We apply it after ResNet50's layer4. Point out the inplace=False detail - it is the kind of engineering care an examiner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the single most important code difference, this is it: end-to-end joint optimisation versus a frozen two-stage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gamma=2.0 is the value from the original RetinaNet paper and the standard default. Be ready to explain that (1-pt)^gamma is a *modulating factor*, not a separate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unscale_ before clip_grad_norm_, otherwise you clip scaled gradients and the threshold means nothing. That is a real bug people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pairs with the TTA results slide. The lesson: config that is never read is worse than no config, because it looks tunable and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'isn't that just gaming the metric?' - no, because accuracy is reported on the plain argmax; this rule governs what the UI shows a clinician, and it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model-level upgrades. If asked to name the single most important one, say end-to-end training: it changes what the network is able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Upgrade 6 is worth dwelling on: we made augmentation anatomy-aware. That same reasoning drives the TTA finding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to lead with if asked 'what did you actually discover?'. It is a measured, reproducible finding with a physical explanation, and the methodology (select on validation, confirm once on test) is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trio is what turns a paper reproduction into a final-year engineering project. The paper itself lists Grad-CAM in its interface section as a future extension; we shipped three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reference. If an examiner asks 'what exactly is different', this is the slide to return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the comparability note. An examiner will ask, and volunteering it is far stronger than being caught. The defensible claim is the internal before/after, not a head-to-head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Glioma recall at 0.8725 is our weakest metric and the honest place to point when asked about weaknesses. Precision on Glioma is 0.9859, so when it says glioma it is almost always right - it just misses some.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this finding. Finding leakage in your own benchmark and reporting the corrected number is far stronger than being asked about it. The honest generalisation estimate to quote is 95.42%, and the tool that produces it ships with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interesting result is the negative one. Protocol A is what most people would do by default, and it actively hurts. Being able to show why - domain shift between the Training and Testing folders - is the substance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old limitations slide. Two items moved from 'not solved' to 'solved with evidence'. The four that remain are dataset-imposed, and saying so plainly is the correct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on the next two slides was produced by an actual run against data/Testing, captured in one consolidated verification script. If challenged on any single feature, it can be re-run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and explainability. The TTA and volumetric rows are the two with measured evidence behind them - lead with those if asked which features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interfaces and tooling. The tooling group is what turns claims into things an examiner can re-run: every number in this deck has a command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answer to 'how do you know your features work?'. The unit tests all passed while this was broken, because none of them asserted on the safeguard's behaviour with a realistic probability vector. Exercising the feature end-to-end is what found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quote aloud. Three of the four things it names are already done in our system, which is the cleanest possible framing of the project's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'what is your contribution?'. Do not oversell the PARTIAL rows - volumetric slice aggregation is not the same thing as a 3D attention module, and saying so protects the rest of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1 is the one to lead with if asked 'why no grading?'. Attempting it, testing it and reporting the failure is a much stronger answer than never having tried - and validate_localisation.py reproduces the result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framing that the paper is a foundation we credited and built on, not a target we beat. The engineering and clinical layer is the project's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9509760" y="-1371600"/>
            <a:ext cx="4206240" cy="4206240"/>
          </a:xfrm>
          <a:prstGeom prst="ellipse">
            <a:avLst/>
          </a:prstGeom>
          <a:solidFill>
            <a:srgbClr val="16395E"/>
          </a:solidFill>
          <a:ln/>
        </p:spPr>
      </p:sp>
      <p:sp>
        <p:nvSpPr>
          <p:cNvPr id="3" name="Shape 1"/>
          <p:cNvSpPr/>
          <p:nvPr/>
        </p:nvSpPr>
        <p:spPr>
          <a:xfrm>
            <a:off x="10607040" y="4663440"/>
            <a:ext cx="2377440" cy="2377440"/>
          </a:xfrm>
          <a:prstGeom prst="ellipse">
            <a:avLst/>
          </a:prstGeom>
          <a:solidFill>
            <a:srgbClr val="16395E"/>
          </a:solidFill>
          <a:ln/>
        </p:spPr>
      </p:sp>
      <p:sp>
        <p:nvSpPr>
          <p:cNvPr id="4" name="Text 2"/>
          <p:cNvSpPr txBox="1"/>
          <p:nvPr/>
        </p:nvSpPr>
        <p:spPr>
          <a:xfrm>
            <a:off x="548640" y="1143000"/>
            <a:ext cx="877824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FINAL YEAR PROJECT  ·  COMPARATIVE STUDY</a:t>
            </a:r>
            <a:endParaRPr lang="en-US" sz="1200" dirty="0"/>
          </a:p>
        </p:txBody>
      </p:sp>
      <p:sp>
        <p:nvSpPr>
          <p:cNvPr id="5" name="Text 3"/>
          <p:cNvSpPr txBox="1"/>
          <p:nvPr/>
        </p:nvSpPr>
        <p:spPr>
          <a:xfrm>
            <a:off x="548640" y="1600200"/>
            <a:ext cx="896112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FreeBuff v4 vs. the Source Paper</a:t>
            </a:r>
            <a:endParaRPr lang="en-US" sz="4600" dirty="0"/>
          </a:p>
        </p:txBody>
      </p:sp>
      <p:sp>
        <p:nvSpPr>
          <p:cNvPr id="6" name="Text 4"/>
          <p:cNvSpPr txBox="1"/>
          <p:nvPr/>
        </p:nvSpPr>
        <p:spPr>
          <a:xfrm>
            <a:off x="548640" y="2788920"/>
            <a:ext cx="8412480" cy="457200"/>
          </a:xfrm>
          <a:prstGeom prst="rect">
            <a:avLst/>
          </a:prstGeom>
          <a:noFill/>
          <a:ln/>
        </p:spPr>
        <p:txBody>
          <a:bodyPr wrap="square" lIns="0" tIns="0" rIns="0" bIns="0" rtlCol="0" anchor="ctr"/>
          <a:lstStyle/>
          <a:p>
            <a:pPr indent="0" marL="0">
              <a:buNone/>
            </a:pPr>
            <a:r>
              <a:rPr lang="en-US" sz="1600" dirty="0">
                <a:solidFill>
                  <a:srgbClr val="C9DCEF"/>
                </a:solidFill>
                <a:latin typeface="Calibri" pitchFamily="34" charset="0"/>
                <a:ea typeface="Calibri" pitchFamily="34" charset="-122"/>
                <a:cs typeface="Calibri" pitchFamily="34" charset="-120"/>
              </a:rPr>
              <a:t>What the IEEE paper built, what we rebuilt, and why every change was made</a:t>
            </a:r>
            <a:endParaRPr lang="en-US" sz="1600" dirty="0"/>
          </a:p>
        </p:txBody>
      </p:sp>
      <p:sp>
        <p:nvSpPr>
          <p:cNvPr id="7" name="Shape 5"/>
          <p:cNvSpPr/>
          <p:nvPr/>
        </p:nvSpPr>
        <p:spPr>
          <a:xfrm>
            <a:off x="548640" y="3611880"/>
            <a:ext cx="3931920" cy="1371600"/>
          </a:xfrm>
          <a:prstGeom prst="roundRect">
            <a:avLst>
              <a:gd name="adj" fmla="val 5333"/>
            </a:avLst>
          </a:prstGeom>
          <a:solidFill>
            <a:srgbClr val="16395E"/>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8" name="Shape 6"/>
          <p:cNvSpPr/>
          <p:nvPr/>
        </p:nvSpPr>
        <p:spPr>
          <a:xfrm>
            <a:off x="548640" y="3611880"/>
            <a:ext cx="3931920" cy="1371600"/>
          </a:xfrm>
          <a:prstGeom prst="roundRect">
            <a:avLst>
              <a:gd name="adj" fmla="val 5333"/>
            </a:avLst>
          </a:prstGeom>
          <a:solidFill>
            <a:srgbClr val="16395E"/>
          </a:solidFill>
          <a:ln w="12700">
            <a:solidFill>
              <a:srgbClr val="27496F"/>
            </a:solidFill>
            <a:prstDash val="solid"/>
          </a:ln>
        </p:spPr>
      </p:sp>
      <p:sp>
        <p:nvSpPr>
          <p:cNvPr id="9" name="Text 7"/>
          <p:cNvSpPr txBox="1"/>
          <p:nvPr/>
        </p:nvSpPr>
        <p:spPr>
          <a:xfrm>
            <a:off x="804672" y="3776472"/>
            <a:ext cx="3383280" cy="237744"/>
          </a:xfrm>
          <a:prstGeom prst="rect">
            <a:avLst/>
          </a:prstGeom>
          <a:noFill/>
          <a:ln/>
        </p:spPr>
        <p:txBody>
          <a:bodyPr wrap="square" lIns="0" tIns="0" rIns="0" bIns="0" rtlCol="0" anchor="ctr"/>
          <a:lstStyle/>
          <a:p>
            <a:pPr indent="0" marL="0">
              <a:buNone/>
            </a:pPr>
            <a:r>
              <a:rPr lang="en-US" sz="1100" dirty="0">
                <a:solidFill>
                  <a:srgbClr val="C9DCEF"/>
                </a:solidFill>
                <a:latin typeface="Calibri" pitchFamily="34" charset="0"/>
                <a:ea typeface="Calibri" pitchFamily="34" charset="-122"/>
                <a:cs typeface="Calibri" pitchFamily="34" charset="-120"/>
              </a:rPr>
              <a:t>Source paper</a:t>
            </a:r>
            <a:endParaRPr lang="en-US" sz="1100" dirty="0"/>
          </a:p>
        </p:txBody>
      </p:sp>
      <p:sp>
        <p:nvSpPr>
          <p:cNvPr id="10" name="Text 8"/>
          <p:cNvSpPr txBox="1"/>
          <p:nvPr/>
        </p:nvSpPr>
        <p:spPr>
          <a:xfrm>
            <a:off x="804672" y="4005072"/>
            <a:ext cx="338328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94.81%</a:t>
            </a:r>
            <a:endParaRPr lang="en-US" sz="3400" dirty="0"/>
          </a:p>
        </p:txBody>
      </p:sp>
      <p:sp>
        <p:nvSpPr>
          <p:cNvPr id="11" name="Text 9"/>
          <p:cNvSpPr txBox="1"/>
          <p:nvPr/>
        </p:nvSpPr>
        <p:spPr>
          <a:xfrm>
            <a:off x="804672" y="4535424"/>
            <a:ext cx="3383280" cy="256032"/>
          </a:xfrm>
          <a:prstGeom prst="rect">
            <a:avLst/>
          </a:prstGeom>
          <a:noFill/>
          <a:ln/>
        </p:spPr>
        <p:txBody>
          <a:bodyPr wrap="square" lIns="0" tIns="0" rIns="0" bIns="0" rtlCol="0" anchor="ctr"/>
          <a:lstStyle/>
          <a:p>
            <a:pPr indent="0" marL="0">
              <a:buNone/>
            </a:pPr>
            <a:r>
              <a:rPr lang="en-US" sz="1000" dirty="0">
                <a:solidFill>
                  <a:srgbClr val="C9DCEF"/>
                </a:solidFill>
                <a:latin typeface="Calibri" pitchFamily="34" charset="0"/>
                <a:ea typeface="Calibri" pitchFamily="34" charset="-122"/>
                <a:cs typeface="Calibri" pitchFamily="34" charset="-120"/>
              </a:rPr>
              <a:t>CNN + HOG + SVM  ·  1,771 test images</a:t>
            </a:r>
            <a:endParaRPr lang="en-US" sz="1000" dirty="0"/>
          </a:p>
        </p:txBody>
      </p:sp>
      <p:sp>
        <p:nvSpPr>
          <p:cNvPr id="12" name="Shape 10"/>
          <p:cNvSpPr/>
          <p:nvPr/>
        </p:nvSpPr>
        <p:spPr>
          <a:xfrm>
            <a:off x="4754880" y="3611880"/>
            <a:ext cx="3931920" cy="1371600"/>
          </a:xfrm>
          <a:prstGeom prst="roundRect">
            <a:avLst>
              <a:gd name="adj" fmla="val 5333"/>
            </a:avLst>
          </a:prstGeom>
          <a:solidFill>
            <a:srgbClr val="00A896"/>
          </a:solidFill>
          <a:ln w="12700">
            <a:solidFill>
              <a:srgbClr val="00A896"/>
            </a:solidFill>
            <a:prstDash val="solid"/>
          </a:ln>
        </p:spPr>
      </p:sp>
      <p:sp>
        <p:nvSpPr>
          <p:cNvPr id="13" name="Text 11"/>
          <p:cNvSpPr txBox="1"/>
          <p:nvPr/>
        </p:nvSpPr>
        <p:spPr>
          <a:xfrm>
            <a:off x="5010912" y="3776472"/>
            <a:ext cx="3383280" cy="237744"/>
          </a:xfrm>
          <a:prstGeom prst="rect">
            <a:avLst/>
          </a:prstGeom>
          <a:noFill/>
          <a:ln/>
        </p:spPr>
        <p:txBody>
          <a:bodyPr wrap="square" lIns="0" tIns="0" rIns="0" bIns="0" rtlCol="0" anchor="ctr"/>
          <a:lstStyle/>
          <a:p>
            <a:pPr indent="0" marL="0">
              <a:buNone/>
            </a:pPr>
            <a:r>
              <a:rPr lang="en-US" sz="1100" dirty="0">
                <a:solidFill>
                  <a:srgbClr val="062F2B"/>
                </a:solidFill>
                <a:latin typeface="Calibri" pitchFamily="34" charset="0"/>
                <a:ea typeface="Calibri" pitchFamily="34" charset="-122"/>
                <a:cs typeface="Calibri" pitchFamily="34" charset="-120"/>
              </a:rPr>
              <a:t>Our system — FreeBuff v4</a:t>
            </a:r>
            <a:endParaRPr lang="en-US" sz="1100" dirty="0"/>
          </a:p>
        </p:txBody>
      </p:sp>
      <p:sp>
        <p:nvSpPr>
          <p:cNvPr id="14" name="Text 12"/>
          <p:cNvSpPr txBox="1"/>
          <p:nvPr/>
        </p:nvSpPr>
        <p:spPr>
          <a:xfrm>
            <a:off x="5010912" y="4005072"/>
            <a:ext cx="338328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94.53%</a:t>
            </a:r>
            <a:endParaRPr lang="en-US" sz="3400" dirty="0"/>
          </a:p>
        </p:txBody>
      </p:sp>
      <p:sp>
        <p:nvSpPr>
          <p:cNvPr id="15" name="Text 13"/>
          <p:cNvSpPr txBox="1"/>
          <p:nvPr/>
        </p:nvSpPr>
        <p:spPr>
          <a:xfrm>
            <a:off x="5010912" y="4535424"/>
            <a:ext cx="3383280" cy="256032"/>
          </a:xfrm>
          <a:prstGeom prst="rect">
            <a:avLst/>
          </a:prstGeom>
          <a:noFill/>
          <a:ln/>
        </p:spPr>
        <p:txBody>
          <a:bodyPr wrap="square" lIns="0" tIns="0" rIns="0" bIns="0" rtlCol="0" anchor="ctr"/>
          <a:lstStyle/>
          <a:p>
            <a:pPr indent="0" marL="0">
              <a:buNone/>
            </a:pPr>
            <a:r>
              <a:rPr lang="en-US" sz="1000" dirty="0">
                <a:solidFill>
                  <a:srgbClr val="062F2B"/>
                </a:solidFill>
                <a:latin typeface="Calibri" pitchFamily="34" charset="0"/>
                <a:ea typeface="Calibri" pitchFamily="34" charset="-122"/>
                <a:cs typeface="Calibri" pitchFamily="34" charset="-120"/>
              </a:rPr>
              <a:t>ResNet50+CBAM ⊕ HOG-PCA  ·  1,189 uncontaminated images</a:t>
            </a:r>
            <a:endParaRPr lang="en-US" sz="1000" dirty="0"/>
          </a:p>
        </p:txBody>
      </p:sp>
      <p:sp>
        <p:nvSpPr>
          <p:cNvPr id="16" name="Text 14"/>
          <p:cNvSpPr txBox="1"/>
          <p:nvPr/>
        </p:nvSpPr>
        <p:spPr>
          <a:xfrm>
            <a:off x="548640" y="5138928"/>
            <a:ext cx="8412480" cy="274320"/>
          </a:xfrm>
          <a:prstGeom prst="rect">
            <a:avLst/>
          </a:prstGeom>
          <a:noFill/>
          <a:ln/>
        </p:spPr>
        <p:txBody>
          <a:bodyPr wrap="square" lIns="0" tIns="0" rIns="0" bIns="0" rtlCol="0" anchor="ctr"/>
          <a:lstStyle/>
          <a:p>
            <a:pPr indent="0" marL="0">
              <a:buNone/>
            </a:pPr>
            <a:r>
              <a:rPr lang="en-US" sz="1050" i="1" dirty="0">
                <a:solidFill>
                  <a:srgbClr val="8FA9C4"/>
                </a:solidFill>
                <a:latin typeface="Calibri" pitchFamily="34" charset="0"/>
                <a:ea typeface="Calibri" pitchFamily="34" charset="-122"/>
                <a:cs typeface="Calibri" pitchFamily="34" charset="-120"/>
              </a:rPr>
              <a:t>Different datasets, and ours is audited for contamination — see slides 18 and 27.</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TERMINOLOGY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Every acronym, in full</a:t>
            </a:r>
            <a:endParaRPr lang="en-US" sz="3200" dirty="0"/>
          </a:p>
        </p:txBody>
      </p:sp>
      <p:sp>
        <p:nvSpPr>
          <p:cNvPr id="4" name="Shape 2"/>
          <p:cNvSpPr/>
          <p:nvPr/>
        </p:nvSpPr>
        <p:spPr>
          <a:xfrm>
            <a:off x="548640" y="1463040"/>
            <a:ext cx="960120" cy="457200"/>
          </a:xfrm>
          <a:prstGeom prst="roundRect">
            <a:avLst>
              <a:gd name="adj" fmla="val 12000"/>
            </a:avLst>
          </a:prstGeom>
          <a:solidFill>
            <a:srgbClr val="0E2A47"/>
          </a:solidFill>
          <a:ln w="12700">
            <a:solidFill>
              <a:srgbClr val="0E2A47"/>
            </a:solidFill>
            <a:prstDash val="solid"/>
          </a:ln>
        </p:spPr>
      </p:sp>
      <p:sp>
        <p:nvSpPr>
          <p:cNvPr id="5" name="Text 3"/>
          <p:cNvSpPr txBox="1"/>
          <p:nvPr/>
        </p:nvSpPr>
        <p:spPr>
          <a:xfrm>
            <a:off x="548640" y="1463040"/>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MRI</a:t>
            </a:r>
            <a:endParaRPr lang="en-US" sz="1050" dirty="0"/>
          </a:p>
        </p:txBody>
      </p:sp>
      <p:sp>
        <p:nvSpPr>
          <p:cNvPr id="6" name="Text 4"/>
          <p:cNvSpPr txBox="1"/>
          <p:nvPr/>
        </p:nvSpPr>
        <p:spPr>
          <a:xfrm>
            <a:off x="1627632" y="1453896"/>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Magnetic Resonance Imaging</a:t>
            </a:r>
            <a:endParaRPr lang="en-US" sz="1300" dirty="0"/>
          </a:p>
        </p:txBody>
      </p:sp>
      <p:sp>
        <p:nvSpPr>
          <p:cNvPr id="7" name="Text 5"/>
          <p:cNvSpPr txBox="1"/>
          <p:nvPr/>
        </p:nvSpPr>
        <p:spPr>
          <a:xfrm>
            <a:off x="1627632" y="1709928"/>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The scan type used as input.</a:t>
            </a:r>
            <a:endParaRPr lang="en-US" sz="1050" dirty="0"/>
          </a:p>
        </p:txBody>
      </p:sp>
      <p:sp>
        <p:nvSpPr>
          <p:cNvPr id="8" name="Shape 6"/>
          <p:cNvSpPr/>
          <p:nvPr/>
        </p:nvSpPr>
        <p:spPr>
          <a:xfrm>
            <a:off x="6263640" y="1463040"/>
            <a:ext cx="960120" cy="457200"/>
          </a:xfrm>
          <a:prstGeom prst="roundRect">
            <a:avLst>
              <a:gd name="adj" fmla="val 12000"/>
            </a:avLst>
          </a:prstGeom>
          <a:solidFill>
            <a:srgbClr val="00A896"/>
          </a:solidFill>
          <a:ln w="12700">
            <a:solidFill>
              <a:srgbClr val="00A896"/>
            </a:solidFill>
            <a:prstDash val="solid"/>
          </a:ln>
        </p:spPr>
      </p:sp>
      <p:sp>
        <p:nvSpPr>
          <p:cNvPr id="9" name="Text 7"/>
          <p:cNvSpPr txBox="1"/>
          <p:nvPr/>
        </p:nvSpPr>
        <p:spPr>
          <a:xfrm>
            <a:off x="6263640" y="1463040"/>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CNN</a:t>
            </a:r>
            <a:endParaRPr lang="en-US" sz="1050" dirty="0"/>
          </a:p>
        </p:txBody>
      </p:sp>
      <p:sp>
        <p:nvSpPr>
          <p:cNvPr id="10" name="Text 8"/>
          <p:cNvSpPr txBox="1"/>
          <p:nvPr/>
        </p:nvSpPr>
        <p:spPr>
          <a:xfrm>
            <a:off x="7342632" y="1453896"/>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Convolutional Neural Network</a:t>
            </a:r>
            <a:endParaRPr lang="en-US" sz="1300" dirty="0"/>
          </a:p>
        </p:txBody>
      </p:sp>
      <p:sp>
        <p:nvSpPr>
          <p:cNvPr id="11" name="Text 9"/>
          <p:cNvSpPr txBox="1"/>
          <p:nvPr/>
        </p:nvSpPr>
        <p:spPr>
          <a:xfrm>
            <a:off x="7342632" y="1709928"/>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Learns visual features automatically.</a:t>
            </a:r>
            <a:endParaRPr lang="en-US" sz="1050" dirty="0"/>
          </a:p>
        </p:txBody>
      </p:sp>
      <p:sp>
        <p:nvSpPr>
          <p:cNvPr id="12" name="Shape 10"/>
          <p:cNvSpPr/>
          <p:nvPr/>
        </p:nvSpPr>
        <p:spPr>
          <a:xfrm>
            <a:off x="548640" y="2221992"/>
            <a:ext cx="960120" cy="457200"/>
          </a:xfrm>
          <a:prstGeom prst="roundRect">
            <a:avLst>
              <a:gd name="adj" fmla="val 12000"/>
            </a:avLst>
          </a:prstGeom>
          <a:solidFill>
            <a:srgbClr val="0E2A47"/>
          </a:solidFill>
          <a:ln w="12700">
            <a:solidFill>
              <a:srgbClr val="0E2A47"/>
            </a:solidFill>
            <a:prstDash val="solid"/>
          </a:ln>
        </p:spPr>
      </p:sp>
      <p:sp>
        <p:nvSpPr>
          <p:cNvPr id="13" name="Text 11"/>
          <p:cNvSpPr txBox="1"/>
          <p:nvPr/>
        </p:nvSpPr>
        <p:spPr>
          <a:xfrm>
            <a:off x="548640" y="2221992"/>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HOG</a:t>
            </a:r>
            <a:endParaRPr lang="en-US" sz="1050" dirty="0"/>
          </a:p>
        </p:txBody>
      </p:sp>
      <p:sp>
        <p:nvSpPr>
          <p:cNvPr id="14" name="Text 12"/>
          <p:cNvSpPr txBox="1"/>
          <p:nvPr/>
        </p:nvSpPr>
        <p:spPr>
          <a:xfrm>
            <a:off x="1627632" y="2212848"/>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Histogram of Oriented Gradients</a:t>
            </a:r>
            <a:endParaRPr lang="en-US" sz="1300" dirty="0"/>
          </a:p>
        </p:txBody>
      </p:sp>
      <p:sp>
        <p:nvSpPr>
          <p:cNvPr id="15" name="Text 13"/>
          <p:cNvSpPr txBox="1"/>
          <p:nvPr/>
        </p:nvSpPr>
        <p:spPr>
          <a:xfrm>
            <a:off x="1627632" y="2468880"/>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Hand-designed edge/texture descriptor.</a:t>
            </a:r>
            <a:endParaRPr lang="en-US" sz="1050" dirty="0"/>
          </a:p>
        </p:txBody>
      </p:sp>
      <p:sp>
        <p:nvSpPr>
          <p:cNvPr id="16" name="Shape 14"/>
          <p:cNvSpPr/>
          <p:nvPr/>
        </p:nvSpPr>
        <p:spPr>
          <a:xfrm>
            <a:off x="6263640" y="2221992"/>
            <a:ext cx="960120" cy="457200"/>
          </a:xfrm>
          <a:prstGeom prst="roundRect">
            <a:avLst>
              <a:gd name="adj" fmla="val 12000"/>
            </a:avLst>
          </a:prstGeom>
          <a:solidFill>
            <a:srgbClr val="00A896"/>
          </a:solidFill>
          <a:ln w="12700">
            <a:solidFill>
              <a:srgbClr val="00A896"/>
            </a:solidFill>
            <a:prstDash val="solid"/>
          </a:ln>
        </p:spPr>
      </p:sp>
      <p:sp>
        <p:nvSpPr>
          <p:cNvPr id="17" name="Text 15"/>
          <p:cNvSpPr txBox="1"/>
          <p:nvPr/>
        </p:nvSpPr>
        <p:spPr>
          <a:xfrm>
            <a:off x="6263640" y="2221992"/>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SVM</a:t>
            </a:r>
            <a:endParaRPr lang="en-US" sz="1050" dirty="0"/>
          </a:p>
        </p:txBody>
      </p:sp>
      <p:sp>
        <p:nvSpPr>
          <p:cNvPr id="18" name="Text 16"/>
          <p:cNvSpPr txBox="1"/>
          <p:nvPr/>
        </p:nvSpPr>
        <p:spPr>
          <a:xfrm>
            <a:off x="7342632" y="2212848"/>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Support Vector Machine</a:t>
            </a:r>
            <a:endParaRPr lang="en-US" sz="1300" dirty="0"/>
          </a:p>
        </p:txBody>
      </p:sp>
      <p:sp>
        <p:nvSpPr>
          <p:cNvPr id="19" name="Text 17"/>
          <p:cNvSpPr txBox="1"/>
          <p:nvPr/>
        </p:nvSpPr>
        <p:spPr>
          <a:xfrm>
            <a:off x="7342632" y="2468880"/>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Classical classifier with a margin.</a:t>
            </a:r>
            <a:endParaRPr lang="en-US" sz="1050" dirty="0"/>
          </a:p>
        </p:txBody>
      </p:sp>
      <p:sp>
        <p:nvSpPr>
          <p:cNvPr id="20" name="Shape 18"/>
          <p:cNvSpPr/>
          <p:nvPr/>
        </p:nvSpPr>
        <p:spPr>
          <a:xfrm>
            <a:off x="548640" y="2980944"/>
            <a:ext cx="960120" cy="457200"/>
          </a:xfrm>
          <a:prstGeom prst="roundRect">
            <a:avLst>
              <a:gd name="adj" fmla="val 12000"/>
            </a:avLst>
          </a:prstGeom>
          <a:solidFill>
            <a:srgbClr val="0E2A47"/>
          </a:solidFill>
          <a:ln w="12700">
            <a:solidFill>
              <a:srgbClr val="0E2A47"/>
            </a:solidFill>
            <a:prstDash val="solid"/>
          </a:ln>
        </p:spPr>
      </p:sp>
      <p:sp>
        <p:nvSpPr>
          <p:cNvPr id="21" name="Text 19"/>
          <p:cNvSpPr txBox="1"/>
          <p:nvPr/>
        </p:nvSpPr>
        <p:spPr>
          <a:xfrm>
            <a:off x="548640" y="2980944"/>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RBF</a:t>
            </a:r>
            <a:endParaRPr lang="en-US" sz="1050" dirty="0"/>
          </a:p>
        </p:txBody>
      </p:sp>
      <p:sp>
        <p:nvSpPr>
          <p:cNvPr id="22" name="Text 20"/>
          <p:cNvSpPr txBox="1"/>
          <p:nvPr/>
        </p:nvSpPr>
        <p:spPr>
          <a:xfrm>
            <a:off x="1627632" y="2971800"/>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Radial Basis Function</a:t>
            </a:r>
            <a:endParaRPr lang="en-US" sz="1300" dirty="0"/>
          </a:p>
        </p:txBody>
      </p:sp>
      <p:sp>
        <p:nvSpPr>
          <p:cNvPr id="23" name="Text 21"/>
          <p:cNvSpPr txBox="1"/>
          <p:nvPr/>
        </p:nvSpPr>
        <p:spPr>
          <a:xfrm>
            <a:off x="1627632" y="3227832"/>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SVM kernel for non-linear boundaries.</a:t>
            </a:r>
            <a:endParaRPr lang="en-US" sz="1050" dirty="0"/>
          </a:p>
        </p:txBody>
      </p:sp>
      <p:sp>
        <p:nvSpPr>
          <p:cNvPr id="24" name="Shape 22"/>
          <p:cNvSpPr/>
          <p:nvPr/>
        </p:nvSpPr>
        <p:spPr>
          <a:xfrm>
            <a:off x="6263640" y="2980944"/>
            <a:ext cx="960120" cy="457200"/>
          </a:xfrm>
          <a:prstGeom prst="roundRect">
            <a:avLst>
              <a:gd name="adj" fmla="val 12000"/>
            </a:avLst>
          </a:prstGeom>
          <a:solidFill>
            <a:srgbClr val="00A896"/>
          </a:solidFill>
          <a:ln w="12700">
            <a:solidFill>
              <a:srgbClr val="00A896"/>
            </a:solidFill>
            <a:prstDash val="solid"/>
          </a:ln>
        </p:spPr>
      </p:sp>
      <p:sp>
        <p:nvSpPr>
          <p:cNvPr id="25" name="Text 23"/>
          <p:cNvSpPr txBox="1"/>
          <p:nvPr/>
        </p:nvSpPr>
        <p:spPr>
          <a:xfrm>
            <a:off x="6263640" y="2980944"/>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CBAM</a:t>
            </a:r>
            <a:endParaRPr lang="en-US" sz="1050" dirty="0"/>
          </a:p>
        </p:txBody>
      </p:sp>
      <p:sp>
        <p:nvSpPr>
          <p:cNvPr id="26" name="Text 24"/>
          <p:cNvSpPr txBox="1"/>
          <p:nvPr/>
        </p:nvSpPr>
        <p:spPr>
          <a:xfrm>
            <a:off x="7342632" y="2971800"/>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Convolutional Block Attention Module</a:t>
            </a:r>
            <a:endParaRPr lang="en-US" sz="1300" dirty="0"/>
          </a:p>
        </p:txBody>
      </p:sp>
      <p:sp>
        <p:nvSpPr>
          <p:cNvPr id="27" name="Text 25"/>
          <p:cNvSpPr txBox="1"/>
          <p:nvPr/>
        </p:nvSpPr>
        <p:spPr>
          <a:xfrm>
            <a:off x="7342632" y="3227832"/>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Tells the net where and what to look at.</a:t>
            </a:r>
            <a:endParaRPr lang="en-US" sz="1050" dirty="0"/>
          </a:p>
        </p:txBody>
      </p:sp>
      <p:sp>
        <p:nvSpPr>
          <p:cNvPr id="28" name="Shape 26"/>
          <p:cNvSpPr/>
          <p:nvPr/>
        </p:nvSpPr>
        <p:spPr>
          <a:xfrm>
            <a:off x="548640" y="3739896"/>
            <a:ext cx="960120" cy="457200"/>
          </a:xfrm>
          <a:prstGeom prst="roundRect">
            <a:avLst>
              <a:gd name="adj" fmla="val 12000"/>
            </a:avLst>
          </a:prstGeom>
          <a:solidFill>
            <a:srgbClr val="0E2A47"/>
          </a:solidFill>
          <a:ln w="12700">
            <a:solidFill>
              <a:srgbClr val="0E2A47"/>
            </a:solidFill>
            <a:prstDash val="solid"/>
          </a:ln>
        </p:spPr>
      </p:sp>
      <p:sp>
        <p:nvSpPr>
          <p:cNvPr id="29" name="Text 27"/>
          <p:cNvSpPr txBox="1"/>
          <p:nvPr/>
        </p:nvSpPr>
        <p:spPr>
          <a:xfrm>
            <a:off x="548640" y="3739896"/>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PCA</a:t>
            </a:r>
            <a:endParaRPr lang="en-US" sz="1050" dirty="0"/>
          </a:p>
        </p:txBody>
      </p:sp>
      <p:sp>
        <p:nvSpPr>
          <p:cNvPr id="30" name="Text 28"/>
          <p:cNvSpPr txBox="1"/>
          <p:nvPr/>
        </p:nvSpPr>
        <p:spPr>
          <a:xfrm>
            <a:off x="1627632" y="3730752"/>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Principal Component Analysis</a:t>
            </a:r>
            <a:endParaRPr lang="en-US" sz="1300" dirty="0"/>
          </a:p>
        </p:txBody>
      </p:sp>
      <p:sp>
        <p:nvSpPr>
          <p:cNvPr id="31" name="Text 29"/>
          <p:cNvSpPr txBox="1"/>
          <p:nvPr/>
        </p:nvSpPr>
        <p:spPr>
          <a:xfrm>
            <a:off x="1627632" y="3986784"/>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Compresses HOG while keeping variance.</a:t>
            </a:r>
            <a:endParaRPr lang="en-US" sz="1050" dirty="0"/>
          </a:p>
        </p:txBody>
      </p:sp>
      <p:sp>
        <p:nvSpPr>
          <p:cNvPr id="32" name="Shape 30"/>
          <p:cNvSpPr/>
          <p:nvPr/>
        </p:nvSpPr>
        <p:spPr>
          <a:xfrm>
            <a:off x="6263640" y="3739896"/>
            <a:ext cx="960120" cy="457200"/>
          </a:xfrm>
          <a:prstGeom prst="roundRect">
            <a:avLst>
              <a:gd name="adj" fmla="val 12000"/>
            </a:avLst>
          </a:prstGeom>
          <a:solidFill>
            <a:srgbClr val="00A896"/>
          </a:solidFill>
          <a:ln w="12700">
            <a:solidFill>
              <a:srgbClr val="00A896"/>
            </a:solidFill>
            <a:prstDash val="solid"/>
          </a:ln>
        </p:spPr>
      </p:sp>
      <p:sp>
        <p:nvSpPr>
          <p:cNvPr id="33" name="Text 31"/>
          <p:cNvSpPr txBox="1"/>
          <p:nvPr/>
        </p:nvSpPr>
        <p:spPr>
          <a:xfrm>
            <a:off x="6263640" y="3739896"/>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Grad-CAM</a:t>
            </a:r>
            <a:endParaRPr lang="en-US" sz="1050" dirty="0"/>
          </a:p>
        </p:txBody>
      </p:sp>
      <p:sp>
        <p:nvSpPr>
          <p:cNvPr id="34" name="Text 32"/>
          <p:cNvSpPr txBox="1"/>
          <p:nvPr/>
        </p:nvSpPr>
        <p:spPr>
          <a:xfrm>
            <a:off x="7342632" y="3730752"/>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Gradient-weighted Class Activation Mapping</a:t>
            </a:r>
            <a:endParaRPr lang="en-US" sz="1300" dirty="0"/>
          </a:p>
        </p:txBody>
      </p:sp>
      <p:sp>
        <p:nvSpPr>
          <p:cNvPr id="35" name="Text 33"/>
          <p:cNvSpPr txBox="1"/>
          <p:nvPr/>
        </p:nvSpPr>
        <p:spPr>
          <a:xfrm>
            <a:off x="7342632" y="3986784"/>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Heatmap of what drove the decision.</a:t>
            </a:r>
            <a:endParaRPr lang="en-US" sz="1050" dirty="0"/>
          </a:p>
        </p:txBody>
      </p:sp>
      <p:sp>
        <p:nvSpPr>
          <p:cNvPr id="36" name="Shape 34"/>
          <p:cNvSpPr/>
          <p:nvPr/>
        </p:nvSpPr>
        <p:spPr>
          <a:xfrm>
            <a:off x="548640" y="4498848"/>
            <a:ext cx="960120" cy="457200"/>
          </a:xfrm>
          <a:prstGeom prst="roundRect">
            <a:avLst>
              <a:gd name="adj" fmla="val 12000"/>
            </a:avLst>
          </a:prstGeom>
          <a:solidFill>
            <a:srgbClr val="0E2A47"/>
          </a:solidFill>
          <a:ln w="12700">
            <a:solidFill>
              <a:srgbClr val="0E2A47"/>
            </a:solidFill>
            <a:prstDash val="solid"/>
          </a:ln>
        </p:spPr>
      </p:sp>
      <p:sp>
        <p:nvSpPr>
          <p:cNvPr id="37" name="Text 35"/>
          <p:cNvSpPr txBox="1"/>
          <p:nvPr/>
        </p:nvSpPr>
        <p:spPr>
          <a:xfrm>
            <a:off x="548640" y="4498848"/>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TTA</a:t>
            </a:r>
            <a:endParaRPr lang="en-US" sz="1050" dirty="0"/>
          </a:p>
        </p:txBody>
      </p:sp>
      <p:sp>
        <p:nvSpPr>
          <p:cNvPr id="38" name="Text 36"/>
          <p:cNvSpPr txBox="1"/>
          <p:nvPr/>
        </p:nvSpPr>
        <p:spPr>
          <a:xfrm>
            <a:off x="1627632" y="4489704"/>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Test-Time Augmentation</a:t>
            </a:r>
            <a:endParaRPr lang="en-US" sz="1300" dirty="0"/>
          </a:p>
        </p:txBody>
      </p:sp>
      <p:sp>
        <p:nvSpPr>
          <p:cNvPr id="39" name="Text 37"/>
          <p:cNvSpPr txBox="1"/>
          <p:nvPr/>
        </p:nvSpPr>
        <p:spPr>
          <a:xfrm>
            <a:off x="1627632" y="4745736"/>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Average predictions over several views.</a:t>
            </a:r>
            <a:endParaRPr lang="en-US" sz="1050" dirty="0"/>
          </a:p>
        </p:txBody>
      </p:sp>
      <p:sp>
        <p:nvSpPr>
          <p:cNvPr id="40" name="Shape 38"/>
          <p:cNvSpPr/>
          <p:nvPr/>
        </p:nvSpPr>
        <p:spPr>
          <a:xfrm>
            <a:off x="6263640" y="4498848"/>
            <a:ext cx="960120" cy="457200"/>
          </a:xfrm>
          <a:prstGeom prst="roundRect">
            <a:avLst>
              <a:gd name="adj" fmla="val 12000"/>
            </a:avLst>
          </a:prstGeom>
          <a:solidFill>
            <a:srgbClr val="00A896"/>
          </a:solidFill>
          <a:ln w="12700">
            <a:solidFill>
              <a:srgbClr val="00A896"/>
            </a:solidFill>
            <a:prstDash val="solid"/>
          </a:ln>
        </p:spPr>
      </p:sp>
      <p:sp>
        <p:nvSpPr>
          <p:cNvPr id="41" name="Text 39"/>
          <p:cNvSpPr txBox="1"/>
          <p:nvPr/>
        </p:nvSpPr>
        <p:spPr>
          <a:xfrm>
            <a:off x="6263640" y="4498848"/>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AMP</a:t>
            </a:r>
            <a:endParaRPr lang="en-US" sz="1050" dirty="0"/>
          </a:p>
        </p:txBody>
      </p:sp>
      <p:sp>
        <p:nvSpPr>
          <p:cNvPr id="42" name="Text 40"/>
          <p:cNvSpPr txBox="1"/>
          <p:nvPr/>
        </p:nvSpPr>
        <p:spPr>
          <a:xfrm>
            <a:off x="7342632" y="4489704"/>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Automatic Mixed Precision</a:t>
            </a:r>
            <a:endParaRPr lang="en-US" sz="1300" dirty="0"/>
          </a:p>
        </p:txBody>
      </p:sp>
      <p:sp>
        <p:nvSpPr>
          <p:cNvPr id="43" name="Text 41"/>
          <p:cNvSpPr txBox="1"/>
          <p:nvPr/>
        </p:nvSpPr>
        <p:spPr>
          <a:xfrm>
            <a:off x="7342632" y="4745736"/>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fp16 maths — faster, less memory.</a:t>
            </a:r>
            <a:endParaRPr lang="en-US" sz="1050" dirty="0"/>
          </a:p>
        </p:txBody>
      </p:sp>
      <p:sp>
        <p:nvSpPr>
          <p:cNvPr id="44" name="Shape 42"/>
          <p:cNvSpPr/>
          <p:nvPr/>
        </p:nvSpPr>
        <p:spPr>
          <a:xfrm>
            <a:off x="548640" y="5257800"/>
            <a:ext cx="960120" cy="457200"/>
          </a:xfrm>
          <a:prstGeom prst="roundRect">
            <a:avLst>
              <a:gd name="adj" fmla="val 12000"/>
            </a:avLst>
          </a:prstGeom>
          <a:solidFill>
            <a:srgbClr val="0E2A47"/>
          </a:solidFill>
          <a:ln w="12700">
            <a:solidFill>
              <a:srgbClr val="0E2A47"/>
            </a:solidFill>
            <a:prstDash val="solid"/>
          </a:ln>
        </p:spPr>
      </p:sp>
      <p:sp>
        <p:nvSpPr>
          <p:cNvPr id="45" name="Text 43"/>
          <p:cNvSpPr txBox="1"/>
          <p:nvPr/>
        </p:nvSpPr>
        <p:spPr>
          <a:xfrm>
            <a:off x="548640" y="5257800"/>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WHO</a:t>
            </a:r>
            <a:endParaRPr lang="en-US" sz="1050" dirty="0"/>
          </a:p>
        </p:txBody>
      </p:sp>
      <p:sp>
        <p:nvSpPr>
          <p:cNvPr id="46" name="Text 44"/>
          <p:cNvSpPr txBox="1"/>
          <p:nvPr/>
        </p:nvSpPr>
        <p:spPr>
          <a:xfrm>
            <a:off x="1627632" y="5248656"/>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World Health Organization</a:t>
            </a:r>
            <a:endParaRPr lang="en-US" sz="1300" dirty="0"/>
          </a:p>
        </p:txBody>
      </p:sp>
      <p:sp>
        <p:nvSpPr>
          <p:cNvPr id="47" name="Text 45"/>
          <p:cNvSpPr txBox="1"/>
          <p:nvPr/>
        </p:nvSpPr>
        <p:spPr>
          <a:xfrm>
            <a:off x="1627632" y="5504688"/>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Source of the CNS tumour grading scale.</a:t>
            </a:r>
            <a:endParaRPr lang="en-US" sz="1050" dirty="0"/>
          </a:p>
        </p:txBody>
      </p:sp>
      <p:sp>
        <p:nvSpPr>
          <p:cNvPr id="48" name="Shape 46"/>
          <p:cNvSpPr/>
          <p:nvPr/>
        </p:nvSpPr>
        <p:spPr>
          <a:xfrm>
            <a:off x="6263640" y="5257800"/>
            <a:ext cx="960120" cy="457200"/>
          </a:xfrm>
          <a:prstGeom prst="roundRect">
            <a:avLst>
              <a:gd name="adj" fmla="val 12000"/>
            </a:avLst>
          </a:prstGeom>
          <a:solidFill>
            <a:srgbClr val="00A896"/>
          </a:solidFill>
          <a:ln w="12700">
            <a:solidFill>
              <a:srgbClr val="00A896"/>
            </a:solidFill>
            <a:prstDash val="solid"/>
          </a:ln>
        </p:spPr>
      </p:sp>
      <p:sp>
        <p:nvSpPr>
          <p:cNvPr id="49" name="Text 47"/>
          <p:cNvSpPr txBox="1"/>
          <p:nvPr/>
        </p:nvSpPr>
        <p:spPr>
          <a:xfrm>
            <a:off x="6263640" y="5257800"/>
            <a:ext cx="96012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AUC</a:t>
            </a:r>
            <a:endParaRPr lang="en-US" sz="1050" dirty="0"/>
          </a:p>
        </p:txBody>
      </p:sp>
      <p:sp>
        <p:nvSpPr>
          <p:cNvPr id="50" name="Text 48"/>
          <p:cNvSpPr txBox="1"/>
          <p:nvPr/>
        </p:nvSpPr>
        <p:spPr>
          <a:xfrm>
            <a:off x="7342632" y="5248656"/>
            <a:ext cx="4407408" cy="274320"/>
          </a:xfrm>
          <a:prstGeom prst="rect">
            <a:avLst/>
          </a:prstGeom>
          <a:noFill/>
          <a:ln/>
        </p:spPr>
        <p:txBody>
          <a:bodyPr wrap="square" lIns="0" tIns="0" rIns="0" bIns="0" rtlCol="0" anchor="t"/>
          <a:lstStyle/>
          <a:p>
            <a:pPr indent="0" marL="0">
              <a:buNone/>
            </a:pPr>
            <a:r>
              <a:rPr lang="en-US" sz="1300" b="1" dirty="0">
                <a:solidFill>
                  <a:srgbClr val="12263A"/>
                </a:solidFill>
                <a:latin typeface="Calibri" pitchFamily="34" charset="0"/>
                <a:ea typeface="Calibri" pitchFamily="34" charset="-122"/>
                <a:cs typeface="Calibri" pitchFamily="34" charset="-120"/>
              </a:rPr>
              <a:t>Area Under the ROC Curve</a:t>
            </a:r>
            <a:endParaRPr lang="en-US" sz="1300" dirty="0"/>
          </a:p>
        </p:txBody>
      </p:sp>
      <p:sp>
        <p:nvSpPr>
          <p:cNvPr id="51" name="Text 49"/>
          <p:cNvSpPr txBox="1"/>
          <p:nvPr/>
        </p:nvSpPr>
        <p:spPr>
          <a:xfrm>
            <a:off x="7342632" y="5504688"/>
            <a:ext cx="4407408" cy="256032"/>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Ranking quality, threshold-independent.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1097280" y="4206240"/>
            <a:ext cx="3840480" cy="3840480"/>
          </a:xfrm>
          <a:prstGeom prst="ellipse">
            <a:avLst/>
          </a:prstGeom>
          <a:solidFill>
            <a:srgbClr val="16395E"/>
          </a:solidFill>
          <a:ln/>
        </p:spPr>
      </p:sp>
      <p:sp>
        <p:nvSpPr>
          <p:cNvPr id="3" name="Text 1"/>
          <p:cNvSpPr txBox="1"/>
          <p:nvPr/>
        </p:nvSpPr>
        <p:spPr>
          <a:xfrm>
            <a:off x="548640" y="2286000"/>
            <a:ext cx="7315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PART ONE</a:t>
            </a:r>
            <a:endParaRPr lang="en-US" sz="1200" dirty="0"/>
          </a:p>
        </p:txBody>
      </p:sp>
      <p:sp>
        <p:nvSpPr>
          <p:cNvPr id="4" name="Text 2"/>
          <p:cNvSpPr txBox="1"/>
          <p:nvPr/>
        </p:nvSpPr>
        <p:spPr>
          <a:xfrm>
            <a:off x="548640" y="265176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the paper built</a:t>
            </a:r>
            <a:endParaRPr lang="en-US" sz="4000" dirty="0"/>
          </a:p>
        </p:txBody>
      </p:sp>
      <p:sp>
        <p:nvSpPr>
          <p:cNvPr id="5" name="Text 3"/>
          <p:cNvSpPr txBox="1"/>
          <p:nvPr/>
        </p:nvSpPr>
        <p:spPr>
          <a:xfrm>
            <a:off x="548640" y="3611880"/>
            <a:ext cx="8595360" cy="822960"/>
          </a:xfrm>
          <a:prstGeom prst="rect">
            <a:avLst/>
          </a:prstGeom>
          <a:noFill/>
          <a:ln/>
        </p:spPr>
        <p:txBody>
          <a:bodyPr wrap="square" lIns="0" tIns="0" rIns="0" bIns="0" rtlCol="0" anchor="ctr"/>
          <a:lstStyle/>
          <a:p>
            <a:pPr indent="0" marL="0">
              <a:buNone/>
            </a:pPr>
            <a:r>
              <a:rPr lang="en-US" sz="1300" dirty="0">
                <a:solidFill>
                  <a:srgbClr val="C9DCEF"/>
                </a:solidFill>
                <a:latin typeface="Calibri" pitchFamily="34" charset="0"/>
                <a:ea typeface="Calibri" pitchFamily="34" charset="-122"/>
                <a:cs typeface="Calibri" pitchFamily="34" charset="-120"/>
              </a:rPr>
              <a:t>Mager, Amalraj &amp; Kaushalya — University of Moratuwa, Sri Lanka · IEEE, 2025</a:t>
            </a:r>
            <a:endParaRPr lang="en-US" sz="1300" dirty="0"/>
          </a:p>
          <a:p>
            <a:pPr indent="0" marL="0">
              <a:buNone/>
            </a:pPr>
            <a:r>
              <a:rPr lang="en-US" sz="1300" dirty="0">
                <a:solidFill>
                  <a:srgbClr val="C9DCEF"/>
                </a:solidFill>
                <a:latin typeface="Calibri" pitchFamily="34" charset="0"/>
                <a:ea typeface="Calibri" pitchFamily="34" charset="-122"/>
                <a:cs typeface="Calibri" pitchFamily="34" charset="-120"/>
              </a:rPr>
              <a:t>"Hybrid CNN-HOG Feature Fusion with Attention Mechanisms and SVM for Accurate Brain Tumor Diagnosis"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PAPER · STEP 1</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Paper — data and preprocessing</a:t>
            </a:r>
            <a:endParaRPr lang="en-US" sz="3200" dirty="0"/>
          </a:p>
        </p:txBody>
      </p:sp>
      <p:sp>
        <p:nvSpPr>
          <p:cNvPr id="4" name="Shape 2"/>
          <p:cNvSpPr/>
          <p:nvPr/>
        </p:nvSpPr>
        <p:spPr>
          <a:xfrm>
            <a:off x="548640" y="1417320"/>
            <a:ext cx="5486400" cy="3977640"/>
          </a:xfrm>
          <a:prstGeom prst="roundRect">
            <a:avLst>
              <a:gd name="adj" fmla="val 1839"/>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822960" y="1627632"/>
            <a:ext cx="4937760"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What they used</a:t>
            </a:r>
            <a:endParaRPr lang="en-US" sz="1400" dirty="0"/>
          </a:p>
        </p:txBody>
      </p:sp>
      <p:sp>
        <p:nvSpPr>
          <p:cNvPr id="6" name="Text 4"/>
          <p:cNvSpPr txBox="1"/>
          <p:nvPr/>
        </p:nvSpPr>
        <p:spPr>
          <a:xfrm>
            <a:off x="822960" y="1965960"/>
            <a:ext cx="4937760" cy="32004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2263A"/>
                </a:solidFill>
                <a:latin typeface="Calibri" pitchFamily="34" charset="0"/>
                <a:ea typeface="Calibri" pitchFamily="34" charset="-122"/>
                <a:cs typeface="Calibri" pitchFamily="34" charset="-120"/>
              </a:rPr>
              <a:t>8,852 T1-weighted contrast-enhanced MRI images, 4 classes</a:t>
            </a:r>
            <a:endParaRPr lang="en-US" sz="1150" dirty="0"/>
          </a:p>
          <a:p>
            <a:pPr marL="342900" indent="-342900">
              <a:spcAft>
                <a:spcPts val="800"/>
              </a:spcAft>
              <a:buSzPct val="100000"/>
              <a:buChar char="•"/>
            </a:pPr>
            <a:r>
              <a:rPr lang="en-US" sz="1150" dirty="0">
                <a:solidFill>
                  <a:srgbClr val="12263A"/>
                </a:solidFill>
                <a:latin typeface="Calibri" pitchFamily="34" charset="0"/>
                <a:ea typeface="Calibri" pitchFamily="34" charset="-122"/>
                <a:cs typeface="Calibri" pitchFamily="34" charset="-120"/>
              </a:rPr>
              <a:t>Imbalanced: tumour classes 2,500–2,700 each, No Tumor only 928</a:t>
            </a:r>
            <a:endParaRPr lang="en-US" sz="1150" dirty="0"/>
          </a:p>
          <a:p>
            <a:pPr marL="342900" indent="-342900">
              <a:spcAft>
                <a:spcPts val="800"/>
              </a:spcAft>
              <a:buSzPct val="100000"/>
              <a:buChar char="•"/>
            </a:pPr>
            <a:r>
              <a:rPr lang="en-US" sz="1150" dirty="0">
                <a:solidFill>
                  <a:srgbClr val="12263A"/>
                </a:solidFill>
                <a:latin typeface="Calibri" pitchFamily="34" charset="0"/>
                <a:ea typeface="Calibri" pitchFamily="34" charset="-122"/>
                <a:cs typeface="Calibri" pitchFamily="34" charset="-120"/>
              </a:rPr>
              <a:t>Resized to 64 × 64 × 3; pixels scaled to [0,1] by ÷255</a:t>
            </a:r>
            <a:endParaRPr lang="en-US" sz="1150" dirty="0"/>
          </a:p>
          <a:p>
            <a:pPr marL="342900" indent="-342900">
              <a:spcAft>
                <a:spcPts val="800"/>
              </a:spcAft>
              <a:buSzPct val="100000"/>
              <a:buChar char="•"/>
            </a:pPr>
            <a:r>
              <a:rPr lang="en-US" sz="1150" dirty="0">
                <a:solidFill>
                  <a:srgbClr val="12263A"/>
                </a:solidFill>
                <a:latin typeface="Calibri" pitchFamily="34" charset="0"/>
                <a:ea typeface="Calibri" pitchFamily="34" charset="-122"/>
                <a:cs typeface="Calibri" pitchFamily="34" charset="-120"/>
              </a:rPr>
              <a:t>HOG on greyscale: 8 orientation bins, 16×16 cells, 2×2 blocks, L2-Hys → 288-d</a:t>
            </a:r>
            <a:endParaRPr lang="en-US" sz="1150" dirty="0"/>
          </a:p>
          <a:p>
            <a:pPr marL="342900" indent="-342900">
              <a:spcAft>
                <a:spcPts val="800"/>
              </a:spcAft>
              <a:buSzPct val="100000"/>
              <a:buChar char="•"/>
            </a:pPr>
            <a:r>
              <a:rPr lang="en-US" sz="1150" dirty="0">
                <a:solidFill>
                  <a:srgbClr val="12263A"/>
                </a:solidFill>
                <a:latin typeface="Calibri" pitchFamily="34" charset="0"/>
                <a:ea typeface="Calibri" pitchFamily="34" charset="-122"/>
                <a:cs typeface="Calibri" pitchFamily="34" charset="-120"/>
              </a:rPr>
              <a:t>Augmentation (Keras ImageDataGenerator): ±20° rotation, ±20% shift, horizontal flip p=0.5</a:t>
            </a:r>
            <a:endParaRPr lang="en-US" sz="1150" dirty="0"/>
          </a:p>
        </p:txBody>
      </p:sp>
      <p:sp>
        <p:nvSpPr>
          <p:cNvPr id="7" name="Shape 5"/>
          <p:cNvSpPr/>
          <p:nvPr/>
        </p:nvSpPr>
        <p:spPr>
          <a:xfrm>
            <a:off x="6400800" y="1417320"/>
            <a:ext cx="5212080" cy="3977640"/>
          </a:xfrm>
          <a:prstGeom prst="roundRect">
            <a:avLst>
              <a:gd name="adj" fmla="val 1839"/>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8" name="Text 6"/>
          <p:cNvSpPr txBox="1"/>
          <p:nvPr/>
        </p:nvSpPr>
        <p:spPr>
          <a:xfrm>
            <a:off x="6675120" y="1627632"/>
            <a:ext cx="4663440" cy="27432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Why they chose it</a:t>
            </a:r>
            <a:endParaRPr lang="en-US" sz="1400" dirty="0"/>
          </a:p>
        </p:txBody>
      </p:sp>
      <p:sp>
        <p:nvSpPr>
          <p:cNvPr id="9" name="Text 7"/>
          <p:cNvSpPr txBox="1"/>
          <p:nvPr/>
        </p:nvSpPr>
        <p:spPr>
          <a:xfrm>
            <a:off x="6675120" y="1965960"/>
            <a:ext cx="4663440" cy="32004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2263A"/>
                </a:solidFill>
                <a:latin typeface="Calibri" pitchFamily="34" charset="0"/>
                <a:ea typeface="Calibri" pitchFamily="34" charset="-122"/>
                <a:cs typeface="Calibri" pitchFamily="34" charset="-120"/>
              </a:rPr>
              <a:t>64×64 keeps memory and training time low — they state this explicitly as a compute compromise</a:t>
            </a:r>
            <a:endParaRPr lang="en-US" sz="1150" dirty="0"/>
          </a:p>
          <a:p>
            <a:pPr marL="342900" indent="-342900">
              <a:spcAft>
                <a:spcPts val="800"/>
              </a:spcAft>
              <a:buSzPct val="100000"/>
              <a:buChar char="•"/>
            </a:pPr>
            <a:r>
              <a:rPr lang="en-US" sz="1150" dirty="0">
                <a:solidFill>
                  <a:srgbClr val="12263A"/>
                </a:solidFill>
                <a:latin typeface="Calibri" pitchFamily="34" charset="0"/>
                <a:ea typeface="Calibri" pitchFamily="34" charset="-122"/>
                <a:cs typeface="Calibri" pitchFamily="34" charset="-120"/>
              </a:rPr>
              <a:t>HOG encodes edge orientation, which survives illumination changes and captures tumour margins</a:t>
            </a:r>
            <a:endParaRPr lang="en-US" sz="1150" dirty="0"/>
          </a:p>
          <a:p>
            <a:pPr marL="342900" indent="-342900">
              <a:spcAft>
                <a:spcPts val="800"/>
              </a:spcAft>
              <a:buSzPct val="100000"/>
              <a:buChar char="•"/>
            </a:pPr>
            <a:r>
              <a:rPr lang="en-US" sz="1150" dirty="0">
                <a:solidFill>
                  <a:srgbClr val="12263A"/>
                </a:solidFill>
                <a:latin typeface="Calibri" pitchFamily="34" charset="0"/>
                <a:ea typeface="Calibri" pitchFamily="34" charset="-122"/>
                <a:cs typeface="Calibri" pitchFamily="34" charset="-120"/>
              </a:rPr>
              <a:t>Augmentation combats overfitting on a small public dataset</a:t>
            </a:r>
            <a:endParaRPr lang="en-US" sz="1150" dirty="0"/>
          </a:p>
          <a:p>
            <a:pPr marL="342900" indent="-342900">
              <a:spcAft>
                <a:spcPts val="800"/>
              </a:spcAft>
              <a:buSzPct val="100000"/>
              <a:buChar char="•"/>
            </a:pPr>
            <a:r>
              <a:rPr lang="en-US" sz="1150" dirty="0">
                <a:solidFill>
                  <a:srgbClr val="12263A"/>
                </a:solidFill>
                <a:latin typeface="Calibri" pitchFamily="34" charset="0"/>
                <a:ea typeface="Calibri" pitchFamily="34" charset="-122"/>
                <a:cs typeface="Calibri" pitchFamily="34" charset="-120"/>
              </a:rPr>
              <a:t>Stratified split preserves class proportions despite the imbalance</a:t>
            </a:r>
            <a:endParaRPr lang="en-US" sz="1150" dirty="0"/>
          </a:p>
        </p:txBody>
      </p:sp>
      <p:sp>
        <p:nvSpPr>
          <p:cNvPr id="10" name="Text 8"/>
          <p:cNvSpPr txBox="1"/>
          <p:nvPr/>
        </p:nvSpPr>
        <p:spPr>
          <a:xfrm>
            <a:off x="548640" y="5623560"/>
            <a:ext cx="11064240" cy="329184"/>
          </a:xfrm>
          <a:prstGeom prst="rect">
            <a:avLst/>
          </a:prstGeom>
          <a:noFill/>
          <a:ln/>
        </p:spPr>
        <p:txBody>
          <a:bodyPr wrap="square" lIns="0" tIns="0" rIns="0" bIns="0" rtlCol="0" anchor="ctr"/>
          <a:lstStyle/>
          <a:p>
            <a:pPr indent="0" marL="0">
              <a:buNone/>
            </a:pPr>
            <a:r>
              <a:rPr lang="en-US" sz="1150" i="1" dirty="0">
                <a:solidFill>
                  <a:srgbClr val="E9973F"/>
                </a:solidFill>
                <a:latin typeface="Calibri" pitchFamily="34" charset="0"/>
                <a:ea typeface="Calibri" pitchFamily="34" charset="-122"/>
                <a:cs typeface="Calibri" pitchFamily="34" charset="-120"/>
              </a:rPr>
              <a:t>Their own stated limitation: “64×64 inputs … may lead to loss of fine-grained spatial detail.”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PAPER · STEP 2</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Paper — the CNN with attention</a:t>
            </a:r>
            <a:endParaRPr lang="en-US" sz="3200" dirty="0"/>
          </a:p>
        </p:txBody>
      </p:sp>
      <p:sp>
        <p:nvSpPr>
          <p:cNvPr id="4" name="Shape 2"/>
          <p:cNvSpPr/>
          <p:nvPr/>
        </p:nvSpPr>
        <p:spPr>
          <a:xfrm>
            <a:off x="548640" y="1463040"/>
            <a:ext cx="2560320" cy="1051560"/>
          </a:xfrm>
          <a:prstGeom prst="roundRect">
            <a:avLst>
              <a:gd name="adj" fmla="val 6957"/>
            </a:avLst>
          </a:prstGeom>
          <a:solidFill>
            <a:srgbClr val="0E2A47"/>
          </a:solidFill>
          <a:ln w="12700">
            <a:solidFill>
              <a:srgbClr val="0E2A47"/>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548640" y="1572768"/>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Conv2D 32</a:t>
            </a:r>
            <a:endParaRPr lang="en-US" sz="1300" dirty="0"/>
          </a:p>
        </p:txBody>
      </p:sp>
      <p:sp>
        <p:nvSpPr>
          <p:cNvPr id="6" name="Text 4"/>
          <p:cNvSpPr txBox="1"/>
          <p:nvPr/>
        </p:nvSpPr>
        <p:spPr>
          <a:xfrm>
            <a:off x="548640" y="2066544"/>
            <a:ext cx="2560320" cy="274320"/>
          </a:xfrm>
          <a:prstGeom prst="rect">
            <a:avLst/>
          </a:prstGeom>
          <a:noFill/>
          <a:ln/>
        </p:spPr>
        <p:txBody>
          <a:bodyPr wrap="square" lIns="0" tIns="0" rIns="0" bIns="0" rtlCol="0" anchor="ctr"/>
          <a:lstStyle/>
          <a:p>
            <a:pPr algn="ctr" indent="0" marL="0">
              <a:buNone/>
            </a:pPr>
            <a:r>
              <a:rPr lang="en-US" sz="950" dirty="0">
                <a:solidFill>
                  <a:srgbClr val="C9DCEF"/>
                </a:solidFill>
                <a:latin typeface="Calibri" pitchFamily="34" charset="0"/>
                <a:ea typeface="Calibri" pitchFamily="34" charset="-122"/>
                <a:cs typeface="Calibri" pitchFamily="34" charset="-120"/>
              </a:rPr>
              <a:t>3×3, same, ReLU</a:t>
            </a:r>
            <a:endParaRPr lang="en-US" sz="950" dirty="0"/>
          </a:p>
        </p:txBody>
      </p:sp>
      <p:sp>
        <p:nvSpPr>
          <p:cNvPr id="7" name="Text 5"/>
          <p:cNvSpPr txBox="1"/>
          <p:nvPr/>
        </p:nvSpPr>
        <p:spPr>
          <a:xfrm>
            <a:off x="3108960" y="1691640"/>
            <a:ext cx="246888" cy="548640"/>
          </a:xfrm>
          <a:prstGeom prst="rect">
            <a:avLst/>
          </a:prstGeom>
          <a:noFill/>
          <a:ln/>
        </p:spPr>
        <p:txBody>
          <a:bodyPr wrap="square" lIns="0" tIns="0" rIns="0" bIns="0" rtlCol="0" anchor="ctr"/>
          <a:lstStyle/>
          <a:p>
            <a:pPr algn="ctr" indent="0" marL="0">
              <a:buNone/>
            </a:pPr>
            <a:r>
              <a:rPr lang="en-US" sz="2200" b="1" dirty="0">
                <a:solidFill>
                  <a:srgbClr val="5B6E88"/>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3355848" y="1463040"/>
            <a:ext cx="2560320" cy="1051560"/>
          </a:xfrm>
          <a:prstGeom prst="roundRect">
            <a:avLst>
              <a:gd name="adj" fmla="val 6957"/>
            </a:avLst>
          </a:prstGeom>
          <a:solidFill>
            <a:srgbClr val="00A896"/>
          </a:solidFill>
          <a:ln w="12700">
            <a:solidFill>
              <a:srgbClr val="00A896"/>
            </a:solidFill>
            <a:prstDash val="solid"/>
          </a:ln>
          <a:effectLst>
            <a:outerShdw sx="100000" sy="100000" kx="0" ky="0" algn="bl" rotWithShape="0" blurRad="127000" dist="25400" dir="5400000">
              <a:srgbClr val="0A1C2E">
                <a:alpha val="16000"/>
              </a:srgbClr>
            </a:outerShdw>
          </a:effectLst>
        </p:spPr>
      </p:sp>
      <p:sp>
        <p:nvSpPr>
          <p:cNvPr id="9" name="Text 7"/>
          <p:cNvSpPr txBox="1"/>
          <p:nvPr/>
        </p:nvSpPr>
        <p:spPr>
          <a:xfrm>
            <a:off x="3355848" y="1572768"/>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Channel</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Attention</a:t>
            </a:r>
            <a:endParaRPr lang="en-US" sz="1300" dirty="0"/>
          </a:p>
        </p:txBody>
      </p:sp>
      <p:sp>
        <p:nvSpPr>
          <p:cNvPr id="10" name="Text 8"/>
          <p:cNvSpPr txBox="1"/>
          <p:nvPr/>
        </p:nvSpPr>
        <p:spPr>
          <a:xfrm>
            <a:off x="3355848" y="2066544"/>
            <a:ext cx="2560320" cy="274320"/>
          </a:xfrm>
          <a:prstGeom prst="rect">
            <a:avLst/>
          </a:prstGeom>
          <a:noFill/>
          <a:ln/>
        </p:spPr>
        <p:txBody>
          <a:bodyPr wrap="square" lIns="0" tIns="0" rIns="0" bIns="0" rtlCol="0" anchor="ctr"/>
          <a:lstStyle/>
          <a:p>
            <a:pPr algn="ctr" indent="0" marL="0">
              <a:buNone/>
            </a:pPr>
            <a:r>
              <a:rPr lang="en-US" sz="950" dirty="0">
                <a:solidFill>
                  <a:srgbClr val="D6F5EF"/>
                </a:solidFill>
                <a:latin typeface="Calibri" pitchFamily="34" charset="0"/>
                <a:ea typeface="Calibri" pitchFamily="34" charset="-122"/>
                <a:cs typeface="Calibri" pitchFamily="34" charset="-120"/>
              </a:rPr>
              <a:t>GAP + GMP → shared MLP</a:t>
            </a:r>
            <a:endParaRPr lang="en-US" sz="950" dirty="0"/>
          </a:p>
        </p:txBody>
      </p:sp>
      <p:sp>
        <p:nvSpPr>
          <p:cNvPr id="11" name="Text 9"/>
          <p:cNvSpPr txBox="1"/>
          <p:nvPr/>
        </p:nvSpPr>
        <p:spPr>
          <a:xfrm>
            <a:off x="5916168" y="1691640"/>
            <a:ext cx="246888" cy="548640"/>
          </a:xfrm>
          <a:prstGeom prst="rect">
            <a:avLst/>
          </a:prstGeom>
          <a:noFill/>
          <a:ln/>
        </p:spPr>
        <p:txBody>
          <a:bodyPr wrap="square" lIns="0" tIns="0" rIns="0" bIns="0" rtlCol="0" anchor="ctr"/>
          <a:lstStyle/>
          <a:p>
            <a:pPr algn="ctr" indent="0" marL="0">
              <a:buNone/>
            </a:pPr>
            <a:r>
              <a:rPr lang="en-US" sz="2200" b="1" dirty="0">
                <a:solidFill>
                  <a:srgbClr val="5B6E88"/>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6163056" y="1463040"/>
            <a:ext cx="2560320" cy="1051560"/>
          </a:xfrm>
          <a:prstGeom prst="roundRect">
            <a:avLst>
              <a:gd name="adj" fmla="val 6957"/>
            </a:avLst>
          </a:prstGeom>
          <a:solidFill>
            <a:srgbClr val="00A896"/>
          </a:solidFill>
          <a:ln w="12700">
            <a:solidFill>
              <a:srgbClr val="00A896"/>
            </a:solidFill>
            <a:prstDash val="solid"/>
          </a:ln>
          <a:effectLst>
            <a:outerShdw sx="100000" sy="100000" kx="0" ky="0" algn="bl" rotWithShape="0" blurRad="127000" dist="25400" dir="5400000">
              <a:srgbClr val="0A1C2E">
                <a:alpha val="16000"/>
              </a:srgbClr>
            </a:outerShdw>
          </a:effectLst>
        </p:spPr>
      </p:sp>
      <p:sp>
        <p:nvSpPr>
          <p:cNvPr id="13" name="Text 11"/>
          <p:cNvSpPr txBox="1"/>
          <p:nvPr/>
        </p:nvSpPr>
        <p:spPr>
          <a:xfrm>
            <a:off x="6163056" y="1572768"/>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Spatial</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Attention</a:t>
            </a:r>
            <a:endParaRPr lang="en-US" sz="1300" dirty="0"/>
          </a:p>
        </p:txBody>
      </p:sp>
      <p:sp>
        <p:nvSpPr>
          <p:cNvPr id="14" name="Text 12"/>
          <p:cNvSpPr txBox="1"/>
          <p:nvPr/>
        </p:nvSpPr>
        <p:spPr>
          <a:xfrm>
            <a:off x="6163056" y="2066544"/>
            <a:ext cx="2560320" cy="274320"/>
          </a:xfrm>
          <a:prstGeom prst="rect">
            <a:avLst/>
          </a:prstGeom>
          <a:noFill/>
          <a:ln/>
        </p:spPr>
        <p:txBody>
          <a:bodyPr wrap="square" lIns="0" tIns="0" rIns="0" bIns="0" rtlCol="0" anchor="ctr"/>
          <a:lstStyle/>
          <a:p>
            <a:pPr algn="ctr" indent="0" marL="0">
              <a:buNone/>
            </a:pPr>
            <a:r>
              <a:rPr lang="en-US" sz="950" dirty="0">
                <a:solidFill>
                  <a:srgbClr val="D6F5EF"/>
                </a:solidFill>
                <a:latin typeface="Calibri" pitchFamily="34" charset="0"/>
                <a:ea typeface="Calibri" pitchFamily="34" charset="-122"/>
                <a:cs typeface="Calibri" pitchFamily="34" charset="-120"/>
              </a:rPr>
              <a:t>7×7 conv → sigmoid</a:t>
            </a:r>
            <a:endParaRPr lang="en-US" sz="950" dirty="0"/>
          </a:p>
        </p:txBody>
      </p:sp>
      <p:sp>
        <p:nvSpPr>
          <p:cNvPr id="15" name="Text 13"/>
          <p:cNvSpPr txBox="1"/>
          <p:nvPr/>
        </p:nvSpPr>
        <p:spPr>
          <a:xfrm>
            <a:off x="8723376" y="1691640"/>
            <a:ext cx="246888" cy="548640"/>
          </a:xfrm>
          <a:prstGeom prst="rect">
            <a:avLst/>
          </a:prstGeom>
          <a:noFill/>
          <a:ln/>
        </p:spPr>
        <p:txBody>
          <a:bodyPr wrap="square" lIns="0" tIns="0" rIns="0" bIns="0" rtlCol="0" anchor="ctr"/>
          <a:lstStyle/>
          <a:p>
            <a:pPr algn="ctr" indent="0" marL="0">
              <a:buNone/>
            </a:pPr>
            <a:r>
              <a:rPr lang="en-US" sz="2200" b="1" dirty="0">
                <a:solidFill>
                  <a:srgbClr val="5B6E88"/>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8970264" y="1463040"/>
            <a:ext cx="2560320" cy="1051560"/>
          </a:xfrm>
          <a:prstGeom prst="roundRect">
            <a:avLst>
              <a:gd name="adj" fmla="val 6957"/>
            </a:avLst>
          </a:prstGeom>
          <a:solidFill>
            <a:srgbClr val="00A896"/>
          </a:solidFill>
          <a:ln w="12700">
            <a:solidFill>
              <a:srgbClr val="00A896"/>
            </a:solidFill>
            <a:prstDash val="solid"/>
          </a:ln>
          <a:effectLst>
            <a:outerShdw sx="100000" sy="100000" kx="0" ky="0" algn="bl" rotWithShape="0" blurRad="127000" dist="25400" dir="5400000">
              <a:srgbClr val="0A1C2E">
                <a:alpha val="16000"/>
              </a:srgbClr>
            </a:outerShdw>
          </a:effectLst>
        </p:spPr>
      </p:sp>
      <p:sp>
        <p:nvSpPr>
          <p:cNvPr id="17" name="Text 15"/>
          <p:cNvSpPr txBox="1"/>
          <p:nvPr/>
        </p:nvSpPr>
        <p:spPr>
          <a:xfrm>
            <a:off x="8970264" y="1572768"/>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MaxPool</a:t>
            </a:r>
            <a:endParaRPr lang="en-US" sz="1300" dirty="0"/>
          </a:p>
        </p:txBody>
      </p:sp>
      <p:sp>
        <p:nvSpPr>
          <p:cNvPr id="18" name="Text 16"/>
          <p:cNvSpPr txBox="1"/>
          <p:nvPr/>
        </p:nvSpPr>
        <p:spPr>
          <a:xfrm>
            <a:off x="8970264" y="2066544"/>
            <a:ext cx="2560320" cy="274320"/>
          </a:xfrm>
          <a:prstGeom prst="rect">
            <a:avLst/>
          </a:prstGeom>
          <a:noFill/>
          <a:ln/>
        </p:spPr>
        <p:txBody>
          <a:bodyPr wrap="square" lIns="0" tIns="0" rIns="0" bIns="0" rtlCol="0" anchor="ctr"/>
          <a:lstStyle/>
          <a:p>
            <a:pPr algn="ctr" indent="0" marL="0">
              <a:buNone/>
            </a:pPr>
            <a:r>
              <a:rPr lang="en-US" sz="950" dirty="0">
                <a:solidFill>
                  <a:srgbClr val="D6F5EF"/>
                </a:solidFill>
                <a:latin typeface="Calibri" pitchFamily="34" charset="0"/>
                <a:ea typeface="Calibri" pitchFamily="34" charset="-122"/>
                <a:cs typeface="Calibri" pitchFamily="34" charset="-120"/>
              </a:rPr>
              <a:t>2 × 2</a:t>
            </a:r>
            <a:endParaRPr lang="en-US" sz="950" dirty="0"/>
          </a:p>
        </p:txBody>
      </p:sp>
      <p:sp>
        <p:nvSpPr>
          <p:cNvPr id="19" name="Text 17"/>
          <p:cNvSpPr txBox="1"/>
          <p:nvPr/>
        </p:nvSpPr>
        <p:spPr>
          <a:xfrm>
            <a:off x="548640" y="2633472"/>
            <a:ext cx="11064240" cy="274320"/>
          </a:xfrm>
          <a:prstGeom prst="rect">
            <a:avLst/>
          </a:prstGeom>
          <a:noFill/>
          <a:ln/>
        </p:spPr>
        <p:txBody>
          <a:bodyPr wrap="square" lIns="0" tIns="0" rIns="0" bIns="0" rtlCol="0" anchor="ctr"/>
          <a:lstStyle/>
          <a:p>
            <a:pPr algn="ctr" indent="0" marL="0">
              <a:buNone/>
            </a:pPr>
            <a:r>
              <a:rPr lang="en-US" sz="1150" i="1" dirty="0">
                <a:solidFill>
                  <a:srgbClr val="5B6E88"/>
                </a:solidFill>
                <a:latin typeface="Calibri" pitchFamily="34" charset="0"/>
                <a:ea typeface="Calibri" pitchFamily="34" charset="-122"/>
                <a:cs typeface="Calibri" pitchFamily="34" charset="-120"/>
              </a:rPr>
              <a:t>This block repeats three times — with 32, then 64, then 128 filters</a:t>
            </a:r>
            <a:endParaRPr lang="en-US" sz="1150" dirty="0"/>
          </a:p>
        </p:txBody>
      </p:sp>
      <p:sp>
        <p:nvSpPr>
          <p:cNvPr id="20" name="Shape 18"/>
          <p:cNvSpPr/>
          <p:nvPr/>
        </p:nvSpPr>
        <p:spPr>
          <a:xfrm>
            <a:off x="548640" y="3063240"/>
            <a:ext cx="5486400" cy="2377440"/>
          </a:xfrm>
          <a:prstGeom prst="roundRect">
            <a:avLst>
              <a:gd name="adj" fmla="val 3077"/>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21" name="Text 19"/>
          <p:cNvSpPr txBox="1"/>
          <p:nvPr/>
        </p:nvSpPr>
        <p:spPr>
          <a:xfrm>
            <a:off x="822960" y="3246120"/>
            <a:ext cx="4937760"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Head and training</a:t>
            </a:r>
            <a:endParaRPr lang="en-US" sz="1400" dirty="0"/>
          </a:p>
        </p:txBody>
      </p:sp>
      <p:sp>
        <p:nvSpPr>
          <p:cNvPr id="22" name="Text 20"/>
          <p:cNvSpPr txBox="1"/>
          <p:nvPr/>
        </p:nvSpPr>
        <p:spPr>
          <a:xfrm>
            <a:off x="822960" y="3566160"/>
            <a:ext cx="4937760" cy="17373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2263A"/>
                </a:solidFill>
                <a:latin typeface="Calibri" pitchFamily="34" charset="0"/>
                <a:ea typeface="Calibri" pitchFamily="34" charset="-122"/>
                <a:cs typeface="Calibri" pitchFamily="34" charset="-120"/>
              </a:rPr>
              <a:t>Flatten → Dense 128 (ReLU) → Dropout 50% → Softmax 4</a:t>
            </a:r>
            <a:endParaRPr lang="en-US" sz="1150" dirty="0"/>
          </a:p>
          <a:p>
            <a:pPr marL="342900" indent="-342900">
              <a:spcAft>
                <a:spcPts val="600"/>
              </a:spcAft>
              <a:buSzPct val="100000"/>
              <a:buChar char="•"/>
            </a:pPr>
            <a:r>
              <a:rPr lang="en-US" sz="1150" dirty="0">
                <a:solidFill>
                  <a:srgbClr val="12263A"/>
                </a:solidFill>
                <a:latin typeface="Calibri" pitchFamily="34" charset="0"/>
                <a:ea typeface="Calibri" pitchFamily="34" charset="-122"/>
                <a:cs typeface="Calibri" pitchFamily="34" charset="-120"/>
              </a:rPr>
              <a:t>≈ 1.15 million parameters — trained from scratch</a:t>
            </a:r>
            <a:endParaRPr lang="en-US" sz="1150" dirty="0"/>
          </a:p>
          <a:p>
            <a:pPr marL="342900" indent="-342900">
              <a:spcAft>
                <a:spcPts val="600"/>
              </a:spcAft>
              <a:buSzPct val="100000"/>
              <a:buChar char="•"/>
            </a:pPr>
            <a:r>
              <a:rPr lang="en-US" sz="1150" dirty="0">
                <a:solidFill>
                  <a:srgbClr val="12263A"/>
                </a:solidFill>
                <a:latin typeface="Calibri" pitchFamily="34" charset="0"/>
                <a:ea typeface="Calibri" pitchFamily="34" charset="-122"/>
                <a:cs typeface="Calibri" pitchFamily="34" charset="-120"/>
              </a:rPr>
              <a:t>Adam (defaults), sparse categorical cross-entropy</a:t>
            </a:r>
            <a:endParaRPr lang="en-US" sz="1150" dirty="0"/>
          </a:p>
          <a:p>
            <a:pPr marL="342900" indent="-342900">
              <a:spcAft>
                <a:spcPts val="600"/>
              </a:spcAft>
              <a:buSzPct val="100000"/>
              <a:buChar char="•"/>
            </a:pPr>
            <a:r>
              <a:rPr lang="en-US" sz="1150" dirty="0">
                <a:solidFill>
                  <a:srgbClr val="12263A"/>
                </a:solidFill>
                <a:latin typeface="Calibri" pitchFamily="34" charset="0"/>
                <a:ea typeface="Calibri" pitchFamily="34" charset="-122"/>
                <a:cs typeface="Calibri" pitchFamily="34" charset="-120"/>
              </a:rPr>
              <a:t>50 epochs, batch size 32</a:t>
            </a:r>
            <a:endParaRPr lang="en-US" sz="1150" dirty="0"/>
          </a:p>
        </p:txBody>
      </p:sp>
      <p:sp>
        <p:nvSpPr>
          <p:cNvPr id="23" name="Shape 21"/>
          <p:cNvSpPr/>
          <p:nvPr/>
        </p:nvSpPr>
        <p:spPr>
          <a:xfrm>
            <a:off x="6400800" y="3063240"/>
            <a:ext cx="5212080" cy="2377440"/>
          </a:xfrm>
          <a:prstGeom prst="roundRect">
            <a:avLst>
              <a:gd name="adj" fmla="val 3077"/>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24" name="Text 22"/>
          <p:cNvSpPr txBox="1"/>
          <p:nvPr/>
        </p:nvSpPr>
        <p:spPr>
          <a:xfrm>
            <a:off x="6675120" y="3246120"/>
            <a:ext cx="4663440" cy="27432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Why attention?</a:t>
            </a:r>
            <a:endParaRPr lang="en-US" sz="1400" dirty="0"/>
          </a:p>
        </p:txBody>
      </p:sp>
      <p:sp>
        <p:nvSpPr>
          <p:cNvPr id="25" name="Text 23"/>
          <p:cNvSpPr txBox="1"/>
          <p:nvPr/>
        </p:nvSpPr>
        <p:spPr>
          <a:xfrm>
            <a:off x="6675120" y="3566160"/>
            <a:ext cx="4663440" cy="1737360"/>
          </a:xfrm>
          <a:prstGeom prst="rect">
            <a:avLst/>
          </a:prstGeom>
          <a:noFill/>
          <a:ln/>
        </p:spPr>
        <p:txBody>
          <a:bodyPr wrap="square" lIns="0" tIns="0" rIns="0" bIns="0" rtlCol="0" anchor="t"/>
          <a:lstStyle/>
          <a:p>
            <a:pPr indent="0" marL="0">
              <a:buNone/>
            </a:pPr>
            <a:r>
              <a:rPr lang="en-US" sz="1150" dirty="0">
                <a:solidFill>
                  <a:srgbClr val="12263A"/>
                </a:solidFill>
                <a:latin typeface="Calibri" pitchFamily="34" charset="0"/>
                <a:ea typeface="Calibri" pitchFamily="34" charset="-122"/>
                <a:cs typeface="Calibri" pitchFamily="34" charset="-120"/>
              </a:rPr>
              <a:t>CBAM-style attention re-weights the feature maps so the network emphasises the channels and the spatial regions that correspond to tumour boundaries, instead of treating every pixel equally. The paper reports this improves both feature quality and interpretability.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PAPER · STEP 3</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Paper — feature fusion and the SVM</a:t>
            </a:r>
            <a:endParaRPr lang="en-US" sz="3200" dirty="0"/>
          </a:p>
        </p:txBody>
      </p:sp>
      <p:sp>
        <p:nvSpPr>
          <p:cNvPr id="4" name="Shape 2"/>
          <p:cNvSpPr/>
          <p:nvPr/>
        </p:nvSpPr>
        <p:spPr>
          <a:xfrm>
            <a:off x="548640" y="1508760"/>
            <a:ext cx="2560320" cy="1371600"/>
          </a:xfrm>
          <a:prstGeom prst="roundRect">
            <a:avLst>
              <a:gd name="adj" fmla="val 5333"/>
            </a:avLst>
          </a:prstGeom>
          <a:solidFill>
            <a:srgbClr val="0E2A47"/>
          </a:solidFill>
          <a:ln w="12700">
            <a:solidFill>
              <a:srgbClr val="0E2A47"/>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548640" y="1664208"/>
            <a:ext cx="256032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128-d</a:t>
            </a:r>
            <a:endParaRPr lang="en-US" sz="2200" dirty="0"/>
          </a:p>
        </p:txBody>
      </p:sp>
      <p:sp>
        <p:nvSpPr>
          <p:cNvPr id="6" name="Text 4"/>
          <p:cNvSpPr txBox="1"/>
          <p:nvPr/>
        </p:nvSpPr>
        <p:spPr>
          <a:xfrm>
            <a:off x="548640" y="2139696"/>
            <a:ext cx="2560320" cy="603504"/>
          </a:xfrm>
          <a:prstGeom prst="rect">
            <a:avLst/>
          </a:prstGeom>
          <a:noFill/>
          <a:ln/>
        </p:spPr>
        <p:txBody>
          <a:bodyPr wrap="square" lIns="0" tIns="0" rIns="0" bIns="0" rtlCol="0" anchor="ctr"/>
          <a:lstStyle/>
          <a:p>
            <a:pPr algn="ctr" indent="0" marL="0">
              <a:buNone/>
            </a:pPr>
            <a:r>
              <a:rPr lang="en-US" sz="1000" dirty="0">
                <a:solidFill>
                  <a:srgbClr val="E8F1FA"/>
                </a:solidFill>
                <a:latin typeface="Calibri" pitchFamily="34" charset="0"/>
                <a:ea typeface="Calibri" pitchFamily="34" charset="-122"/>
                <a:cs typeface="Calibri" pitchFamily="34" charset="-120"/>
              </a:rPr>
              <a:t>CNN embedding</a:t>
            </a:r>
            <a:endParaRPr lang="en-US" sz="1000" dirty="0"/>
          </a:p>
          <a:p>
            <a:pPr algn="ctr" indent="0" marL="0">
              <a:buNone/>
            </a:pPr>
            <a:r>
              <a:rPr lang="en-US" sz="1000" dirty="0">
                <a:solidFill>
                  <a:srgbClr val="E8F1FA"/>
                </a:solidFill>
                <a:latin typeface="Calibri" pitchFamily="34" charset="0"/>
                <a:ea typeface="Calibri" pitchFamily="34" charset="-122"/>
                <a:cs typeface="Calibri" pitchFamily="34" charset="-120"/>
              </a:rPr>
              <a:t>(penultimate dense layer)</a:t>
            </a:r>
            <a:endParaRPr lang="en-US" sz="1000" dirty="0"/>
          </a:p>
        </p:txBody>
      </p:sp>
      <p:sp>
        <p:nvSpPr>
          <p:cNvPr id="7" name="Text 5"/>
          <p:cNvSpPr txBox="1"/>
          <p:nvPr/>
        </p:nvSpPr>
        <p:spPr>
          <a:xfrm>
            <a:off x="3108960" y="1874520"/>
            <a:ext cx="246888" cy="457200"/>
          </a:xfrm>
          <a:prstGeom prst="rect">
            <a:avLst/>
          </a:prstGeom>
          <a:noFill/>
          <a:ln/>
        </p:spPr>
        <p:txBody>
          <a:bodyPr wrap="square" lIns="0" tIns="0" rIns="0" bIns="0" rtlCol="0" anchor="ctr"/>
          <a:lstStyle/>
          <a:p>
            <a:pPr algn="ctr" indent="0" marL="0">
              <a:buNone/>
            </a:pPr>
            <a:r>
              <a:rPr lang="en-US" sz="1800" b="1" dirty="0">
                <a:solidFill>
                  <a:srgbClr val="5B6E88"/>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3355848" y="1508760"/>
            <a:ext cx="2560320" cy="1371600"/>
          </a:xfrm>
          <a:prstGeom prst="roundRect">
            <a:avLst>
              <a:gd name="adj" fmla="val 5333"/>
            </a:avLst>
          </a:prstGeom>
          <a:solidFill>
            <a:srgbClr val="0E2A47"/>
          </a:solidFill>
          <a:ln w="12700">
            <a:solidFill>
              <a:srgbClr val="0E2A47"/>
            </a:solidFill>
            <a:prstDash val="solid"/>
          </a:ln>
          <a:effectLst>
            <a:outerShdw sx="100000" sy="100000" kx="0" ky="0" algn="bl" rotWithShape="0" blurRad="127000" dist="25400" dir="5400000">
              <a:srgbClr val="0A1C2E">
                <a:alpha val="16000"/>
              </a:srgbClr>
            </a:outerShdw>
          </a:effectLst>
        </p:spPr>
      </p:sp>
      <p:sp>
        <p:nvSpPr>
          <p:cNvPr id="9" name="Text 7"/>
          <p:cNvSpPr txBox="1"/>
          <p:nvPr/>
        </p:nvSpPr>
        <p:spPr>
          <a:xfrm>
            <a:off x="3355848" y="1664208"/>
            <a:ext cx="256032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288-d</a:t>
            </a:r>
            <a:endParaRPr lang="en-US" sz="2200" dirty="0"/>
          </a:p>
        </p:txBody>
      </p:sp>
      <p:sp>
        <p:nvSpPr>
          <p:cNvPr id="10" name="Text 8"/>
          <p:cNvSpPr txBox="1"/>
          <p:nvPr/>
        </p:nvSpPr>
        <p:spPr>
          <a:xfrm>
            <a:off x="3355848" y="2139696"/>
            <a:ext cx="2560320" cy="603504"/>
          </a:xfrm>
          <a:prstGeom prst="rect">
            <a:avLst/>
          </a:prstGeom>
          <a:noFill/>
          <a:ln/>
        </p:spPr>
        <p:txBody>
          <a:bodyPr wrap="square" lIns="0" tIns="0" rIns="0" bIns="0" rtlCol="0" anchor="ctr"/>
          <a:lstStyle/>
          <a:p>
            <a:pPr algn="ctr" indent="0" marL="0">
              <a:buNone/>
            </a:pPr>
            <a:r>
              <a:rPr lang="en-US" sz="1000" dirty="0">
                <a:solidFill>
                  <a:srgbClr val="E8F1FA"/>
                </a:solidFill>
                <a:latin typeface="Calibri" pitchFamily="34" charset="0"/>
                <a:ea typeface="Calibri" pitchFamily="34" charset="-122"/>
                <a:cs typeface="Calibri" pitchFamily="34" charset="-120"/>
              </a:rPr>
              <a:t>HOG descriptor</a:t>
            </a:r>
            <a:endParaRPr lang="en-US" sz="1000" dirty="0"/>
          </a:p>
          <a:p>
            <a:pPr algn="ctr" indent="0" marL="0">
              <a:buNone/>
            </a:pPr>
            <a:r>
              <a:rPr lang="en-US" sz="1000" dirty="0">
                <a:solidFill>
                  <a:srgbClr val="E8F1FA"/>
                </a:solidFill>
                <a:latin typeface="Calibri" pitchFamily="34" charset="0"/>
                <a:ea typeface="Calibri" pitchFamily="34" charset="-122"/>
                <a:cs typeface="Calibri" pitchFamily="34" charset="-120"/>
              </a:rPr>
              <a:t>(handcrafted)</a:t>
            </a:r>
            <a:endParaRPr lang="en-US" sz="1000" dirty="0"/>
          </a:p>
        </p:txBody>
      </p:sp>
      <p:sp>
        <p:nvSpPr>
          <p:cNvPr id="11" name="Text 9"/>
          <p:cNvSpPr txBox="1"/>
          <p:nvPr/>
        </p:nvSpPr>
        <p:spPr>
          <a:xfrm>
            <a:off x="5916168" y="1874520"/>
            <a:ext cx="246888" cy="457200"/>
          </a:xfrm>
          <a:prstGeom prst="rect">
            <a:avLst/>
          </a:prstGeom>
          <a:noFill/>
          <a:ln/>
        </p:spPr>
        <p:txBody>
          <a:bodyPr wrap="square" lIns="0" tIns="0" rIns="0" bIns="0" rtlCol="0" anchor="ctr"/>
          <a:lstStyle/>
          <a:p>
            <a:pPr algn="ctr" indent="0" marL="0">
              <a:buNone/>
            </a:pPr>
            <a:r>
              <a:rPr lang="en-US" sz="1800" b="1" dirty="0">
                <a:solidFill>
                  <a:srgbClr val="5B6E88"/>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6163056" y="1508760"/>
            <a:ext cx="2560320" cy="1371600"/>
          </a:xfrm>
          <a:prstGeom prst="roundRect">
            <a:avLst>
              <a:gd name="adj" fmla="val 5333"/>
            </a:avLst>
          </a:prstGeom>
          <a:solidFill>
            <a:srgbClr val="00A896"/>
          </a:solidFill>
          <a:ln w="12700">
            <a:solidFill>
              <a:srgbClr val="00A896"/>
            </a:solidFill>
            <a:prstDash val="solid"/>
          </a:ln>
          <a:effectLst>
            <a:outerShdw sx="100000" sy="100000" kx="0" ky="0" algn="bl" rotWithShape="0" blurRad="127000" dist="25400" dir="5400000">
              <a:srgbClr val="0A1C2E">
                <a:alpha val="16000"/>
              </a:srgbClr>
            </a:outerShdw>
          </a:effectLst>
        </p:spPr>
      </p:sp>
      <p:sp>
        <p:nvSpPr>
          <p:cNvPr id="13" name="Text 11"/>
          <p:cNvSpPr txBox="1"/>
          <p:nvPr/>
        </p:nvSpPr>
        <p:spPr>
          <a:xfrm>
            <a:off x="6163056" y="1664208"/>
            <a:ext cx="256032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416-d</a:t>
            </a:r>
            <a:endParaRPr lang="en-US" sz="2200" dirty="0"/>
          </a:p>
        </p:txBody>
      </p:sp>
      <p:sp>
        <p:nvSpPr>
          <p:cNvPr id="14" name="Text 12"/>
          <p:cNvSpPr txBox="1"/>
          <p:nvPr/>
        </p:nvSpPr>
        <p:spPr>
          <a:xfrm>
            <a:off x="6163056" y="2139696"/>
            <a:ext cx="2560320" cy="603504"/>
          </a:xfrm>
          <a:prstGeom prst="rect">
            <a:avLst/>
          </a:prstGeom>
          <a:noFill/>
          <a:ln/>
        </p:spPr>
        <p:txBody>
          <a:bodyPr wrap="square" lIns="0" tIns="0" rIns="0" bIns="0" rtlCol="0" anchor="ctr"/>
          <a:lstStyle/>
          <a:p>
            <a:pPr algn="ctr" indent="0" marL="0">
              <a:buNone/>
            </a:pPr>
            <a:r>
              <a:rPr lang="en-US" sz="1000" dirty="0">
                <a:solidFill>
                  <a:srgbClr val="E8F1FA"/>
                </a:solidFill>
                <a:latin typeface="Calibri" pitchFamily="34" charset="0"/>
                <a:ea typeface="Calibri" pitchFamily="34" charset="-122"/>
                <a:cs typeface="Calibri" pitchFamily="34" charset="-120"/>
              </a:rPr>
              <a:t>Concatenated</a:t>
            </a:r>
            <a:endParaRPr lang="en-US" sz="1000" dirty="0"/>
          </a:p>
          <a:p>
            <a:pPr algn="ctr" indent="0" marL="0">
              <a:buNone/>
            </a:pPr>
            <a:r>
              <a:rPr lang="en-US" sz="1000" dirty="0">
                <a:solidFill>
                  <a:srgbClr val="E8F1FA"/>
                </a:solidFill>
                <a:latin typeface="Calibri" pitchFamily="34" charset="0"/>
                <a:ea typeface="Calibri" pitchFamily="34" charset="-122"/>
                <a:cs typeface="Calibri" pitchFamily="34" charset="-120"/>
              </a:rPr>
              <a:t>hybrid vector</a:t>
            </a:r>
            <a:endParaRPr lang="en-US" sz="1000" dirty="0"/>
          </a:p>
        </p:txBody>
      </p:sp>
      <p:sp>
        <p:nvSpPr>
          <p:cNvPr id="15" name="Text 13"/>
          <p:cNvSpPr txBox="1"/>
          <p:nvPr/>
        </p:nvSpPr>
        <p:spPr>
          <a:xfrm>
            <a:off x="8723376" y="1874520"/>
            <a:ext cx="246888" cy="457200"/>
          </a:xfrm>
          <a:prstGeom prst="rect">
            <a:avLst/>
          </a:prstGeom>
          <a:noFill/>
          <a:ln/>
        </p:spPr>
        <p:txBody>
          <a:bodyPr wrap="square" lIns="0" tIns="0" rIns="0" bIns="0" rtlCol="0" anchor="ctr"/>
          <a:lstStyle/>
          <a:p>
            <a:pPr algn="ctr" indent="0" marL="0">
              <a:buNone/>
            </a:pPr>
            <a:r>
              <a:rPr lang="en-US" sz="1800" b="1" dirty="0">
                <a:solidFill>
                  <a:srgbClr val="5B6E88"/>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8970264" y="1508760"/>
            <a:ext cx="2560320" cy="1371600"/>
          </a:xfrm>
          <a:prstGeom prst="roundRect">
            <a:avLst>
              <a:gd name="adj" fmla="val 5333"/>
            </a:avLst>
          </a:prstGeom>
          <a:solidFill>
            <a:srgbClr val="E9973F"/>
          </a:solidFill>
          <a:ln w="12700">
            <a:solidFill>
              <a:srgbClr val="E9973F"/>
            </a:solidFill>
            <a:prstDash val="solid"/>
          </a:ln>
          <a:effectLst>
            <a:outerShdw sx="100000" sy="100000" kx="0" ky="0" algn="bl" rotWithShape="0" blurRad="127000" dist="25400" dir="5400000">
              <a:srgbClr val="0A1C2E">
                <a:alpha val="16000"/>
              </a:srgbClr>
            </a:outerShdw>
          </a:effectLst>
        </p:spPr>
      </p:sp>
      <p:sp>
        <p:nvSpPr>
          <p:cNvPr id="17" name="Text 15"/>
          <p:cNvSpPr txBox="1"/>
          <p:nvPr/>
        </p:nvSpPr>
        <p:spPr>
          <a:xfrm>
            <a:off x="8970264" y="1664208"/>
            <a:ext cx="256032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SVM</a:t>
            </a:r>
            <a:endParaRPr lang="en-US" sz="2200" dirty="0"/>
          </a:p>
        </p:txBody>
      </p:sp>
      <p:sp>
        <p:nvSpPr>
          <p:cNvPr id="18" name="Text 16"/>
          <p:cNvSpPr txBox="1"/>
          <p:nvPr/>
        </p:nvSpPr>
        <p:spPr>
          <a:xfrm>
            <a:off x="8970264" y="2139696"/>
            <a:ext cx="2560320" cy="603504"/>
          </a:xfrm>
          <a:prstGeom prst="rect">
            <a:avLst/>
          </a:prstGeom>
          <a:noFill/>
          <a:ln/>
        </p:spPr>
        <p:txBody>
          <a:bodyPr wrap="square" lIns="0" tIns="0" rIns="0" bIns="0" rtlCol="0" anchor="ctr"/>
          <a:lstStyle/>
          <a:p>
            <a:pPr algn="ctr" indent="0" marL="0">
              <a:buNone/>
            </a:pPr>
            <a:r>
              <a:rPr lang="en-US" sz="1000" dirty="0">
                <a:solidFill>
                  <a:srgbClr val="E8F1FA"/>
                </a:solidFill>
                <a:latin typeface="Calibri" pitchFamily="34" charset="0"/>
                <a:ea typeface="Calibri" pitchFamily="34" charset="-122"/>
                <a:cs typeface="Calibri" pitchFamily="34" charset="-120"/>
              </a:rPr>
              <a:t>StandardScaler →</a:t>
            </a:r>
            <a:endParaRPr lang="en-US" sz="1000" dirty="0"/>
          </a:p>
          <a:p>
            <a:pPr algn="ctr" indent="0" marL="0">
              <a:buNone/>
            </a:pPr>
            <a:r>
              <a:rPr lang="en-US" sz="1000" dirty="0">
                <a:solidFill>
                  <a:srgbClr val="E8F1FA"/>
                </a:solidFill>
                <a:latin typeface="Calibri" pitchFamily="34" charset="0"/>
                <a:ea typeface="Calibri" pitchFamily="34" charset="-122"/>
                <a:cs typeface="Calibri" pitchFamily="34" charset="-120"/>
              </a:rPr>
              <a:t>RBF kernel</a:t>
            </a:r>
            <a:endParaRPr lang="en-US" sz="1000" dirty="0"/>
          </a:p>
        </p:txBody>
      </p:sp>
      <p:sp>
        <p:nvSpPr>
          <p:cNvPr id="19" name="Shape 17"/>
          <p:cNvSpPr/>
          <p:nvPr/>
        </p:nvSpPr>
        <p:spPr>
          <a:xfrm>
            <a:off x="548640" y="3108960"/>
            <a:ext cx="5486400" cy="2286000"/>
          </a:xfrm>
          <a:prstGeom prst="roundRect">
            <a:avLst>
              <a:gd name="adj" fmla="val 3200"/>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20" name="Text 18"/>
          <p:cNvSpPr txBox="1"/>
          <p:nvPr/>
        </p:nvSpPr>
        <p:spPr>
          <a:xfrm>
            <a:off x="822960" y="3291840"/>
            <a:ext cx="4937760"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What the SVM settings were</a:t>
            </a:r>
            <a:endParaRPr lang="en-US" sz="1400" dirty="0"/>
          </a:p>
        </p:txBody>
      </p:sp>
      <p:sp>
        <p:nvSpPr>
          <p:cNvPr id="21" name="Text 19"/>
          <p:cNvSpPr txBox="1"/>
          <p:nvPr/>
        </p:nvSpPr>
        <p:spPr>
          <a:xfrm>
            <a:off x="822960" y="3611880"/>
            <a:ext cx="4937760" cy="16459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2263A"/>
                </a:solidFill>
                <a:latin typeface="Calibri" pitchFamily="34" charset="0"/>
                <a:ea typeface="Calibri" pitchFamily="34" charset="-122"/>
                <a:cs typeface="Calibri" pitchFamily="34" charset="-120"/>
              </a:rPr>
              <a:t>scikit-learn SVC, RBF kernel</a:t>
            </a:r>
            <a:endParaRPr lang="en-US" sz="1150" dirty="0"/>
          </a:p>
          <a:p>
            <a:pPr marL="342900" indent="-342900">
              <a:spcAft>
                <a:spcPts val="600"/>
              </a:spcAft>
              <a:buSzPct val="100000"/>
              <a:buChar char="•"/>
            </a:pPr>
            <a:r>
              <a:rPr lang="en-US" sz="1150" dirty="0">
                <a:solidFill>
                  <a:srgbClr val="12263A"/>
                </a:solidFill>
                <a:latin typeface="Calibri" pitchFamily="34" charset="0"/>
                <a:ea typeface="Calibri" pitchFamily="34" charset="-122"/>
                <a:cs typeface="Calibri" pitchFamily="34" charset="-120"/>
              </a:rPr>
              <a:t>Defaults: C = 1.0, gamma = 'scale', probability = True</a:t>
            </a:r>
            <a:endParaRPr lang="en-US" sz="1150" dirty="0"/>
          </a:p>
          <a:p>
            <a:pPr marL="342900" indent="-342900">
              <a:spcAft>
                <a:spcPts val="600"/>
              </a:spcAft>
              <a:buSzPct val="100000"/>
              <a:buChar char="•"/>
            </a:pPr>
            <a:r>
              <a:rPr lang="en-US" sz="1150" dirty="0">
                <a:solidFill>
                  <a:srgbClr val="12263A"/>
                </a:solidFill>
                <a:latin typeface="Calibri" pitchFamily="34" charset="0"/>
                <a:ea typeface="Calibri" pitchFamily="34" charset="-122"/>
                <a:cs typeface="Calibri" pitchFamily="34" charset="-120"/>
              </a:rPr>
              <a:t>Features standardised to zero mean / unit variance first</a:t>
            </a:r>
            <a:endParaRPr lang="en-US" sz="1150" dirty="0"/>
          </a:p>
          <a:p>
            <a:pPr marL="342900" indent="-342900">
              <a:spcAft>
                <a:spcPts val="600"/>
              </a:spcAft>
              <a:buSzPct val="100000"/>
              <a:buChar char="•"/>
            </a:pPr>
            <a:r>
              <a:rPr lang="en-US" sz="1150" dirty="0">
                <a:solidFill>
                  <a:srgbClr val="12263A"/>
                </a:solidFill>
                <a:latin typeface="Calibri" pitchFamily="34" charset="0"/>
                <a:ea typeface="Calibri" pitchFamily="34" charset="-122"/>
                <a:cs typeface="Calibri" pitchFamily="34" charset="-120"/>
              </a:rPr>
              <a:t>Model + scaler serialised with joblib for deployment</a:t>
            </a:r>
            <a:endParaRPr lang="en-US" sz="1150" dirty="0"/>
          </a:p>
        </p:txBody>
      </p:sp>
      <p:sp>
        <p:nvSpPr>
          <p:cNvPr id="22" name="Shape 20"/>
          <p:cNvSpPr/>
          <p:nvPr/>
        </p:nvSpPr>
        <p:spPr>
          <a:xfrm>
            <a:off x="6400800" y="3108960"/>
            <a:ext cx="5212080" cy="2286000"/>
          </a:xfrm>
          <a:prstGeom prst="roundRect">
            <a:avLst>
              <a:gd name="adj" fmla="val 3200"/>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23" name="Text 21"/>
          <p:cNvSpPr txBox="1"/>
          <p:nvPr/>
        </p:nvSpPr>
        <p:spPr>
          <a:xfrm>
            <a:off x="6675120" y="3291840"/>
            <a:ext cx="4663440" cy="27432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Why an SVM instead of the softmax?</a:t>
            </a:r>
            <a:endParaRPr lang="en-US" sz="1400" dirty="0"/>
          </a:p>
        </p:txBody>
      </p:sp>
      <p:sp>
        <p:nvSpPr>
          <p:cNvPr id="24" name="Text 22"/>
          <p:cNvSpPr txBox="1"/>
          <p:nvPr/>
        </p:nvSpPr>
        <p:spPr>
          <a:xfrm>
            <a:off x="6675120" y="3611880"/>
            <a:ext cx="4663440" cy="1645920"/>
          </a:xfrm>
          <a:prstGeom prst="rect">
            <a:avLst/>
          </a:prstGeom>
          <a:noFill/>
          <a:ln/>
        </p:spPr>
        <p:txBody>
          <a:bodyPr wrap="square" lIns="0" tIns="0" rIns="0" bIns="0" rtlCol="0" anchor="t"/>
          <a:lstStyle/>
          <a:p>
            <a:pPr indent="0" marL="0">
              <a:buNone/>
            </a:pPr>
            <a:r>
              <a:rPr lang="en-US" sz="1150" dirty="0">
                <a:solidFill>
                  <a:srgbClr val="12263A"/>
                </a:solidFill>
                <a:latin typeface="Calibri" pitchFamily="34" charset="0"/>
                <a:ea typeface="Calibri" pitchFamily="34" charset="-122"/>
                <a:cs typeface="Calibri" pitchFamily="34" charset="-120"/>
              </a:rPr>
              <a:t>Their own ablation is the argument: the CNN with its softmax head reached only ≈84.5% validation accuracy, while the same features handed to an RBF-SVM reached 93–95%. SVMs generalise well in high-dimensional spaces on small datasets, and the RBF kernel captures non-linear class boundaries.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PAPER · PROCEDURE</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Paper — the pipeline, step by step</a:t>
            </a:r>
            <a:endParaRPr lang="en-US" sz="3200" dirty="0"/>
          </a:p>
        </p:txBody>
      </p:sp>
      <p:sp>
        <p:nvSpPr>
          <p:cNvPr id="4" name="Shape 2"/>
          <p:cNvSpPr/>
          <p:nvPr/>
        </p:nvSpPr>
        <p:spPr>
          <a:xfrm>
            <a:off x="548640" y="1481328"/>
            <a:ext cx="420624" cy="420624"/>
          </a:xfrm>
          <a:prstGeom prst="ellipse">
            <a:avLst/>
          </a:prstGeom>
          <a:solidFill>
            <a:srgbClr val="0E2A47"/>
          </a:solidFill>
          <a:ln w="12700">
            <a:solidFill>
              <a:srgbClr val="0E2A47"/>
            </a:solidFill>
            <a:prstDash val="solid"/>
          </a:ln>
        </p:spPr>
      </p:sp>
      <p:sp>
        <p:nvSpPr>
          <p:cNvPr id="5" name="Text 3"/>
          <p:cNvSpPr txBox="1"/>
          <p:nvPr/>
        </p:nvSpPr>
        <p:spPr>
          <a:xfrm>
            <a:off x="548640" y="14813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15568" y="14630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Load MRI</a:t>
            </a:r>
            <a:endParaRPr lang="en-US" sz="1400" dirty="0"/>
          </a:p>
        </p:txBody>
      </p:sp>
      <p:sp>
        <p:nvSpPr>
          <p:cNvPr id="7" name="Text 5"/>
          <p:cNvSpPr txBox="1"/>
          <p:nvPr/>
        </p:nvSpPr>
        <p:spPr>
          <a:xfrm>
            <a:off x="1115568" y="17282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Read a T1-CE slice from the dataset.</a:t>
            </a:r>
            <a:endParaRPr lang="en-US" sz="1150" dirty="0"/>
          </a:p>
        </p:txBody>
      </p:sp>
      <p:sp>
        <p:nvSpPr>
          <p:cNvPr id="8" name="Shape 6"/>
          <p:cNvSpPr/>
          <p:nvPr/>
        </p:nvSpPr>
        <p:spPr>
          <a:xfrm>
            <a:off x="4343400" y="1481328"/>
            <a:ext cx="420624" cy="420624"/>
          </a:xfrm>
          <a:prstGeom prst="ellipse">
            <a:avLst/>
          </a:prstGeom>
          <a:solidFill>
            <a:srgbClr val="0E2A47"/>
          </a:solidFill>
          <a:ln w="12700">
            <a:solidFill>
              <a:srgbClr val="0E2A47"/>
            </a:solidFill>
            <a:prstDash val="solid"/>
          </a:ln>
        </p:spPr>
      </p:sp>
      <p:sp>
        <p:nvSpPr>
          <p:cNvPr id="9" name="Text 7"/>
          <p:cNvSpPr txBox="1"/>
          <p:nvPr/>
        </p:nvSpPr>
        <p:spPr>
          <a:xfrm>
            <a:off x="4343400" y="14813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4910328" y="14630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Preprocess</a:t>
            </a:r>
            <a:endParaRPr lang="en-US" sz="1400" dirty="0"/>
          </a:p>
        </p:txBody>
      </p:sp>
      <p:sp>
        <p:nvSpPr>
          <p:cNvPr id="11" name="Text 9"/>
          <p:cNvSpPr txBox="1"/>
          <p:nvPr/>
        </p:nvSpPr>
        <p:spPr>
          <a:xfrm>
            <a:off x="4910328" y="17282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Resize to 64×64×3, divide pixels by 255.</a:t>
            </a:r>
            <a:endParaRPr lang="en-US" sz="1150" dirty="0"/>
          </a:p>
        </p:txBody>
      </p:sp>
      <p:sp>
        <p:nvSpPr>
          <p:cNvPr id="12" name="Shape 10"/>
          <p:cNvSpPr/>
          <p:nvPr/>
        </p:nvSpPr>
        <p:spPr>
          <a:xfrm>
            <a:off x="8138160" y="1481328"/>
            <a:ext cx="420624" cy="420624"/>
          </a:xfrm>
          <a:prstGeom prst="ellipse">
            <a:avLst/>
          </a:prstGeom>
          <a:solidFill>
            <a:srgbClr val="0E2A47"/>
          </a:solidFill>
          <a:ln w="12700">
            <a:solidFill>
              <a:srgbClr val="0E2A47"/>
            </a:solidFill>
            <a:prstDash val="solid"/>
          </a:ln>
        </p:spPr>
      </p:sp>
      <p:sp>
        <p:nvSpPr>
          <p:cNvPr id="13" name="Text 11"/>
          <p:cNvSpPr txBox="1"/>
          <p:nvPr/>
        </p:nvSpPr>
        <p:spPr>
          <a:xfrm>
            <a:off x="8138160" y="14813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8705088" y="14630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Augment (train only)</a:t>
            </a:r>
            <a:endParaRPr lang="en-US" sz="1400" dirty="0"/>
          </a:p>
        </p:txBody>
      </p:sp>
      <p:sp>
        <p:nvSpPr>
          <p:cNvPr id="15" name="Text 13"/>
          <p:cNvSpPr txBox="1"/>
          <p:nvPr/>
        </p:nvSpPr>
        <p:spPr>
          <a:xfrm>
            <a:off x="8705088" y="17282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Rotate ±20°, shift ±20%, flip horizontally.</a:t>
            </a:r>
            <a:endParaRPr lang="en-US" sz="1150" dirty="0"/>
          </a:p>
        </p:txBody>
      </p:sp>
      <p:sp>
        <p:nvSpPr>
          <p:cNvPr id="16" name="Shape 14"/>
          <p:cNvSpPr/>
          <p:nvPr/>
        </p:nvSpPr>
        <p:spPr>
          <a:xfrm>
            <a:off x="548640" y="2779776"/>
            <a:ext cx="420624" cy="420624"/>
          </a:xfrm>
          <a:prstGeom prst="ellipse">
            <a:avLst/>
          </a:prstGeom>
          <a:solidFill>
            <a:srgbClr val="0E2A47"/>
          </a:solidFill>
          <a:ln w="12700">
            <a:solidFill>
              <a:srgbClr val="0E2A47"/>
            </a:solidFill>
            <a:prstDash val="solid"/>
          </a:ln>
        </p:spPr>
      </p:sp>
      <p:sp>
        <p:nvSpPr>
          <p:cNvPr id="17" name="Text 15"/>
          <p:cNvSpPr txBox="1"/>
          <p:nvPr/>
        </p:nvSpPr>
        <p:spPr>
          <a:xfrm>
            <a:off x="548640" y="27797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115568" y="2761488"/>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Train the CNN</a:t>
            </a:r>
            <a:endParaRPr lang="en-US" sz="1400" dirty="0"/>
          </a:p>
        </p:txBody>
      </p:sp>
      <p:sp>
        <p:nvSpPr>
          <p:cNvPr id="19" name="Text 17"/>
          <p:cNvSpPr txBox="1"/>
          <p:nvPr/>
        </p:nvSpPr>
        <p:spPr>
          <a:xfrm>
            <a:off x="1115568" y="3026664"/>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3 conv blocks + attention, Adam, 50 epochs, cross-entropy.</a:t>
            </a:r>
            <a:endParaRPr lang="en-US" sz="1150" dirty="0"/>
          </a:p>
        </p:txBody>
      </p:sp>
      <p:sp>
        <p:nvSpPr>
          <p:cNvPr id="20" name="Shape 18"/>
          <p:cNvSpPr/>
          <p:nvPr/>
        </p:nvSpPr>
        <p:spPr>
          <a:xfrm>
            <a:off x="4343400" y="2779776"/>
            <a:ext cx="420624" cy="420624"/>
          </a:xfrm>
          <a:prstGeom prst="ellipse">
            <a:avLst/>
          </a:prstGeom>
          <a:solidFill>
            <a:srgbClr val="0E2A47"/>
          </a:solidFill>
          <a:ln w="12700">
            <a:solidFill>
              <a:srgbClr val="0E2A47"/>
            </a:solidFill>
            <a:prstDash val="solid"/>
          </a:ln>
        </p:spPr>
      </p:sp>
      <p:sp>
        <p:nvSpPr>
          <p:cNvPr id="21" name="Text 19"/>
          <p:cNvSpPr txBox="1"/>
          <p:nvPr/>
        </p:nvSpPr>
        <p:spPr>
          <a:xfrm>
            <a:off x="4343400" y="27797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4910328" y="2761488"/>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Freeze and extract</a:t>
            </a:r>
            <a:endParaRPr lang="en-US" sz="1400" dirty="0"/>
          </a:p>
        </p:txBody>
      </p:sp>
      <p:sp>
        <p:nvSpPr>
          <p:cNvPr id="23" name="Text 21"/>
          <p:cNvSpPr txBox="1"/>
          <p:nvPr/>
        </p:nvSpPr>
        <p:spPr>
          <a:xfrm>
            <a:off x="4910328" y="3026664"/>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Take the 128-d vector from the penultimate dense layer.</a:t>
            </a:r>
            <a:endParaRPr lang="en-US" sz="1150" dirty="0"/>
          </a:p>
        </p:txBody>
      </p:sp>
      <p:sp>
        <p:nvSpPr>
          <p:cNvPr id="24" name="Shape 22"/>
          <p:cNvSpPr/>
          <p:nvPr/>
        </p:nvSpPr>
        <p:spPr>
          <a:xfrm>
            <a:off x="8138160" y="2779776"/>
            <a:ext cx="420624" cy="420624"/>
          </a:xfrm>
          <a:prstGeom prst="ellipse">
            <a:avLst/>
          </a:prstGeom>
          <a:solidFill>
            <a:srgbClr val="0E2A47"/>
          </a:solidFill>
          <a:ln w="12700">
            <a:solidFill>
              <a:srgbClr val="0E2A47"/>
            </a:solidFill>
            <a:prstDash val="solid"/>
          </a:ln>
        </p:spPr>
      </p:sp>
      <p:sp>
        <p:nvSpPr>
          <p:cNvPr id="25" name="Text 23"/>
          <p:cNvSpPr txBox="1"/>
          <p:nvPr/>
        </p:nvSpPr>
        <p:spPr>
          <a:xfrm>
            <a:off x="8138160" y="27797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8705088" y="2761488"/>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Compute HOG</a:t>
            </a:r>
            <a:endParaRPr lang="en-US" sz="1400" dirty="0"/>
          </a:p>
        </p:txBody>
      </p:sp>
      <p:sp>
        <p:nvSpPr>
          <p:cNvPr id="27" name="Text 25"/>
          <p:cNvSpPr txBox="1"/>
          <p:nvPr/>
        </p:nvSpPr>
        <p:spPr>
          <a:xfrm>
            <a:off x="8705088" y="3026664"/>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288-d descriptor from the greyscale image.</a:t>
            </a:r>
            <a:endParaRPr lang="en-US" sz="1150" dirty="0"/>
          </a:p>
        </p:txBody>
      </p:sp>
      <p:sp>
        <p:nvSpPr>
          <p:cNvPr id="28" name="Shape 26"/>
          <p:cNvSpPr/>
          <p:nvPr/>
        </p:nvSpPr>
        <p:spPr>
          <a:xfrm>
            <a:off x="548640" y="4078224"/>
            <a:ext cx="420624" cy="420624"/>
          </a:xfrm>
          <a:prstGeom prst="ellipse">
            <a:avLst/>
          </a:prstGeom>
          <a:solidFill>
            <a:srgbClr val="0E2A47"/>
          </a:solidFill>
          <a:ln w="12700">
            <a:solidFill>
              <a:srgbClr val="0E2A47"/>
            </a:solidFill>
            <a:prstDash val="solid"/>
          </a:ln>
        </p:spPr>
      </p:sp>
      <p:sp>
        <p:nvSpPr>
          <p:cNvPr id="29" name="Text 27"/>
          <p:cNvSpPr txBox="1"/>
          <p:nvPr/>
        </p:nvSpPr>
        <p:spPr>
          <a:xfrm>
            <a:off x="548640" y="40782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0" name="Text 28"/>
          <p:cNvSpPr txBox="1"/>
          <p:nvPr/>
        </p:nvSpPr>
        <p:spPr>
          <a:xfrm>
            <a:off x="1115568" y="4059936"/>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Fuse and scale</a:t>
            </a:r>
            <a:endParaRPr lang="en-US" sz="1400" dirty="0"/>
          </a:p>
        </p:txBody>
      </p:sp>
      <p:sp>
        <p:nvSpPr>
          <p:cNvPr id="31" name="Text 29"/>
          <p:cNvSpPr txBox="1"/>
          <p:nvPr/>
        </p:nvSpPr>
        <p:spPr>
          <a:xfrm>
            <a:off x="1115568" y="4325112"/>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Concatenate → 416-d, then StandardScaler.</a:t>
            </a:r>
            <a:endParaRPr lang="en-US" sz="1150" dirty="0"/>
          </a:p>
        </p:txBody>
      </p:sp>
      <p:sp>
        <p:nvSpPr>
          <p:cNvPr id="32" name="Shape 30"/>
          <p:cNvSpPr/>
          <p:nvPr/>
        </p:nvSpPr>
        <p:spPr>
          <a:xfrm>
            <a:off x="4343400" y="4078224"/>
            <a:ext cx="420624" cy="420624"/>
          </a:xfrm>
          <a:prstGeom prst="ellipse">
            <a:avLst/>
          </a:prstGeom>
          <a:solidFill>
            <a:srgbClr val="E9973F"/>
          </a:solidFill>
          <a:ln w="12700">
            <a:solidFill>
              <a:srgbClr val="E9973F"/>
            </a:solidFill>
            <a:prstDash val="solid"/>
          </a:ln>
        </p:spPr>
      </p:sp>
      <p:sp>
        <p:nvSpPr>
          <p:cNvPr id="33" name="Text 31"/>
          <p:cNvSpPr txBox="1"/>
          <p:nvPr/>
        </p:nvSpPr>
        <p:spPr>
          <a:xfrm>
            <a:off x="4343400" y="40782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4" name="Text 32"/>
          <p:cNvSpPr txBox="1"/>
          <p:nvPr/>
        </p:nvSpPr>
        <p:spPr>
          <a:xfrm>
            <a:off x="4910328" y="4059936"/>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Classify with SVM</a:t>
            </a:r>
            <a:endParaRPr lang="en-US" sz="1400" dirty="0"/>
          </a:p>
        </p:txBody>
      </p:sp>
      <p:sp>
        <p:nvSpPr>
          <p:cNvPr id="35" name="Text 33"/>
          <p:cNvSpPr txBox="1"/>
          <p:nvPr/>
        </p:nvSpPr>
        <p:spPr>
          <a:xfrm>
            <a:off x="4910328" y="4325112"/>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RBF-SVM outputs the class and a probability.</a:t>
            </a:r>
            <a:endParaRPr lang="en-US" sz="1150" dirty="0"/>
          </a:p>
        </p:txBody>
      </p:sp>
      <p:sp>
        <p:nvSpPr>
          <p:cNvPr id="36" name="Shape 34"/>
          <p:cNvSpPr/>
          <p:nvPr/>
        </p:nvSpPr>
        <p:spPr>
          <a:xfrm>
            <a:off x="8138160" y="4078224"/>
            <a:ext cx="420624" cy="420624"/>
          </a:xfrm>
          <a:prstGeom prst="ellipse">
            <a:avLst/>
          </a:prstGeom>
          <a:solidFill>
            <a:srgbClr val="0E2A47"/>
          </a:solidFill>
          <a:ln w="12700">
            <a:solidFill>
              <a:srgbClr val="0E2A47"/>
            </a:solidFill>
            <a:prstDash val="solid"/>
          </a:ln>
        </p:spPr>
      </p:sp>
      <p:sp>
        <p:nvSpPr>
          <p:cNvPr id="37" name="Text 35"/>
          <p:cNvSpPr txBox="1"/>
          <p:nvPr/>
        </p:nvSpPr>
        <p:spPr>
          <a:xfrm>
            <a:off x="8138160" y="40782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8" name="Text 36"/>
          <p:cNvSpPr txBox="1"/>
          <p:nvPr/>
        </p:nvSpPr>
        <p:spPr>
          <a:xfrm>
            <a:off x="8705088" y="4059936"/>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Explain</a:t>
            </a:r>
            <a:endParaRPr lang="en-US" sz="1400" dirty="0"/>
          </a:p>
        </p:txBody>
      </p:sp>
      <p:sp>
        <p:nvSpPr>
          <p:cNvPr id="39" name="Text 37"/>
          <p:cNvSpPr txBox="1"/>
          <p:nvPr/>
        </p:nvSpPr>
        <p:spPr>
          <a:xfrm>
            <a:off x="8705088" y="4325112"/>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Grad-CAM heatmap over the MRI slice.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PAPER · OUTCOME</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Paper — reported results</a:t>
            </a:r>
            <a:endParaRPr lang="en-US" sz="3200" dirty="0"/>
          </a:p>
        </p:txBody>
      </p:sp>
      <p:sp>
        <p:nvSpPr>
          <p:cNvPr id="4" name="Text 2"/>
          <p:cNvSpPr txBox="1"/>
          <p:nvPr/>
        </p:nvSpPr>
        <p:spPr>
          <a:xfrm>
            <a:off x="548640" y="1463040"/>
            <a:ext cx="2468880" cy="713232"/>
          </a:xfrm>
          <a:prstGeom prst="rect">
            <a:avLst/>
          </a:prstGeom>
          <a:noFill/>
          <a:ln/>
        </p:spPr>
        <p:txBody>
          <a:bodyPr wrap="square" lIns="0" tIns="0" rIns="0" bIns="0" rtlCol="0" anchor="ctr"/>
          <a:lstStyle/>
          <a:p>
            <a:pPr algn="ctr" indent="0" marL="0">
              <a:buNone/>
            </a:pPr>
            <a:r>
              <a:rPr lang="en-US" sz="4000" b="1" dirty="0">
                <a:solidFill>
                  <a:srgbClr val="0E2A47"/>
                </a:solidFill>
                <a:latin typeface="Cambria" pitchFamily="34" charset="0"/>
                <a:ea typeface="Cambria" pitchFamily="34" charset="-122"/>
                <a:cs typeface="Cambria" pitchFamily="34" charset="-120"/>
              </a:rPr>
              <a:t>94.81%</a:t>
            </a:r>
            <a:endParaRPr lang="en-US" sz="4000" dirty="0"/>
          </a:p>
        </p:txBody>
      </p:sp>
      <p:sp>
        <p:nvSpPr>
          <p:cNvPr id="5" name="Text 3"/>
          <p:cNvSpPr txBox="1"/>
          <p:nvPr/>
        </p:nvSpPr>
        <p:spPr>
          <a:xfrm>
            <a:off x="548640" y="2157984"/>
            <a:ext cx="246888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Hybrid test accuracy</a:t>
            </a:r>
            <a:endParaRPr lang="en-US" sz="1050" dirty="0"/>
          </a:p>
        </p:txBody>
      </p:sp>
      <p:sp>
        <p:nvSpPr>
          <p:cNvPr id="6" name="Text 4"/>
          <p:cNvSpPr txBox="1"/>
          <p:nvPr/>
        </p:nvSpPr>
        <p:spPr>
          <a:xfrm>
            <a:off x="3246120" y="1463040"/>
            <a:ext cx="2468880" cy="713232"/>
          </a:xfrm>
          <a:prstGeom prst="rect">
            <a:avLst/>
          </a:prstGeom>
          <a:noFill/>
          <a:ln/>
        </p:spPr>
        <p:txBody>
          <a:bodyPr wrap="square" lIns="0" tIns="0" rIns="0" bIns="0" rtlCol="0" anchor="ctr"/>
          <a:lstStyle/>
          <a:p>
            <a:pPr algn="ctr" indent="0" marL="0">
              <a:buNone/>
            </a:pPr>
            <a:r>
              <a:rPr lang="en-US" sz="4000" b="1" dirty="0">
                <a:solidFill>
                  <a:srgbClr val="5B6E88"/>
                </a:solidFill>
                <a:latin typeface="Cambria" pitchFamily="34" charset="0"/>
                <a:ea typeface="Cambria" pitchFamily="34" charset="-122"/>
                <a:cs typeface="Cambria" pitchFamily="34" charset="-120"/>
              </a:rPr>
              <a:t>84.5%</a:t>
            </a:r>
            <a:endParaRPr lang="en-US" sz="4000" dirty="0"/>
          </a:p>
        </p:txBody>
      </p:sp>
      <p:sp>
        <p:nvSpPr>
          <p:cNvPr id="7" name="Text 5"/>
          <p:cNvSpPr txBox="1"/>
          <p:nvPr/>
        </p:nvSpPr>
        <p:spPr>
          <a:xfrm>
            <a:off x="3246120" y="2157984"/>
            <a:ext cx="246888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CNN-only validation accuracy</a:t>
            </a:r>
            <a:endParaRPr lang="en-US" sz="1050" dirty="0"/>
          </a:p>
        </p:txBody>
      </p:sp>
      <p:sp>
        <p:nvSpPr>
          <p:cNvPr id="8" name="Text 6"/>
          <p:cNvSpPr txBox="1"/>
          <p:nvPr/>
        </p:nvSpPr>
        <p:spPr>
          <a:xfrm>
            <a:off x="5943600" y="1463040"/>
            <a:ext cx="2468880" cy="713232"/>
          </a:xfrm>
          <a:prstGeom prst="rect">
            <a:avLst/>
          </a:prstGeom>
          <a:noFill/>
          <a:ln/>
        </p:spPr>
        <p:txBody>
          <a:bodyPr wrap="square" lIns="0" tIns="0" rIns="0" bIns="0" rtlCol="0" anchor="ctr"/>
          <a:lstStyle/>
          <a:p>
            <a:pPr algn="ctr" indent="0" marL="0">
              <a:buNone/>
            </a:pPr>
            <a:r>
              <a:rPr lang="en-US" sz="4000" b="1" dirty="0">
                <a:solidFill>
                  <a:srgbClr val="00A896"/>
                </a:solidFill>
                <a:latin typeface="Cambria" pitchFamily="34" charset="0"/>
                <a:ea typeface="Cambria" pitchFamily="34" charset="-122"/>
                <a:cs typeface="Cambria" pitchFamily="34" charset="-120"/>
              </a:rPr>
              <a:t>0.95</a:t>
            </a:r>
            <a:endParaRPr lang="en-US" sz="4000" dirty="0"/>
          </a:p>
        </p:txBody>
      </p:sp>
      <p:sp>
        <p:nvSpPr>
          <p:cNvPr id="9" name="Text 7"/>
          <p:cNvSpPr txBox="1"/>
          <p:nvPr/>
        </p:nvSpPr>
        <p:spPr>
          <a:xfrm>
            <a:off x="5943600" y="2157984"/>
            <a:ext cx="246888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Weighted F1-score</a:t>
            </a:r>
            <a:endParaRPr lang="en-US" sz="1050" dirty="0"/>
          </a:p>
        </p:txBody>
      </p:sp>
      <p:sp>
        <p:nvSpPr>
          <p:cNvPr id="10" name="Text 8"/>
          <p:cNvSpPr txBox="1"/>
          <p:nvPr/>
        </p:nvSpPr>
        <p:spPr>
          <a:xfrm>
            <a:off x="8641080" y="1463040"/>
            <a:ext cx="2468880" cy="713232"/>
          </a:xfrm>
          <a:prstGeom prst="rect">
            <a:avLst/>
          </a:prstGeom>
          <a:noFill/>
          <a:ln/>
        </p:spPr>
        <p:txBody>
          <a:bodyPr wrap="square" lIns="0" tIns="0" rIns="0" bIns="0" rtlCol="0" anchor="ctr"/>
          <a:lstStyle/>
          <a:p>
            <a:pPr algn="ctr" indent="0" marL="0">
              <a:buNone/>
            </a:pPr>
            <a:r>
              <a:rPr lang="en-US" sz="4000" b="1" dirty="0">
                <a:solidFill>
                  <a:srgbClr val="5B6E88"/>
                </a:solidFill>
                <a:latin typeface="Cambria" pitchFamily="34" charset="0"/>
                <a:ea typeface="Cambria" pitchFamily="34" charset="-122"/>
                <a:cs typeface="Cambria" pitchFamily="34" charset="-120"/>
              </a:rPr>
              <a:t>1,771</a:t>
            </a:r>
            <a:endParaRPr lang="en-US" sz="4000" dirty="0"/>
          </a:p>
        </p:txBody>
      </p:sp>
      <p:sp>
        <p:nvSpPr>
          <p:cNvPr id="11" name="Text 9"/>
          <p:cNvSpPr txBox="1"/>
          <p:nvPr/>
        </p:nvSpPr>
        <p:spPr>
          <a:xfrm>
            <a:off x="8641080" y="2157984"/>
            <a:ext cx="246888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Test images (imbalanced)</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11064240" cy="914400"/>
        </p:xfrm>
        <a:graphic>
          <a:graphicData uri="http://schemas.openxmlformats.org/drawingml/2006/table">
            <a:tbl>
              <a:tblPr/>
              <a:tblGrid>
                <a:gridCol w="3200400"/>
                <a:gridCol w="1965960"/>
                <a:gridCol w="1965960"/>
                <a:gridCol w="1965960"/>
                <a:gridCol w="1965960"/>
              </a:tblGrid>
              <a:tr h="42062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Support</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r>
              <a:tr h="420624">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Glioma</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516</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Meningioma</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516</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Pituitary</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0.97</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0.97</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0.97</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554</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No Tumor</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185</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20624">
                <a:tc>
                  <a:txBody>
                    <a:bodyPr/>
                    <a:lstStyle/>
                    <a:p>
                      <a:pPr algn="ctr" indent="0" marL="0">
                        <a:buNone/>
                      </a:pPr>
                      <a:r>
                        <a:rPr lang="en-US" sz="1200" b="1" dirty="0">
                          <a:solidFill>
                            <a:srgbClr val="12263A"/>
                          </a:solidFill>
                          <a:latin typeface="Calibri" pitchFamily="34" charset="0"/>
                          <a:ea typeface="Calibri" pitchFamily="34" charset="-122"/>
                          <a:cs typeface="Calibri" pitchFamily="34" charset="-120"/>
                        </a:rPr>
                        <a:t>Weighted average</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2263A"/>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2263A"/>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2263A"/>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2263A"/>
                          </a:solidFill>
                          <a:latin typeface="Calibri" pitchFamily="34" charset="0"/>
                          <a:ea typeface="Calibri" pitchFamily="34" charset="-122"/>
                          <a:cs typeface="Calibri" pitchFamily="34" charset="-120"/>
                        </a:rPr>
                        <a:t>1,771</a:t>
                      </a:r>
                      <a:endParaRPr lang="en-US" sz="12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548640" y="5715000"/>
            <a:ext cx="11064240" cy="457200"/>
          </a:xfrm>
          <a:prstGeom prst="rect">
            <a:avLst/>
          </a:prstGeom>
          <a:noFill/>
          <a:ln/>
        </p:spPr>
        <p:txBody>
          <a:bodyPr wrap="square" lIns="0" tIns="0" rIns="0" bIns="0" rtlCol="0" anchor="ctr"/>
          <a:lstStyle/>
          <a:p>
            <a:pPr indent="0" marL="0">
              <a:buNone/>
            </a:pPr>
            <a:r>
              <a:rPr lang="en-US" sz="1150" i="1" dirty="0">
                <a:solidFill>
                  <a:srgbClr val="E9973F"/>
                </a:solidFill>
                <a:latin typeface="Calibri" pitchFamily="34" charset="0"/>
                <a:ea typeface="Calibri" pitchFamily="34" charset="-122"/>
                <a:cs typeface="Calibri" pitchFamily="34" charset="-120"/>
              </a:rPr>
              <a:t>Note the support column: the No Tumor class is only 185 of 1,771 test images (10.4%). Accuracy on an imbalanced test set is easier to inflate than on a balanced one.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PAPER · GAPS</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Paper — limitations the authors state themselves</a:t>
            </a:r>
            <a:endParaRPr lang="en-US" sz="3200" dirty="0"/>
          </a:p>
        </p:txBody>
      </p:sp>
      <p:sp>
        <p:nvSpPr>
          <p:cNvPr id="4" name="Shape 2"/>
          <p:cNvSpPr/>
          <p:nvPr/>
        </p:nvSpPr>
        <p:spPr>
          <a:xfrm>
            <a:off x="548640" y="1417320"/>
            <a:ext cx="11064240" cy="786384"/>
          </a:xfrm>
          <a:prstGeom prst="roundRect">
            <a:avLst>
              <a:gd name="adj" fmla="val 93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5" name="Shape 3"/>
          <p:cNvSpPr/>
          <p:nvPr/>
        </p:nvSpPr>
        <p:spPr>
          <a:xfrm>
            <a:off x="777240" y="1609344"/>
            <a:ext cx="402336" cy="402336"/>
          </a:xfrm>
          <a:prstGeom prst="ellipse">
            <a:avLst/>
          </a:prstGeom>
          <a:solidFill>
            <a:srgbClr val="E9973F"/>
          </a:solidFill>
          <a:ln w="12700">
            <a:solidFill>
              <a:srgbClr val="E9973F"/>
            </a:solidFill>
            <a:prstDash val="solid"/>
          </a:ln>
        </p:spPr>
      </p:sp>
      <p:sp>
        <p:nvSpPr>
          <p:cNvPr id="6" name="Text 4"/>
          <p:cNvSpPr txBox="1"/>
          <p:nvPr/>
        </p:nvSpPr>
        <p:spPr>
          <a:xfrm>
            <a:off x="777240" y="1609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25880" y="1545336"/>
            <a:ext cx="283464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64 × 64 resolution</a:t>
            </a:r>
            <a:endParaRPr lang="en-US" sz="1300" dirty="0"/>
          </a:p>
        </p:txBody>
      </p:sp>
      <p:sp>
        <p:nvSpPr>
          <p:cNvPr id="8" name="Text 6"/>
          <p:cNvSpPr txBox="1"/>
          <p:nvPr/>
        </p:nvSpPr>
        <p:spPr>
          <a:xfrm>
            <a:off x="1325880" y="1819656"/>
            <a:ext cx="5120640" cy="27432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“may lead to loss of fine-grained spatial detail”</a:t>
            </a:r>
            <a:endParaRPr lang="en-US" sz="1050" dirty="0"/>
          </a:p>
        </p:txBody>
      </p:sp>
      <p:sp>
        <p:nvSpPr>
          <p:cNvPr id="9" name="Text 7"/>
          <p:cNvSpPr txBox="1"/>
          <p:nvPr/>
        </p:nvSpPr>
        <p:spPr>
          <a:xfrm>
            <a:off x="7040880" y="1673352"/>
            <a:ext cx="4297680" cy="29260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  We train at 144 × 144</a:t>
            </a:r>
            <a:endParaRPr lang="en-US" sz="1200" dirty="0"/>
          </a:p>
        </p:txBody>
      </p:sp>
      <p:sp>
        <p:nvSpPr>
          <p:cNvPr id="10" name="Shape 8"/>
          <p:cNvSpPr/>
          <p:nvPr/>
        </p:nvSpPr>
        <p:spPr>
          <a:xfrm>
            <a:off x="548640" y="2313432"/>
            <a:ext cx="11064240" cy="786384"/>
          </a:xfrm>
          <a:prstGeom prst="roundRect">
            <a:avLst>
              <a:gd name="adj" fmla="val 93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1" name="Shape 9"/>
          <p:cNvSpPr/>
          <p:nvPr/>
        </p:nvSpPr>
        <p:spPr>
          <a:xfrm>
            <a:off x="777240" y="2505456"/>
            <a:ext cx="402336" cy="402336"/>
          </a:xfrm>
          <a:prstGeom prst="ellipse">
            <a:avLst/>
          </a:prstGeom>
          <a:solidFill>
            <a:srgbClr val="E9973F"/>
          </a:solidFill>
          <a:ln w="12700">
            <a:solidFill>
              <a:srgbClr val="E9973F"/>
            </a:solidFill>
            <a:prstDash val="solid"/>
          </a:ln>
        </p:spPr>
      </p:sp>
      <p:sp>
        <p:nvSpPr>
          <p:cNvPr id="12" name="Text 10"/>
          <p:cNvSpPr txBox="1"/>
          <p:nvPr/>
        </p:nvSpPr>
        <p:spPr>
          <a:xfrm>
            <a:off x="777240" y="2505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325880" y="2441448"/>
            <a:ext cx="283464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Shallow CNN</a:t>
            </a:r>
            <a:endParaRPr lang="en-US" sz="1300" dirty="0"/>
          </a:p>
        </p:txBody>
      </p:sp>
      <p:sp>
        <p:nvSpPr>
          <p:cNvPr id="14" name="Text 12"/>
          <p:cNvSpPr txBox="1"/>
          <p:nvPr/>
        </p:nvSpPr>
        <p:spPr>
          <a:xfrm>
            <a:off x="1325880" y="2715768"/>
            <a:ext cx="5120640" cy="27432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suggests ResNet / DenseNet / ViT would represent better</a:t>
            </a:r>
            <a:endParaRPr lang="en-US" sz="1050" dirty="0"/>
          </a:p>
        </p:txBody>
      </p:sp>
      <p:sp>
        <p:nvSpPr>
          <p:cNvPr id="15" name="Text 13"/>
          <p:cNvSpPr txBox="1"/>
          <p:nvPr/>
        </p:nvSpPr>
        <p:spPr>
          <a:xfrm>
            <a:off x="7040880" y="2569464"/>
            <a:ext cx="4297680" cy="29260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  We use ResNet50 + CBAM</a:t>
            </a:r>
            <a:endParaRPr lang="en-US" sz="1200" dirty="0"/>
          </a:p>
        </p:txBody>
      </p:sp>
      <p:sp>
        <p:nvSpPr>
          <p:cNvPr id="16" name="Shape 14"/>
          <p:cNvSpPr/>
          <p:nvPr/>
        </p:nvSpPr>
        <p:spPr>
          <a:xfrm>
            <a:off x="548640" y="3209544"/>
            <a:ext cx="11064240" cy="786384"/>
          </a:xfrm>
          <a:prstGeom prst="roundRect">
            <a:avLst>
              <a:gd name="adj" fmla="val 93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7" name="Shape 15"/>
          <p:cNvSpPr/>
          <p:nvPr/>
        </p:nvSpPr>
        <p:spPr>
          <a:xfrm>
            <a:off x="777240" y="3401568"/>
            <a:ext cx="402336" cy="402336"/>
          </a:xfrm>
          <a:prstGeom prst="ellipse">
            <a:avLst/>
          </a:prstGeom>
          <a:solidFill>
            <a:srgbClr val="E9973F"/>
          </a:solidFill>
          <a:ln w="12700">
            <a:solidFill>
              <a:srgbClr val="E9973F"/>
            </a:solidFill>
            <a:prstDash val="solid"/>
          </a:ln>
        </p:spPr>
      </p:sp>
      <p:sp>
        <p:nvSpPr>
          <p:cNvPr id="18" name="Text 16"/>
          <p:cNvSpPr txBox="1"/>
          <p:nvPr/>
        </p:nvSpPr>
        <p:spPr>
          <a:xfrm>
            <a:off x="777240" y="34015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325880" y="3337560"/>
            <a:ext cx="283464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Fixed train–test split</a:t>
            </a:r>
            <a:endParaRPr lang="en-US" sz="1300" dirty="0"/>
          </a:p>
        </p:txBody>
      </p:sp>
      <p:sp>
        <p:nvSpPr>
          <p:cNvPr id="20" name="Text 18"/>
          <p:cNvSpPr txBox="1"/>
          <p:nvPr/>
        </p:nvSpPr>
        <p:spPr>
          <a:xfrm>
            <a:off x="1325880" y="3611880"/>
            <a:ext cx="5120640" cy="27432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no stratified K-fold, so generalisation estimate is weak</a:t>
            </a:r>
            <a:endParaRPr lang="en-US" sz="1050" dirty="0"/>
          </a:p>
        </p:txBody>
      </p:sp>
      <p:sp>
        <p:nvSpPr>
          <p:cNvPr id="21" name="Text 19"/>
          <p:cNvSpPr txBox="1"/>
          <p:nvPr/>
        </p:nvSpPr>
        <p:spPr>
          <a:xfrm>
            <a:off x="7040880" y="3465576"/>
            <a:ext cx="4297680" cy="29260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  We hold out a separate 1,600-image set</a:t>
            </a:r>
            <a:endParaRPr lang="en-US" sz="1200" dirty="0"/>
          </a:p>
        </p:txBody>
      </p:sp>
      <p:sp>
        <p:nvSpPr>
          <p:cNvPr id="22" name="Shape 20"/>
          <p:cNvSpPr/>
          <p:nvPr/>
        </p:nvSpPr>
        <p:spPr>
          <a:xfrm>
            <a:off x="548640" y="4105656"/>
            <a:ext cx="11064240" cy="786384"/>
          </a:xfrm>
          <a:prstGeom prst="roundRect">
            <a:avLst>
              <a:gd name="adj" fmla="val 93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23" name="Shape 21"/>
          <p:cNvSpPr/>
          <p:nvPr/>
        </p:nvSpPr>
        <p:spPr>
          <a:xfrm>
            <a:off x="777240" y="4297680"/>
            <a:ext cx="402336" cy="402336"/>
          </a:xfrm>
          <a:prstGeom prst="ellipse">
            <a:avLst/>
          </a:prstGeom>
          <a:solidFill>
            <a:srgbClr val="E9973F"/>
          </a:solidFill>
          <a:ln w="12700">
            <a:solidFill>
              <a:srgbClr val="E9973F"/>
            </a:solidFill>
            <a:prstDash val="solid"/>
          </a:ln>
        </p:spPr>
      </p:sp>
      <p:sp>
        <p:nvSpPr>
          <p:cNvPr id="24" name="Text 22"/>
          <p:cNvSpPr txBox="1"/>
          <p:nvPr/>
        </p:nvSpPr>
        <p:spPr>
          <a:xfrm>
            <a:off x="777240" y="4297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1325880" y="4233672"/>
            <a:ext cx="283464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No SVM tuning</a:t>
            </a:r>
            <a:endParaRPr lang="en-US" sz="1300" dirty="0"/>
          </a:p>
        </p:txBody>
      </p:sp>
      <p:sp>
        <p:nvSpPr>
          <p:cNvPr id="26" name="Text 24"/>
          <p:cNvSpPr txBox="1"/>
          <p:nvPr/>
        </p:nvSpPr>
        <p:spPr>
          <a:xfrm>
            <a:off x="1325880" y="4507992"/>
            <a:ext cx="5120640" cy="27432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grid search over C and gamma “was not explored”</a:t>
            </a:r>
            <a:endParaRPr lang="en-US" sz="1050" dirty="0"/>
          </a:p>
        </p:txBody>
      </p:sp>
      <p:sp>
        <p:nvSpPr>
          <p:cNvPr id="27" name="Text 25"/>
          <p:cNvSpPr txBox="1"/>
          <p:nvPr/>
        </p:nvSpPr>
        <p:spPr>
          <a:xfrm>
            <a:off x="7040880" y="4361688"/>
            <a:ext cx="4297680" cy="29260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  We removed the SVM entirely</a:t>
            </a:r>
            <a:endParaRPr lang="en-US" sz="1200" dirty="0"/>
          </a:p>
        </p:txBody>
      </p:sp>
      <p:sp>
        <p:nvSpPr>
          <p:cNvPr id="28" name="Shape 26"/>
          <p:cNvSpPr/>
          <p:nvPr/>
        </p:nvSpPr>
        <p:spPr>
          <a:xfrm>
            <a:off x="548640" y="5001768"/>
            <a:ext cx="11064240" cy="786384"/>
          </a:xfrm>
          <a:prstGeom prst="roundRect">
            <a:avLst>
              <a:gd name="adj" fmla="val 93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29" name="Shape 27"/>
          <p:cNvSpPr/>
          <p:nvPr/>
        </p:nvSpPr>
        <p:spPr>
          <a:xfrm>
            <a:off x="777240" y="5193792"/>
            <a:ext cx="402336" cy="402336"/>
          </a:xfrm>
          <a:prstGeom prst="ellipse">
            <a:avLst/>
          </a:prstGeom>
          <a:solidFill>
            <a:srgbClr val="E9973F"/>
          </a:solidFill>
          <a:ln w="12700">
            <a:solidFill>
              <a:srgbClr val="E9973F"/>
            </a:solidFill>
            <a:prstDash val="solid"/>
          </a:ln>
        </p:spPr>
      </p:sp>
      <p:sp>
        <p:nvSpPr>
          <p:cNvPr id="30" name="Text 28"/>
          <p:cNvSpPr txBox="1"/>
          <p:nvPr/>
        </p:nvSpPr>
        <p:spPr>
          <a:xfrm>
            <a:off x="777240" y="51937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1325880" y="5129784"/>
            <a:ext cx="283464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Single modality only</a:t>
            </a:r>
            <a:endParaRPr lang="en-US" sz="1300" dirty="0"/>
          </a:p>
        </p:txBody>
      </p:sp>
      <p:sp>
        <p:nvSpPr>
          <p:cNvPr id="32" name="Text 30"/>
          <p:cNvSpPr txBox="1"/>
          <p:nvPr/>
        </p:nvSpPr>
        <p:spPr>
          <a:xfrm>
            <a:off x="1325880" y="5404104"/>
            <a:ext cx="5120640" cy="27432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T1-CE alone; FLAIR and T2 “may offer complementary insights”</a:t>
            </a:r>
            <a:endParaRPr lang="en-US" sz="1050" dirty="0"/>
          </a:p>
        </p:txBody>
      </p:sp>
      <p:sp>
        <p:nvSpPr>
          <p:cNvPr id="33" name="Text 31"/>
          <p:cNvSpPr txBox="1"/>
          <p:nvPr/>
        </p:nvSpPr>
        <p:spPr>
          <a:xfrm>
            <a:off x="7040880" y="5257800"/>
            <a:ext cx="4297680" cy="292608"/>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  We accept T1c + T2 + FLAIR</a:t>
            </a:r>
            <a:endParaRPr lang="en-US" sz="1200" dirty="0"/>
          </a:p>
        </p:txBody>
      </p:sp>
      <p:sp>
        <p:nvSpPr>
          <p:cNvPr id="34" name="Text 32"/>
          <p:cNvSpPr txBox="1"/>
          <p:nvPr/>
        </p:nvSpPr>
        <p:spPr>
          <a:xfrm>
            <a:off x="548640" y="5989320"/>
            <a:ext cx="11064240" cy="292608"/>
          </a:xfrm>
          <a:prstGeom prst="rect">
            <a:avLst/>
          </a:prstGeom>
          <a:noFill/>
          <a:ln/>
        </p:spPr>
        <p:txBody>
          <a:bodyPr wrap="square" lIns="0" tIns="0" rIns="0" bIns="0" rtlCol="0" anchor="ctr"/>
          <a:lstStyle/>
          <a:p>
            <a:pPr indent="0" marL="0">
              <a:buNone/>
            </a:pPr>
            <a:r>
              <a:rPr lang="en-US" sz="1200" i="1" dirty="0">
                <a:solidFill>
                  <a:srgbClr val="0E2A47"/>
                </a:solidFill>
                <a:latin typeface="Calibri" pitchFamily="34" charset="0"/>
                <a:ea typeface="Calibri" pitchFamily="34" charset="-122"/>
                <a:cs typeface="Calibri" pitchFamily="34" charset="-120"/>
              </a:rPr>
              <a:t>Our project is built directly on this list — each gap became a design requirement.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9692640" y="3931920"/>
            <a:ext cx="4023360" cy="4023360"/>
          </a:xfrm>
          <a:prstGeom prst="ellipse">
            <a:avLst/>
          </a:prstGeom>
          <a:solidFill>
            <a:srgbClr val="16395E"/>
          </a:solidFill>
          <a:ln/>
        </p:spPr>
      </p:sp>
      <p:sp>
        <p:nvSpPr>
          <p:cNvPr id="3" name="Text 1"/>
          <p:cNvSpPr txBox="1"/>
          <p:nvPr/>
        </p:nvSpPr>
        <p:spPr>
          <a:xfrm>
            <a:off x="548640" y="2286000"/>
            <a:ext cx="7315200" cy="274320"/>
          </a:xfrm>
          <a:prstGeom prst="rect">
            <a:avLst/>
          </a:prstGeom>
          <a:noFill/>
          <a:ln/>
        </p:spPr>
        <p:txBody>
          <a:bodyPr wrap="square" lIns="0" tIns="0" rIns="0" bIns="0" rtlCol="0" anchor="ctr"/>
          <a:lstStyle/>
          <a:p>
            <a:pPr indent="0" marL="0">
              <a:buNone/>
            </a:pPr>
            <a:r>
              <a:rPr lang="en-US" sz="1200" b="1" spc="200" kern="0" dirty="0">
                <a:solidFill>
                  <a:srgbClr val="E9973F"/>
                </a:solidFill>
                <a:latin typeface="Calibri" pitchFamily="34" charset="0"/>
                <a:ea typeface="Calibri" pitchFamily="34" charset="-122"/>
                <a:cs typeface="Calibri" pitchFamily="34" charset="-120"/>
              </a:rPr>
              <a:t>PART TWO</a:t>
            </a:r>
            <a:endParaRPr lang="en-US" sz="1200" dirty="0"/>
          </a:p>
        </p:txBody>
      </p:sp>
      <p:sp>
        <p:nvSpPr>
          <p:cNvPr id="4" name="Text 2"/>
          <p:cNvSpPr txBox="1"/>
          <p:nvPr/>
        </p:nvSpPr>
        <p:spPr>
          <a:xfrm>
            <a:off x="548640" y="2651760"/>
            <a:ext cx="9601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we built, and why</a:t>
            </a:r>
            <a:endParaRPr lang="en-US" sz="4000" dirty="0"/>
          </a:p>
        </p:txBody>
      </p:sp>
      <p:sp>
        <p:nvSpPr>
          <p:cNvPr id="5" name="Text 3"/>
          <p:cNvSpPr txBox="1"/>
          <p:nvPr/>
        </p:nvSpPr>
        <p:spPr>
          <a:xfrm>
            <a:off x="548640" y="3611880"/>
            <a:ext cx="8595360" cy="365760"/>
          </a:xfrm>
          <a:prstGeom prst="rect">
            <a:avLst/>
          </a:prstGeom>
          <a:noFill/>
          <a:ln/>
        </p:spPr>
        <p:txBody>
          <a:bodyPr wrap="square" lIns="0" tIns="0" rIns="0" bIns="0" rtlCol="0" anchor="ctr"/>
          <a:lstStyle/>
          <a:p>
            <a:pPr indent="0" marL="0">
              <a:buNone/>
            </a:pPr>
            <a:r>
              <a:rPr lang="en-US" sz="1400" dirty="0">
                <a:solidFill>
                  <a:srgbClr val="C9DCEF"/>
                </a:solidFill>
                <a:latin typeface="Calibri" pitchFamily="34" charset="0"/>
                <a:ea typeface="Calibri" pitchFamily="34" charset="-122"/>
                <a:cs typeface="Calibri" pitchFamily="34" charset="-120"/>
              </a:rPr>
              <a:t>FreeBuff v4 — a clinical decision-support system, not just a classifier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FREEBUFF V4 · DESIGN</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Our architecture — two branches, one joint model</a:t>
            </a:r>
            <a:endParaRPr lang="en-US" sz="3200" dirty="0"/>
          </a:p>
        </p:txBody>
      </p:sp>
      <p:sp>
        <p:nvSpPr>
          <p:cNvPr id="4" name="Shape 2"/>
          <p:cNvSpPr/>
          <p:nvPr/>
        </p:nvSpPr>
        <p:spPr>
          <a:xfrm>
            <a:off x="548640" y="1463040"/>
            <a:ext cx="5303520" cy="1737360"/>
          </a:xfrm>
          <a:prstGeom prst="roundRect">
            <a:avLst>
              <a:gd name="adj" fmla="val 4211"/>
            </a:avLst>
          </a:prstGeom>
          <a:solidFill>
            <a:srgbClr val="0E2A47"/>
          </a:solidFill>
          <a:ln w="12700">
            <a:solidFill>
              <a:srgbClr val="0E2A47"/>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822960" y="1627632"/>
            <a:ext cx="4754880" cy="27432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Branch A — deep spatial</a:t>
            </a:r>
            <a:endParaRPr lang="en-US" sz="1300" dirty="0"/>
          </a:p>
        </p:txBody>
      </p:sp>
      <p:sp>
        <p:nvSpPr>
          <p:cNvPr id="6" name="Text 4"/>
          <p:cNvSpPr txBox="1"/>
          <p:nvPr/>
        </p:nvSpPr>
        <p:spPr>
          <a:xfrm>
            <a:off x="822960" y="1938528"/>
            <a:ext cx="4754880" cy="10972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ResNet50, pretrained on ImageNet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CBAM channel + spatial attention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Global average pooling → MLP → 256-d</a:t>
            </a:r>
            <a:endParaRPr lang="en-US" sz="1200" dirty="0"/>
          </a:p>
        </p:txBody>
      </p:sp>
      <p:sp>
        <p:nvSpPr>
          <p:cNvPr id="7" name="Shape 5"/>
          <p:cNvSpPr/>
          <p:nvPr/>
        </p:nvSpPr>
        <p:spPr>
          <a:xfrm>
            <a:off x="6309360" y="1463040"/>
            <a:ext cx="5303520" cy="1737360"/>
          </a:xfrm>
          <a:prstGeom prst="roundRect">
            <a:avLst>
              <a:gd name="adj" fmla="val 4211"/>
            </a:avLst>
          </a:prstGeom>
          <a:solidFill>
            <a:srgbClr val="0E2A47"/>
          </a:solidFill>
          <a:ln w="12700">
            <a:solidFill>
              <a:srgbClr val="0E2A47"/>
            </a:solidFill>
            <a:prstDash val="solid"/>
          </a:ln>
          <a:effectLst>
            <a:outerShdw sx="100000" sy="100000" kx="0" ky="0" algn="bl" rotWithShape="0" blurRad="127000" dist="25400" dir="5400000">
              <a:srgbClr val="0A1C2E">
                <a:alpha val="16000"/>
              </a:srgbClr>
            </a:outerShdw>
          </a:effectLst>
        </p:spPr>
      </p:sp>
      <p:sp>
        <p:nvSpPr>
          <p:cNvPr id="8" name="Text 6"/>
          <p:cNvSpPr txBox="1"/>
          <p:nvPr/>
        </p:nvSpPr>
        <p:spPr>
          <a:xfrm>
            <a:off x="6583680" y="1627632"/>
            <a:ext cx="4754880" cy="27432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Branch B — handcrafted texture</a:t>
            </a:r>
            <a:endParaRPr lang="en-US" sz="1300" dirty="0"/>
          </a:p>
        </p:txBody>
      </p:sp>
      <p:sp>
        <p:nvSpPr>
          <p:cNvPr id="9" name="Text 7"/>
          <p:cNvSpPr txBox="1"/>
          <p:nvPr/>
        </p:nvSpPr>
        <p:spPr>
          <a:xfrm>
            <a:off x="6583680" y="1938528"/>
            <a:ext cx="4754880" cy="10972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HOG descriptor, 2048-d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PCA → 288-d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MLP → 512-d</a:t>
            </a:r>
            <a:endParaRPr lang="en-US" sz="1200" dirty="0"/>
          </a:p>
        </p:txBody>
      </p:sp>
      <p:sp>
        <p:nvSpPr>
          <p:cNvPr id="10" name="Shape 8"/>
          <p:cNvSpPr/>
          <p:nvPr/>
        </p:nvSpPr>
        <p:spPr>
          <a:xfrm>
            <a:off x="2926080" y="3429000"/>
            <a:ext cx="6309360" cy="1143000"/>
          </a:xfrm>
          <a:prstGeom prst="roundRect">
            <a:avLst>
              <a:gd name="adj" fmla="val 6400"/>
            </a:avLst>
          </a:prstGeom>
          <a:solidFill>
            <a:srgbClr val="00A896"/>
          </a:solidFill>
          <a:ln w="12700">
            <a:solidFill>
              <a:srgbClr val="00A896"/>
            </a:solidFill>
            <a:prstDash val="solid"/>
          </a:ln>
          <a:effectLst>
            <a:outerShdw sx="100000" sy="100000" kx="0" ky="0" algn="bl" rotWithShape="0" blurRad="127000" dist="25400" dir="5400000">
              <a:srgbClr val="0A1C2E">
                <a:alpha val="16000"/>
              </a:srgbClr>
            </a:outerShdw>
          </a:effectLst>
        </p:spPr>
      </p:sp>
      <p:sp>
        <p:nvSpPr>
          <p:cNvPr id="11" name="Text 9"/>
          <p:cNvSpPr txBox="1"/>
          <p:nvPr/>
        </p:nvSpPr>
        <p:spPr>
          <a:xfrm>
            <a:off x="2926080" y="3611880"/>
            <a:ext cx="630936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Fusion head — 768 → 512 → 256 → 4</a:t>
            </a:r>
            <a:endParaRPr lang="en-US" sz="1600" dirty="0"/>
          </a:p>
        </p:txBody>
      </p:sp>
      <p:sp>
        <p:nvSpPr>
          <p:cNvPr id="12" name="Text 10"/>
          <p:cNvSpPr txBox="1"/>
          <p:nvPr/>
        </p:nvSpPr>
        <p:spPr>
          <a:xfrm>
            <a:off x="2926080" y="3977640"/>
            <a:ext cx="6309360" cy="347472"/>
          </a:xfrm>
          <a:prstGeom prst="rect">
            <a:avLst/>
          </a:prstGeom>
          <a:noFill/>
          <a:ln/>
        </p:spPr>
        <p:txBody>
          <a:bodyPr wrap="square" lIns="0" tIns="0" rIns="0" bIns="0" rtlCol="0" anchor="ctr"/>
          <a:lstStyle/>
          <a:p>
            <a:pPr algn="ctr" indent="0" marL="0">
              <a:buNone/>
            </a:pPr>
            <a:r>
              <a:rPr lang="en-US" sz="1150" dirty="0">
                <a:solidFill>
                  <a:srgbClr val="DFFAF4"/>
                </a:solidFill>
                <a:latin typeface="Calibri" pitchFamily="34" charset="0"/>
                <a:ea typeface="Calibri" pitchFamily="34" charset="-122"/>
                <a:cs typeface="Calibri" pitchFamily="34" charset="-120"/>
              </a:rPr>
              <a:t>Both branches are trained together, end to end. One optimiser, one loss.</a:t>
            </a:r>
            <a:endParaRPr lang="en-US" sz="1150" dirty="0"/>
          </a:p>
        </p:txBody>
      </p:sp>
      <p:sp>
        <p:nvSpPr>
          <p:cNvPr id="13" name="Text 11"/>
          <p:cNvSpPr txBox="1"/>
          <p:nvPr/>
        </p:nvSpPr>
        <p:spPr>
          <a:xfrm>
            <a:off x="548640" y="4846320"/>
            <a:ext cx="2651760" cy="713232"/>
          </a:xfrm>
          <a:prstGeom prst="rect">
            <a:avLst/>
          </a:prstGeom>
          <a:noFill/>
          <a:ln/>
        </p:spPr>
        <p:txBody>
          <a:bodyPr wrap="square" lIns="0" tIns="0" rIns="0" bIns="0" rtlCol="0" anchor="ctr"/>
          <a:lstStyle/>
          <a:p>
            <a:pPr algn="ctr" indent="0" marL="0">
              <a:buNone/>
            </a:pPr>
            <a:r>
              <a:rPr lang="en-US" sz="4000" b="1" dirty="0">
                <a:solidFill>
                  <a:srgbClr val="0E2A47"/>
                </a:solidFill>
                <a:latin typeface="Cambria" pitchFamily="34" charset="0"/>
                <a:ea typeface="Cambria" pitchFamily="34" charset="-122"/>
                <a:cs typeface="Cambria" pitchFamily="34" charset="-120"/>
              </a:rPr>
              <a:t>27.07 M</a:t>
            </a:r>
            <a:endParaRPr lang="en-US" sz="4000" dirty="0"/>
          </a:p>
        </p:txBody>
      </p:sp>
      <p:sp>
        <p:nvSpPr>
          <p:cNvPr id="14" name="Text 12"/>
          <p:cNvSpPr txBox="1"/>
          <p:nvPr/>
        </p:nvSpPr>
        <p:spPr>
          <a:xfrm>
            <a:off x="548640" y="5541264"/>
            <a:ext cx="265176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Trainable parameters</a:t>
            </a:r>
            <a:endParaRPr lang="en-US" sz="1050" dirty="0"/>
          </a:p>
        </p:txBody>
      </p:sp>
      <p:sp>
        <p:nvSpPr>
          <p:cNvPr id="15" name="Text 13"/>
          <p:cNvSpPr txBox="1"/>
          <p:nvPr/>
        </p:nvSpPr>
        <p:spPr>
          <a:xfrm>
            <a:off x="3337560" y="4846320"/>
            <a:ext cx="2651760" cy="713232"/>
          </a:xfrm>
          <a:prstGeom prst="rect">
            <a:avLst/>
          </a:prstGeom>
          <a:noFill/>
          <a:ln/>
        </p:spPr>
        <p:txBody>
          <a:bodyPr wrap="square" lIns="0" tIns="0" rIns="0" bIns="0" rtlCol="0" anchor="ctr"/>
          <a:lstStyle/>
          <a:p>
            <a:pPr algn="ctr" indent="0" marL="0">
              <a:buNone/>
            </a:pPr>
            <a:r>
              <a:rPr lang="en-US" sz="4000" b="1" dirty="0">
                <a:solidFill>
                  <a:srgbClr val="0E2A47"/>
                </a:solidFill>
                <a:latin typeface="Cambria" pitchFamily="34" charset="0"/>
                <a:ea typeface="Cambria" pitchFamily="34" charset="-122"/>
                <a:cs typeface="Cambria" pitchFamily="34" charset="-120"/>
              </a:rPr>
              <a:t>144 × 144</a:t>
            </a:r>
            <a:endParaRPr lang="en-US" sz="4000" dirty="0"/>
          </a:p>
        </p:txBody>
      </p:sp>
      <p:sp>
        <p:nvSpPr>
          <p:cNvPr id="16" name="Text 14"/>
          <p:cNvSpPr txBox="1"/>
          <p:nvPr/>
        </p:nvSpPr>
        <p:spPr>
          <a:xfrm>
            <a:off x="3337560" y="5541264"/>
            <a:ext cx="265176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Input resolution</a:t>
            </a:r>
            <a:endParaRPr lang="en-US" sz="1050" dirty="0"/>
          </a:p>
        </p:txBody>
      </p:sp>
      <p:sp>
        <p:nvSpPr>
          <p:cNvPr id="17" name="Text 15"/>
          <p:cNvSpPr txBox="1"/>
          <p:nvPr/>
        </p:nvSpPr>
        <p:spPr>
          <a:xfrm>
            <a:off x="6126480" y="4846320"/>
            <a:ext cx="2651760" cy="713232"/>
          </a:xfrm>
          <a:prstGeom prst="rect">
            <a:avLst/>
          </a:prstGeom>
          <a:noFill/>
          <a:ln/>
        </p:spPr>
        <p:txBody>
          <a:bodyPr wrap="square" lIns="0" tIns="0" rIns="0" bIns="0" rtlCol="0" anchor="ctr"/>
          <a:lstStyle/>
          <a:p>
            <a:pPr algn="ctr" indent="0" marL="0">
              <a:buNone/>
            </a:pPr>
            <a:r>
              <a:rPr lang="en-US" sz="4000" b="1" dirty="0">
                <a:solidFill>
                  <a:srgbClr val="0E2A47"/>
                </a:solidFill>
                <a:latin typeface="Cambria" pitchFamily="34" charset="0"/>
                <a:ea typeface="Cambria" pitchFamily="34" charset="-122"/>
                <a:cs typeface="Cambria" pitchFamily="34" charset="-120"/>
              </a:rPr>
              <a:t>Focal</a:t>
            </a:r>
            <a:endParaRPr lang="en-US" sz="4000" dirty="0"/>
          </a:p>
        </p:txBody>
      </p:sp>
      <p:sp>
        <p:nvSpPr>
          <p:cNvPr id="18" name="Text 16"/>
          <p:cNvSpPr txBox="1"/>
          <p:nvPr/>
        </p:nvSpPr>
        <p:spPr>
          <a:xfrm>
            <a:off x="6126480" y="5541264"/>
            <a:ext cx="265176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Loss (γ = 2.0)</a:t>
            </a:r>
            <a:endParaRPr lang="en-US" sz="1050" dirty="0"/>
          </a:p>
        </p:txBody>
      </p:sp>
      <p:sp>
        <p:nvSpPr>
          <p:cNvPr id="19" name="Text 17"/>
          <p:cNvSpPr txBox="1"/>
          <p:nvPr/>
        </p:nvSpPr>
        <p:spPr>
          <a:xfrm>
            <a:off x="8915400" y="4846320"/>
            <a:ext cx="2651760" cy="713232"/>
          </a:xfrm>
          <a:prstGeom prst="rect">
            <a:avLst/>
          </a:prstGeom>
          <a:noFill/>
          <a:ln/>
        </p:spPr>
        <p:txBody>
          <a:bodyPr wrap="square" lIns="0" tIns="0" rIns="0" bIns="0" rtlCol="0" anchor="ctr"/>
          <a:lstStyle/>
          <a:p>
            <a:pPr algn="ctr" indent="0" marL="0">
              <a:buNone/>
            </a:pPr>
            <a:r>
              <a:rPr lang="en-US" sz="4000" b="1" dirty="0">
                <a:solidFill>
                  <a:srgbClr val="0E2A47"/>
                </a:solidFill>
                <a:latin typeface="Cambria" pitchFamily="34" charset="0"/>
                <a:ea typeface="Cambria" pitchFamily="34" charset="-122"/>
                <a:cs typeface="Cambria" pitchFamily="34" charset="-120"/>
              </a:rPr>
              <a:t>AdamW</a:t>
            </a:r>
            <a:endParaRPr lang="en-US" sz="4000" dirty="0"/>
          </a:p>
        </p:txBody>
      </p:sp>
      <p:sp>
        <p:nvSpPr>
          <p:cNvPr id="20" name="Text 18"/>
          <p:cNvSpPr txBox="1"/>
          <p:nvPr/>
        </p:nvSpPr>
        <p:spPr>
          <a:xfrm>
            <a:off x="8915400" y="5541264"/>
            <a:ext cx="265176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Optimiser + cosine LR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FREEBUFF V4 · PROCEDURE</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Our pipeline, step by step</a:t>
            </a:r>
            <a:endParaRPr lang="en-US" sz="3200" dirty="0"/>
          </a:p>
        </p:txBody>
      </p:sp>
      <p:sp>
        <p:nvSpPr>
          <p:cNvPr id="4" name="Shape 2"/>
          <p:cNvSpPr/>
          <p:nvPr/>
        </p:nvSpPr>
        <p:spPr>
          <a:xfrm>
            <a:off x="548640" y="1481328"/>
            <a:ext cx="420624" cy="420624"/>
          </a:xfrm>
          <a:prstGeom prst="ellipse">
            <a:avLst/>
          </a:prstGeom>
          <a:solidFill>
            <a:srgbClr val="00A896"/>
          </a:solidFill>
          <a:ln w="12700">
            <a:solidFill>
              <a:srgbClr val="00A896"/>
            </a:solidFill>
            <a:prstDash val="solid"/>
          </a:ln>
        </p:spPr>
      </p:sp>
      <p:sp>
        <p:nvSpPr>
          <p:cNvPr id="5" name="Text 3"/>
          <p:cNvSpPr txBox="1"/>
          <p:nvPr/>
        </p:nvSpPr>
        <p:spPr>
          <a:xfrm>
            <a:off x="548640" y="14813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15568" y="14630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Upload sequences</a:t>
            </a:r>
            <a:endParaRPr lang="en-US" sz="1400" dirty="0"/>
          </a:p>
        </p:txBody>
      </p:sp>
      <p:sp>
        <p:nvSpPr>
          <p:cNvPr id="7" name="Text 5"/>
          <p:cNvSpPr txBox="1"/>
          <p:nvPr/>
        </p:nvSpPr>
        <p:spPr>
          <a:xfrm>
            <a:off x="1115568" y="17282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T1c, T2, FLAIR — any subset. Missing ones are replicated and logged, never silently.</a:t>
            </a:r>
            <a:endParaRPr lang="en-US" sz="1150" dirty="0"/>
          </a:p>
        </p:txBody>
      </p:sp>
      <p:sp>
        <p:nvSpPr>
          <p:cNvPr id="8" name="Shape 6"/>
          <p:cNvSpPr/>
          <p:nvPr/>
        </p:nvSpPr>
        <p:spPr>
          <a:xfrm>
            <a:off x="4343400" y="1481328"/>
            <a:ext cx="420624" cy="420624"/>
          </a:xfrm>
          <a:prstGeom prst="ellipse">
            <a:avLst/>
          </a:prstGeom>
          <a:solidFill>
            <a:srgbClr val="00A896"/>
          </a:solidFill>
          <a:ln w="12700">
            <a:solidFill>
              <a:srgbClr val="00A896"/>
            </a:solidFill>
            <a:prstDash val="solid"/>
          </a:ln>
        </p:spPr>
      </p:sp>
      <p:sp>
        <p:nvSpPr>
          <p:cNvPr id="9" name="Text 7"/>
          <p:cNvSpPr txBox="1"/>
          <p:nvPr/>
        </p:nvSpPr>
        <p:spPr>
          <a:xfrm>
            <a:off x="4343400" y="14813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4910328" y="14630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Preprocess</a:t>
            </a:r>
            <a:endParaRPr lang="en-US" sz="1400" dirty="0"/>
          </a:p>
        </p:txBody>
      </p:sp>
      <p:sp>
        <p:nvSpPr>
          <p:cNvPr id="11" name="Text 9"/>
          <p:cNvSpPr txBox="1"/>
          <p:nvPr/>
        </p:nvSpPr>
        <p:spPr>
          <a:xfrm>
            <a:off x="4910328" y="17282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Crop the brain field, normalise intensity, resize to 144×144, ImageNet normalisation.</a:t>
            </a:r>
            <a:endParaRPr lang="en-US" sz="1150" dirty="0"/>
          </a:p>
        </p:txBody>
      </p:sp>
      <p:sp>
        <p:nvSpPr>
          <p:cNvPr id="12" name="Shape 10"/>
          <p:cNvSpPr/>
          <p:nvPr/>
        </p:nvSpPr>
        <p:spPr>
          <a:xfrm>
            <a:off x="8138160" y="1481328"/>
            <a:ext cx="420624" cy="420624"/>
          </a:xfrm>
          <a:prstGeom prst="ellipse">
            <a:avLst/>
          </a:prstGeom>
          <a:solidFill>
            <a:srgbClr val="00A896"/>
          </a:solidFill>
          <a:ln w="12700">
            <a:solidFill>
              <a:srgbClr val="00A896"/>
            </a:solidFill>
            <a:prstDash val="solid"/>
          </a:ln>
        </p:spPr>
      </p:sp>
      <p:sp>
        <p:nvSpPr>
          <p:cNvPr id="13" name="Text 11"/>
          <p:cNvSpPr txBox="1"/>
          <p:nvPr/>
        </p:nvSpPr>
        <p:spPr>
          <a:xfrm>
            <a:off x="8138160" y="14813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8705088" y="14630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Branch A</a:t>
            </a:r>
            <a:endParaRPr lang="en-US" sz="1400" dirty="0"/>
          </a:p>
        </p:txBody>
      </p:sp>
      <p:sp>
        <p:nvSpPr>
          <p:cNvPr id="15" name="Text 13"/>
          <p:cNvSpPr txBox="1"/>
          <p:nvPr/>
        </p:nvSpPr>
        <p:spPr>
          <a:xfrm>
            <a:off x="8705088" y="17282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ResNet50 + CBAM → 256-d deep spatial embedding.</a:t>
            </a:r>
            <a:endParaRPr lang="en-US" sz="1150" dirty="0"/>
          </a:p>
        </p:txBody>
      </p:sp>
      <p:sp>
        <p:nvSpPr>
          <p:cNvPr id="16" name="Shape 14"/>
          <p:cNvSpPr/>
          <p:nvPr/>
        </p:nvSpPr>
        <p:spPr>
          <a:xfrm>
            <a:off x="548640" y="2852928"/>
            <a:ext cx="420624" cy="420624"/>
          </a:xfrm>
          <a:prstGeom prst="ellipse">
            <a:avLst/>
          </a:prstGeom>
          <a:solidFill>
            <a:srgbClr val="00A896"/>
          </a:solidFill>
          <a:ln w="12700">
            <a:solidFill>
              <a:srgbClr val="00A896"/>
            </a:solidFill>
            <a:prstDash val="solid"/>
          </a:ln>
        </p:spPr>
      </p:sp>
      <p:sp>
        <p:nvSpPr>
          <p:cNvPr id="17" name="Text 15"/>
          <p:cNvSpPr txBox="1"/>
          <p:nvPr/>
        </p:nvSpPr>
        <p:spPr>
          <a:xfrm>
            <a:off x="548640" y="28529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115568" y="28346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Branch B</a:t>
            </a:r>
            <a:endParaRPr lang="en-US" sz="1400" dirty="0"/>
          </a:p>
        </p:txBody>
      </p:sp>
      <p:sp>
        <p:nvSpPr>
          <p:cNvPr id="19" name="Text 17"/>
          <p:cNvSpPr txBox="1"/>
          <p:nvPr/>
        </p:nvSpPr>
        <p:spPr>
          <a:xfrm>
            <a:off x="1115568" y="30998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HOG 2048-d → PCA 288-d → MLP → 512-d texture embedding.</a:t>
            </a:r>
            <a:endParaRPr lang="en-US" sz="1150" dirty="0"/>
          </a:p>
        </p:txBody>
      </p:sp>
      <p:sp>
        <p:nvSpPr>
          <p:cNvPr id="20" name="Shape 18"/>
          <p:cNvSpPr/>
          <p:nvPr/>
        </p:nvSpPr>
        <p:spPr>
          <a:xfrm>
            <a:off x="4343400" y="2852928"/>
            <a:ext cx="420624" cy="420624"/>
          </a:xfrm>
          <a:prstGeom prst="ellipse">
            <a:avLst/>
          </a:prstGeom>
          <a:solidFill>
            <a:srgbClr val="00A896"/>
          </a:solidFill>
          <a:ln w="12700">
            <a:solidFill>
              <a:srgbClr val="00A896"/>
            </a:solidFill>
            <a:prstDash val="solid"/>
          </a:ln>
        </p:spPr>
      </p:sp>
      <p:sp>
        <p:nvSpPr>
          <p:cNvPr id="21" name="Text 19"/>
          <p:cNvSpPr txBox="1"/>
          <p:nvPr/>
        </p:nvSpPr>
        <p:spPr>
          <a:xfrm>
            <a:off x="4343400" y="28529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4910328" y="28346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Fuse and classify</a:t>
            </a:r>
            <a:endParaRPr lang="en-US" sz="1400" dirty="0"/>
          </a:p>
        </p:txBody>
      </p:sp>
      <p:sp>
        <p:nvSpPr>
          <p:cNvPr id="23" name="Text 21"/>
          <p:cNvSpPr txBox="1"/>
          <p:nvPr/>
        </p:nvSpPr>
        <p:spPr>
          <a:xfrm>
            <a:off x="4910328" y="30998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Concatenate 768-d → 512 → 256 → 4, softmax over the four classes.</a:t>
            </a:r>
            <a:endParaRPr lang="en-US" sz="1150" dirty="0"/>
          </a:p>
        </p:txBody>
      </p:sp>
      <p:sp>
        <p:nvSpPr>
          <p:cNvPr id="24" name="Shape 22"/>
          <p:cNvSpPr/>
          <p:nvPr/>
        </p:nvSpPr>
        <p:spPr>
          <a:xfrm>
            <a:off x="8138160" y="2852928"/>
            <a:ext cx="420624" cy="420624"/>
          </a:xfrm>
          <a:prstGeom prst="ellipse">
            <a:avLst/>
          </a:prstGeom>
          <a:solidFill>
            <a:srgbClr val="E9973F"/>
          </a:solidFill>
          <a:ln w="12700">
            <a:solidFill>
              <a:srgbClr val="E9973F"/>
            </a:solidFill>
            <a:prstDash val="solid"/>
          </a:ln>
        </p:spPr>
      </p:sp>
      <p:sp>
        <p:nvSpPr>
          <p:cNvPr id="25" name="Text 23"/>
          <p:cNvSpPr txBox="1"/>
          <p:nvPr/>
        </p:nvSpPr>
        <p:spPr>
          <a:xfrm>
            <a:off x="8138160" y="28529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8705088" y="28346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Test-time augmentation</a:t>
            </a:r>
            <a:endParaRPr lang="en-US" sz="1400" dirty="0"/>
          </a:p>
        </p:txBody>
      </p:sp>
      <p:sp>
        <p:nvSpPr>
          <p:cNvPr id="27" name="Text 25"/>
          <p:cNvSpPr txBox="1"/>
          <p:nvPr/>
        </p:nvSpPr>
        <p:spPr>
          <a:xfrm>
            <a:off x="8705088" y="30998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Average the prediction over 2 anatomy-valid views (identity + mirror).</a:t>
            </a:r>
            <a:endParaRPr lang="en-US" sz="1150" dirty="0"/>
          </a:p>
        </p:txBody>
      </p:sp>
      <p:sp>
        <p:nvSpPr>
          <p:cNvPr id="28" name="Shape 26"/>
          <p:cNvSpPr/>
          <p:nvPr/>
        </p:nvSpPr>
        <p:spPr>
          <a:xfrm>
            <a:off x="548640" y="4224528"/>
            <a:ext cx="420624" cy="420624"/>
          </a:xfrm>
          <a:prstGeom prst="ellipse">
            <a:avLst/>
          </a:prstGeom>
          <a:solidFill>
            <a:srgbClr val="E9973F"/>
          </a:solidFill>
          <a:ln w="12700">
            <a:solidFill>
              <a:srgbClr val="E9973F"/>
            </a:solidFill>
            <a:prstDash val="solid"/>
          </a:ln>
        </p:spPr>
      </p:sp>
      <p:sp>
        <p:nvSpPr>
          <p:cNvPr id="29" name="Text 27"/>
          <p:cNvSpPr txBox="1"/>
          <p:nvPr/>
        </p:nvSpPr>
        <p:spPr>
          <a:xfrm>
            <a:off x="548640" y="42245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0" name="Text 28"/>
          <p:cNvSpPr txBox="1"/>
          <p:nvPr/>
        </p:nvSpPr>
        <p:spPr>
          <a:xfrm>
            <a:off x="1115568" y="42062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Safeguards</a:t>
            </a:r>
            <a:endParaRPr lang="en-US" sz="1400" dirty="0"/>
          </a:p>
        </p:txBody>
      </p:sp>
      <p:sp>
        <p:nvSpPr>
          <p:cNvPr id="31" name="Text 29"/>
          <p:cNvSpPr txBox="1"/>
          <p:nvPr/>
        </p:nvSpPr>
        <p:spPr>
          <a:xfrm>
            <a:off x="1115568" y="44714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Flag &lt; 70% confidence; raise a sensitivity alert if tumour probability ≥ 30%.</a:t>
            </a:r>
            <a:endParaRPr lang="en-US" sz="1150" dirty="0"/>
          </a:p>
        </p:txBody>
      </p:sp>
      <p:sp>
        <p:nvSpPr>
          <p:cNvPr id="32" name="Shape 30"/>
          <p:cNvSpPr/>
          <p:nvPr/>
        </p:nvSpPr>
        <p:spPr>
          <a:xfrm>
            <a:off x="4343400" y="4224528"/>
            <a:ext cx="420624" cy="420624"/>
          </a:xfrm>
          <a:prstGeom prst="ellipse">
            <a:avLst/>
          </a:prstGeom>
          <a:solidFill>
            <a:srgbClr val="E9973F"/>
          </a:solidFill>
          <a:ln w="12700">
            <a:solidFill>
              <a:srgbClr val="E9973F"/>
            </a:solidFill>
            <a:prstDash val="solid"/>
          </a:ln>
        </p:spPr>
      </p:sp>
      <p:sp>
        <p:nvSpPr>
          <p:cNvPr id="33" name="Text 31"/>
          <p:cNvSpPr txBox="1"/>
          <p:nvPr/>
        </p:nvSpPr>
        <p:spPr>
          <a:xfrm>
            <a:off x="4343400" y="42245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4" name="Text 32"/>
          <p:cNvSpPr txBox="1"/>
          <p:nvPr/>
        </p:nvSpPr>
        <p:spPr>
          <a:xfrm>
            <a:off x="4910328" y="42062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Explain</a:t>
            </a:r>
            <a:endParaRPr lang="en-US" sz="1400" dirty="0"/>
          </a:p>
        </p:txBody>
      </p:sp>
      <p:sp>
        <p:nvSpPr>
          <p:cNvPr id="35" name="Text 33"/>
          <p:cNvSpPr txBox="1"/>
          <p:nvPr/>
        </p:nvSpPr>
        <p:spPr>
          <a:xfrm>
            <a:off x="4910328" y="44714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Grad-CAM++, Score-CAM and CBAM attention rollout per sequence.</a:t>
            </a:r>
            <a:endParaRPr lang="en-US" sz="1150" dirty="0"/>
          </a:p>
        </p:txBody>
      </p:sp>
      <p:sp>
        <p:nvSpPr>
          <p:cNvPr id="36" name="Shape 34"/>
          <p:cNvSpPr/>
          <p:nvPr/>
        </p:nvSpPr>
        <p:spPr>
          <a:xfrm>
            <a:off x="8138160" y="4224528"/>
            <a:ext cx="420624" cy="420624"/>
          </a:xfrm>
          <a:prstGeom prst="ellipse">
            <a:avLst/>
          </a:prstGeom>
          <a:solidFill>
            <a:srgbClr val="E9973F"/>
          </a:solidFill>
          <a:ln w="12700">
            <a:solidFill>
              <a:srgbClr val="E9973F"/>
            </a:solidFill>
            <a:prstDash val="solid"/>
          </a:ln>
        </p:spPr>
      </p:sp>
      <p:sp>
        <p:nvSpPr>
          <p:cNvPr id="37" name="Text 35"/>
          <p:cNvSpPr txBox="1"/>
          <p:nvPr/>
        </p:nvSpPr>
        <p:spPr>
          <a:xfrm>
            <a:off x="8138160" y="42245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8" name="Text 36"/>
          <p:cNvSpPr txBox="1"/>
          <p:nvPr/>
        </p:nvSpPr>
        <p:spPr>
          <a:xfrm>
            <a:off x="8705088" y="4206240"/>
            <a:ext cx="3044952"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Stage and report</a:t>
            </a:r>
            <a:endParaRPr lang="en-US" sz="1400" dirty="0"/>
          </a:p>
        </p:txBody>
      </p:sp>
      <p:sp>
        <p:nvSpPr>
          <p:cNvPr id="39" name="Text 37"/>
          <p:cNvSpPr txBox="1"/>
          <p:nvPr/>
        </p:nvSpPr>
        <p:spPr>
          <a:xfrm>
            <a:off x="8705088" y="4471416"/>
            <a:ext cx="3044952" cy="566928"/>
          </a:xfrm>
          <a:prstGeom prst="rect">
            <a:avLst/>
          </a:prstGeom>
          <a:noFill/>
          <a:ln/>
        </p:spPr>
        <p:txBody>
          <a:bodyPr wrap="square" lIns="0" tIns="0" rIns="0" bIns="0" rtlCol="0" anchor="ctr"/>
          <a:lstStyle/>
          <a:p>
            <a:pPr indent="0" marL="0">
              <a:buNone/>
            </a:pPr>
            <a:r>
              <a:rPr lang="en-US" sz="1150" dirty="0">
                <a:solidFill>
                  <a:srgbClr val="5B6E88"/>
                </a:solidFill>
                <a:latin typeface="Calibri" pitchFamily="34" charset="0"/>
                <a:ea typeface="Calibri" pitchFamily="34" charset="-122"/>
                <a:cs typeface="Calibri" pitchFamily="34" charset="-120"/>
              </a:rPr>
              <a:t>WHO grade reference, clinical narrative, checksum-stamped PDF.</a:t>
            </a:r>
            <a:endParaRPr lang="en-US" sz="1150" dirty="0"/>
          </a:p>
        </p:txBody>
      </p:sp>
      <p:sp>
        <p:nvSpPr>
          <p:cNvPr id="40" name="Text 38"/>
          <p:cNvSpPr txBox="1"/>
          <p:nvPr/>
        </p:nvSpPr>
        <p:spPr>
          <a:xfrm>
            <a:off x="548640" y="5806440"/>
            <a:ext cx="11064240" cy="292608"/>
          </a:xfrm>
          <a:prstGeom prst="rect">
            <a:avLst/>
          </a:prstGeom>
          <a:noFill/>
          <a:ln/>
        </p:spPr>
        <p:txBody>
          <a:bodyPr wrap="square" lIns="0" tIns="0" rIns="0" bIns="0" rtlCol="0" anchor="ctr"/>
          <a:lstStyle/>
          <a:p>
            <a:pPr indent="0" marL="0">
              <a:buNone/>
            </a:pPr>
            <a:r>
              <a:rPr lang="en-US" sz="1150" i="1" dirty="0">
                <a:solidFill>
                  <a:srgbClr val="E9973F"/>
                </a:solidFill>
                <a:latin typeface="Calibri" pitchFamily="34" charset="0"/>
                <a:ea typeface="Calibri" pitchFamily="34" charset="-122"/>
                <a:cs typeface="Calibri" pitchFamily="34" charset="-120"/>
              </a:rPr>
              <a:t>Steps 6–9 (amber) have no counterpart in the paper.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1280160" y="4023360"/>
            <a:ext cx="4206240" cy="4206240"/>
          </a:xfrm>
          <a:prstGeom prst="ellipse">
            <a:avLst/>
          </a:prstGeom>
          <a:solidFill>
            <a:srgbClr val="16395E"/>
          </a:solidFill>
          <a:ln/>
        </p:spPr>
      </p:sp>
      <p:sp>
        <p:nvSpPr>
          <p:cNvPr id="3" name="Text 1"/>
          <p:cNvSpPr txBox="1"/>
          <p:nvPr/>
        </p:nvSpPr>
        <p:spPr>
          <a:xfrm>
            <a:off x="548640" y="2286000"/>
            <a:ext cx="7315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PART THREE</a:t>
            </a:r>
            <a:endParaRPr lang="en-US" sz="1200" dirty="0"/>
          </a:p>
        </p:txBody>
      </p:sp>
      <p:sp>
        <p:nvSpPr>
          <p:cNvPr id="4" name="Text 2"/>
          <p:cNvSpPr txBox="1"/>
          <p:nvPr/>
        </p:nvSpPr>
        <p:spPr>
          <a:xfrm>
            <a:off x="548640" y="2651760"/>
            <a:ext cx="9601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Inside the code</a:t>
            </a:r>
            <a:endParaRPr lang="en-US" sz="4000" dirty="0"/>
          </a:p>
        </p:txBody>
      </p:sp>
      <p:sp>
        <p:nvSpPr>
          <p:cNvPr id="5" name="Text 3"/>
          <p:cNvSpPr txBox="1"/>
          <p:nvPr/>
        </p:nvSpPr>
        <p:spPr>
          <a:xfrm>
            <a:off x="548640" y="3611880"/>
            <a:ext cx="8778240" cy="640080"/>
          </a:xfrm>
          <a:prstGeom prst="rect">
            <a:avLst/>
          </a:prstGeom>
          <a:noFill/>
          <a:ln/>
        </p:spPr>
        <p:txBody>
          <a:bodyPr wrap="square" lIns="0" tIns="0" rIns="0" bIns="0" rtlCol="0" anchor="ctr"/>
          <a:lstStyle/>
          <a:p>
            <a:pPr indent="0" marL="0">
              <a:buNone/>
            </a:pPr>
            <a:r>
              <a:rPr lang="en-US" sz="1400" dirty="0">
                <a:solidFill>
                  <a:srgbClr val="C9DCEF"/>
                </a:solidFill>
                <a:latin typeface="Calibri" pitchFamily="34" charset="0"/>
                <a:ea typeface="Calibri" pitchFamily="34" charset="-122"/>
                <a:cs typeface="Calibri" pitchFamily="34" charset="-120"/>
              </a:rPr>
              <a:t>Six functions that carry the design decisions — what each line does, and why it is written that way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MODEL.PY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Code — CBAM attention</a:t>
            </a:r>
            <a:endParaRPr lang="en-US" sz="3200" dirty="0"/>
          </a:p>
        </p:txBody>
      </p:sp>
      <p:sp>
        <p:nvSpPr>
          <p:cNvPr id="4" name="Shape 2"/>
          <p:cNvSpPr/>
          <p:nvPr/>
        </p:nvSpPr>
        <p:spPr>
          <a:xfrm>
            <a:off x="548640" y="1371600"/>
            <a:ext cx="6537960" cy="4206240"/>
          </a:xfrm>
          <a:prstGeom prst="roundRect">
            <a:avLst>
              <a:gd name="adj" fmla="val 1739"/>
            </a:avLst>
          </a:prstGeom>
          <a:solidFill>
            <a:srgbClr val="0B2038"/>
          </a:solidFill>
          <a:ln w="12700">
            <a:solidFill>
              <a:srgbClr val="0B2038"/>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804672" y="1536192"/>
            <a:ext cx="6035040" cy="237744"/>
          </a:xfrm>
          <a:prstGeom prst="rect">
            <a:avLst/>
          </a:prstGeom>
          <a:noFill/>
          <a:ln/>
        </p:spPr>
        <p:txBody>
          <a:bodyPr wrap="square" lIns="0" tIns="0" rIns="0" bIns="0" rtlCol="0" anchor="t"/>
          <a:lstStyle/>
          <a:p>
            <a:pPr indent="0" marL="0">
              <a:buNone/>
            </a:pPr>
            <a:r>
              <a:rPr lang="en-US" sz="1050" b="1" dirty="0">
                <a:solidFill>
                  <a:srgbClr val="00A896"/>
                </a:solidFill>
                <a:latin typeface="Courier New" pitchFamily="34" charset="0"/>
                <a:ea typeface="Courier New" pitchFamily="34" charset="-122"/>
                <a:cs typeface="Courier New" pitchFamily="34" charset="-120"/>
              </a:rPr>
              <a:t>model.py · ChannelAttention.forward / SpatialAttention.forward</a:t>
            </a:r>
            <a:endParaRPr lang="en-US" sz="1050" dirty="0"/>
          </a:p>
        </p:txBody>
      </p:sp>
      <p:sp>
        <p:nvSpPr>
          <p:cNvPr id="6" name="Text 4"/>
          <p:cNvSpPr txBox="1"/>
          <p:nvPr/>
        </p:nvSpPr>
        <p:spPr>
          <a:xfrm>
            <a:off x="804672" y="1847088"/>
            <a:ext cx="6035040" cy="3611880"/>
          </a:xfrm>
          <a:prstGeom prst="rect">
            <a:avLst/>
          </a:prstGeom>
          <a:noFill/>
          <a:ln/>
        </p:spPr>
        <p:txBody>
          <a:bodyPr wrap="square" lIns="0" tIns="0" rIns="0" bIns="0" rtlCol="0" anchor="t"/>
          <a:lstStyle/>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WHAT to look at — one weight per channel</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def forward(self, x):            # x: (B, 2048, 5, 5)</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b, c = x.shape[0], x.shape[1]</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avg_pool = x.view(b, c, -1).mean(dim=2)</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max_pool = x.view(b, c, -1).max(dim=2).values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att = torch.sigmoid(</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self.mlp(avg_pool) + self.mlp(max_pool)</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).view(b, c, 1, 1)</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return x * att.expand_as(x)</a:t>
            </a:r>
            <a:endParaRPr lang="en-US" sz="1000" dirty="0"/>
          </a:p>
          <a:p>
            <a:pPr indent="0" marL="0">
              <a:lnSpc>
                <a:spcPct val="118000"/>
              </a:lnSpc>
              <a:buNone/>
            </a:pP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WHERE to look — one weight per pixel</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def forward(self, x):</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avg_out = x.mean(dim=1, keepdim=True)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max_out = x.max(dim=1, keepdim=True).values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att = self.conv(torch.cat([avg_out, max_out], 1))</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return x * att               # 7x7 conv -&gt; sigmoid</a:t>
            </a:r>
            <a:endParaRPr lang="en-US" sz="1000" dirty="0"/>
          </a:p>
        </p:txBody>
      </p:sp>
      <p:sp>
        <p:nvSpPr>
          <p:cNvPr id="7" name="Shape 5"/>
          <p:cNvSpPr/>
          <p:nvPr/>
        </p:nvSpPr>
        <p:spPr>
          <a:xfrm>
            <a:off x="7360920" y="137160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8" name="Text 6"/>
          <p:cNvSpPr txBox="1"/>
          <p:nvPr/>
        </p:nvSpPr>
        <p:spPr>
          <a:xfrm>
            <a:off x="7616952" y="1554480"/>
            <a:ext cx="3749040" cy="256032"/>
          </a:xfrm>
          <a:prstGeom prst="rect">
            <a:avLst/>
          </a:prstGeom>
          <a:noFill/>
          <a:ln/>
        </p:spPr>
        <p:txBody>
          <a:bodyPr wrap="square" lIns="0" tIns="0" rIns="0" bIns="0" rtlCol="0" anchor="t"/>
          <a:lstStyle/>
          <a:p>
            <a:pPr indent="0" marL="0">
              <a:buNone/>
            </a:pPr>
            <a:r>
              <a:rPr lang="en-US" sz="1300" b="1" dirty="0">
                <a:solidFill>
                  <a:srgbClr val="0E2A47"/>
                </a:solidFill>
                <a:latin typeface="Calibri" pitchFamily="34" charset="0"/>
                <a:ea typeface="Calibri" pitchFamily="34" charset="-122"/>
                <a:cs typeface="Calibri" pitchFamily="34" charset="-120"/>
              </a:rPr>
              <a:t>What this code does</a:t>
            </a:r>
            <a:endParaRPr lang="en-US" sz="1300" dirty="0"/>
          </a:p>
        </p:txBody>
      </p:sp>
      <p:sp>
        <p:nvSpPr>
          <p:cNvPr id="9" name="Text 7"/>
          <p:cNvSpPr txBox="1"/>
          <p:nvPr/>
        </p:nvSpPr>
        <p:spPr>
          <a:xfrm>
            <a:off x="7616952" y="185623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Channel attention squeezes each of the 2048 feature maps to two numbers (its average and its peak), passes both through one shared MLP, and turns the result into a 0–1 gate per channel.</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Spatial attention does the mirror image: it collapses the channel axis instead, then a 7×7 convolution produces one gate per pixel.</a:t>
            </a:r>
            <a:endParaRPr lang="en-US" sz="1100" dirty="0"/>
          </a:p>
        </p:txBody>
      </p:sp>
      <p:sp>
        <p:nvSpPr>
          <p:cNvPr id="10" name="Shape 8"/>
          <p:cNvSpPr/>
          <p:nvPr/>
        </p:nvSpPr>
        <p:spPr>
          <a:xfrm>
            <a:off x="7360920" y="361188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1" name="Text 9"/>
          <p:cNvSpPr txBox="1"/>
          <p:nvPr/>
        </p:nvSpPr>
        <p:spPr>
          <a:xfrm>
            <a:off x="7616952" y="3794760"/>
            <a:ext cx="3749040" cy="256032"/>
          </a:xfrm>
          <a:prstGeom prst="rect">
            <a:avLst/>
          </a:prstGeom>
          <a:noFill/>
          <a:ln/>
        </p:spPr>
        <p:txBody>
          <a:bodyPr wrap="square" lIns="0" tIns="0" rIns="0" bIns="0" rtlCol="0" anchor="t"/>
          <a:lstStyle/>
          <a:p>
            <a:pPr indent="0" marL="0">
              <a:buNone/>
            </a:pPr>
            <a:r>
              <a:rPr lang="en-US" sz="1300" b="1" dirty="0">
                <a:solidFill>
                  <a:srgbClr val="E9973F"/>
                </a:solidFill>
                <a:latin typeface="Calibri" pitchFamily="34" charset="0"/>
                <a:ea typeface="Calibri" pitchFamily="34" charset="-122"/>
                <a:cs typeface="Calibri" pitchFamily="34" charset="-120"/>
              </a:rPr>
              <a:t>Why it matters here</a:t>
            </a:r>
            <a:endParaRPr lang="en-US" sz="1300" dirty="0"/>
          </a:p>
        </p:txBody>
      </p:sp>
      <p:sp>
        <p:nvSpPr>
          <p:cNvPr id="12" name="Text 10"/>
          <p:cNvSpPr txBox="1"/>
          <p:nvPr/>
        </p:nvSpPr>
        <p:spPr>
          <a:xfrm>
            <a:off x="7616952" y="409651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Both end in `x * att` — the features are re-weighted, never replaced, so nothing is destroyed if attention is wrong.</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Every ReLU here is `inplace=False`. In-place operations overwrite tensors the autograd graph still needs, and Grad-CAM++ walks that graph backwards. One `inplace=True` would break explainability.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MODEL.PY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Code — the two branches and the fusion</a:t>
            </a:r>
            <a:endParaRPr lang="en-US" sz="3200" dirty="0"/>
          </a:p>
        </p:txBody>
      </p:sp>
      <p:sp>
        <p:nvSpPr>
          <p:cNvPr id="4" name="Shape 2"/>
          <p:cNvSpPr/>
          <p:nvPr/>
        </p:nvSpPr>
        <p:spPr>
          <a:xfrm>
            <a:off x="548640" y="1371600"/>
            <a:ext cx="6537960" cy="4206240"/>
          </a:xfrm>
          <a:prstGeom prst="roundRect">
            <a:avLst>
              <a:gd name="adj" fmla="val 1739"/>
            </a:avLst>
          </a:prstGeom>
          <a:solidFill>
            <a:srgbClr val="0B2038"/>
          </a:solidFill>
          <a:ln w="12700">
            <a:solidFill>
              <a:srgbClr val="0B2038"/>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804672" y="1536192"/>
            <a:ext cx="6035040" cy="237744"/>
          </a:xfrm>
          <a:prstGeom prst="rect">
            <a:avLst/>
          </a:prstGeom>
          <a:noFill/>
          <a:ln/>
        </p:spPr>
        <p:txBody>
          <a:bodyPr wrap="square" lIns="0" tIns="0" rIns="0" bIns="0" rtlCol="0" anchor="t"/>
          <a:lstStyle/>
          <a:p>
            <a:pPr indent="0" marL="0">
              <a:buNone/>
            </a:pPr>
            <a:r>
              <a:rPr lang="en-US" sz="1050" b="1" dirty="0">
                <a:solidFill>
                  <a:srgbClr val="00A896"/>
                </a:solidFill>
                <a:latin typeface="Courier New" pitchFamily="34" charset="0"/>
                <a:ea typeface="Courier New" pitchFamily="34" charset="-122"/>
                <a:cs typeface="Courier New" pitchFamily="34" charset="-120"/>
              </a:rPr>
              <a:t>model.py · FreeBuffV4.forward</a:t>
            </a:r>
            <a:endParaRPr lang="en-US" sz="1050" dirty="0"/>
          </a:p>
        </p:txBody>
      </p:sp>
      <p:sp>
        <p:nvSpPr>
          <p:cNvPr id="6" name="Text 4"/>
          <p:cNvSpPr txBox="1"/>
          <p:nvPr/>
        </p:nvSpPr>
        <p:spPr>
          <a:xfrm>
            <a:off x="804672" y="1847088"/>
            <a:ext cx="6035040" cy="3611880"/>
          </a:xfrm>
          <a:prstGeom prst="rect">
            <a:avLst/>
          </a:prstGeom>
          <a:noFill/>
          <a:ln/>
        </p:spPr>
        <p:txBody>
          <a:bodyPr wrap="square" lIns="0" tIns="0" rIns="0" bIns="0" rtlCol="0" anchor="t"/>
          <a:lstStyle/>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def forward(self, image, hog_pca=None):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 Branch A — deep spatial</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spatial_map = self.backbone(image)     # (B,2048,5,5)</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pooled  = self.spatial_pool(spatial_map).flatten(1)</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spatial_emb = self.spatial_mlp(pooled) # (B, 256)</a:t>
            </a:r>
            <a:endParaRPr lang="en-US" sz="1000" dirty="0"/>
          </a:p>
          <a:p>
            <a:pPr indent="0" marL="0">
              <a:lnSpc>
                <a:spcPct val="118000"/>
              </a:lnSpc>
              <a:buNone/>
            </a:pP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 Branch B — handcrafted texture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if hog_pca is not None: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hog_emb = self.hog_branch(hog_pca) # (B, 512)</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else:                                  # graceful fallback</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hog_emb = torch.zeros(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image.size(0), self.hog_embedding_dim,</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device=image.device, dtype=image.dtype)</a:t>
            </a:r>
            <a:endParaRPr lang="en-US" sz="1000" dirty="0"/>
          </a:p>
          <a:p>
            <a:pPr indent="0" marL="0">
              <a:lnSpc>
                <a:spcPct val="118000"/>
              </a:lnSpc>
              <a:buNone/>
            </a:pP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 Fusion: 256 + 512 = 768 -&gt; 512 -&gt; 256 -&gt; 4</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logits = self.head(spatial_emb, hog_emb)</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return {"logits": logits,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"fused_emb": torch.cat(</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[spatial_emb, hog_emb], dim=1)}</a:t>
            </a:r>
            <a:endParaRPr lang="en-US" sz="1000" dirty="0"/>
          </a:p>
        </p:txBody>
      </p:sp>
      <p:sp>
        <p:nvSpPr>
          <p:cNvPr id="7" name="Shape 5"/>
          <p:cNvSpPr/>
          <p:nvPr/>
        </p:nvSpPr>
        <p:spPr>
          <a:xfrm>
            <a:off x="7360920" y="137160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8" name="Text 6"/>
          <p:cNvSpPr txBox="1"/>
          <p:nvPr/>
        </p:nvSpPr>
        <p:spPr>
          <a:xfrm>
            <a:off x="7616952" y="1554480"/>
            <a:ext cx="3749040" cy="256032"/>
          </a:xfrm>
          <a:prstGeom prst="rect">
            <a:avLst/>
          </a:prstGeom>
          <a:noFill/>
          <a:ln/>
        </p:spPr>
        <p:txBody>
          <a:bodyPr wrap="square" lIns="0" tIns="0" rIns="0" bIns="0" rtlCol="0" anchor="t"/>
          <a:lstStyle/>
          <a:p>
            <a:pPr indent="0" marL="0">
              <a:buNone/>
            </a:pPr>
            <a:r>
              <a:rPr lang="en-US" sz="1300" b="1" dirty="0">
                <a:solidFill>
                  <a:srgbClr val="0E2A47"/>
                </a:solidFill>
                <a:latin typeface="Calibri" pitchFamily="34" charset="0"/>
                <a:ea typeface="Calibri" pitchFamily="34" charset="-122"/>
                <a:cs typeface="Calibri" pitchFamily="34" charset="-120"/>
              </a:rPr>
              <a:t>What this code does</a:t>
            </a:r>
            <a:endParaRPr lang="en-US" sz="1300" dirty="0"/>
          </a:p>
        </p:txBody>
      </p:sp>
      <p:sp>
        <p:nvSpPr>
          <p:cNvPr id="9" name="Text 7"/>
          <p:cNvSpPr txBox="1"/>
          <p:nvPr/>
        </p:nvSpPr>
        <p:spPr>
          <a:xfrm>
            <a:off x="7616952" y="185623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One forward pass produces both embeddings and fuses them. The deep branch pools ResNet50's 2048-channel map to a 256-d vector; the HOG branch lifts the 288-d PCA descriptor to 512-d. They are concatenated to 768-d and reduced to four logits.</a:t>
            </a:r>
            <a:endParaRPr lang="en-US" sz="1100" dirty="0"/>
          </a:p>
        </p:txBody>
      </p:sp>
      <p:sp>
        <p:nvSpPr>
          <p:cNvPr id="10" name="Shape 8"/>
          <p:cNvSpPr/>
          <p:nvPr/>
        </p:nvSpPr>
        <p:spPr>
          <a:xfrm>
            <a:off x="7360920" y="361188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1" name="Text 9"/>
          <p:cNvSpPr txBox="1"/>
          <p:nvPr/>
        </p:nvSpPr>
        <p:spPr>
          <a:xfrm>
            <a:off x="7616952" y="3794760"/>
            <a:ext cx="3749040" cy="256032"/>
          </a:xfrm>
          <a:prstGeom prst="rect">
            <a:avLst/>
          </a:prstGeom>
          <a:noFill/>
          <a:ln/>
        </p:spPr>
        <p:txBody>
          <a:bodyPr wrap="square" lIns="0" tIns="0" rIns="0" bIns="0" rtlCol="0" anchor="t"/>
          <a:lstStyle/>
          <a:p>
            <a:pPr indent="0" marL="0">
              <a:buNone/>
            </a:pPr>
            <a:r>
              <a:rPr lang="en-US" sz="1300" b="1" dirty="0">
                <a:solidFill>
                  <a:srgbClr val="E9973F"/>
                </a:solidFill>
                <a:latin typeface="Calibri" pitchFamily="34" charset="0"/>
                <a:ea typeface="Calibri" pitchFamily="34" charset="-122"/>
                <a:cs typeface="Calibri" pitchFamily="34" charset="-120"/>
              </a:rPr>
              <a:t>Why it matters here</a:t>
            </a:r>
            <a:endParaRPr lang="en-US" sz="1300" dirty="0"/>
          </a:p>
        </p:txBody>
      </p:sp>
      <p:sp>
        <p:nvSpPr>
          <p:cNvPr id="12" name="Text 10"/>
          <p:cNvSpPr txBox="1"/>
          <p:nvPr/>
        </p:nvSpPr>
        <p:spPr>
          <a:xfrm>
            <a:off x="7616952" y="409651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This single function is the core architectural difference from the paper. Their CNN and SVM are two separate training runs with a freeze between them, so gradients never reach the CNN from the classifier.</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Here one backward pass updates the backbone, the HOG MLP and the head together against the same loss.</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The `else` branch means a missing PCA artifact degrades to the deep branch instead of crashing.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MODEL.PY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Code — Focal Loss</a:t>
            </a:r>
            <a:endParaRPr lang="en-US" sz="3200" dirty="0"/>
          </a:p>
        </p:txBody>
      </p:sp>
      <p:sp>
        <p:nvSpPr>
          <p:cNvPr id="4" name="Shape 2"/>
          <p:cNvSpPr/>
          <p:nvPr/>
        </p:nvSpPr>
        <p:spPr>
          <a:xfrm>
            <a:off x="548640" y="1371600"/>
            <a:ext cx="6537960" cy="4206240"/>
          </a:xfrm>
          <a:prstGeom prst="roundRect">
            <a:avLst>
              <a:gd name="adj" fmla="val 1739"/>
            </a:avLst>
          </a:prstGeom>
          <a:solidFill>
            <a:srgbClr val="0B2038"/>
          </a:solidFill>
          <a:ln w="12700">
            <a:solidFill>
              <a:srgbClr val="0B2038"/>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804672" y="1536192"/>
            <a:ext cx="6035040" cy="237744"/>
          </a:xfrm>
          <a:prstGeom prst="rect">
            <a:avLst/>
          </a:prstGeom>
          <a:noFill/>
          <a:ln/>
        </p:spPr>
        <p:txBody>
          <a:bodyPr wrap="square" lIns="0" tIns="0" rIns="0" bIns="0" rtlCol="0" anchor="t"/>
          <a:lstStyle/>
          <a:p>
            <a:pPr indent="0" marL="0">
              <a:buNone/>
            </a:pPr>
            <a:r>
              <a:rPr lang="en-US" sz="1050" b="1" dirty="0">
                <a:solidFill>
                  <a:srgbClr val="00A896"/>
                </a:solidFill>
                <a:latin typeface="Courier New" pitchFamily="34" charset="0"/>
                <a:ea typeface="Courier New" pitchFamily="34" charset="-122"/>
                <a:cs typeface="Courier New" pitchFamily="34" charset="-120"/>
              </a:rPr>
              <a:t>model.py · FocalLoss.forward</a:t>
            </a:r>
            <a:endParaRPr lang="en-US" sz="1050" dirty="0"/>
          </a:p>
        </p:txBody>
      </p:sp>
      <p:sp>
        <p:nvSpPr>
          <p:cNvPr id="6" name="Text 4"/>
          <p:cNvSpPr txBox="1"/>
          <p:nvPr/>
        </p:nvSpPr>
        <p:spPr>
          <a:xfrm>
            <a:off x="804672" y="1847088"/>
            <a:ext cx="6035040" cy="3611880"/>
          </a:xfrm>
          <a:prstGeom prst="rect">
            <a:avLst/>
          </a:prstGeom>
          <a:noFill/>
          <a:ln/>
        </p:spPr>
        <p:txBody>
          <a:bodyPr wrap="square" lIns="0" tIns="0" rIns="0" bIns="0" rtlCol="0" anchor="t"/>
          <a:lstStyle/>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def forward(self, inputs, targets):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 per-sample cross-entropy, alpha = inverse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 class frequency (handles imbalance)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ce = F.cross_entropy(inputs, targets,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reduction="none",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weight=self.alpha)</a:t>
            </a:r>
            <a:endParaRPr lang="en-US" sz="1000" dirty="0"/>
          </a:p>
          <a:p>
            <a:pPr indent="0" marL="0">
              <a:lnSpc>
                <a:spcPct val="118000"/>
              </a:lnSpc>
              <a:buNone/>
            </a:pP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pt = torch.exp(-ce)      # pt = model's probability</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      for the TRUE class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focal = ((1.0 - pt) ** self.gamma) * ce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return focal.mean()      # gamma = 2.0</a:t>
            </a:r>
            <a:endParaRPr lang="en-US" sz="1000" dirty="0"/>
          </a:p>
        </p:txBody>
      </p:sp>
      <p:sp>
        <p:nvSpPr>
          <p:cNvPr id="7" name="Shape 5"/>
          <p:cNvSpPr/>
          <p:nvPr/>
        </p:nvSpPr>
        <p:spPr>
          <a:xfrm>
            <a:off x="7360920" y="137160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8" name="Text 6"/>
          <p:cNvSpPr txBox="1"/>
          <p:nvPr/>
        </p:nvSpPr>
        <p:spPr>
          <a:xfrm>
            <a:off x="7616952" y="1554480"/>
            <a:ext cx="3749040" cy="256032"/>
          </a:xfrm>
          <a:prstGeom prst="rect">
            <a:avLst/>
          </a:prstGeom>
          <a:noFill/>
          <a:ln/>
        </p:spPr>
        <p:txBody>
          <a:bodyPr wrap="square" lIns="0" tIns="0" rIns="0" bIns="0" rtlCol="0" anchor="t"/>
          <a:lstStyle/>
          <a:p>
            <a:pPr indent="0" marL="0">
              <a:buNone/>
            </a:pPr>
            <a:r>
              <a:rPr lang="en-US" sz="1300" b="1" dirty="0">
                <a:solidFill>
                  <a:srgbClr val="0E2A47"/>
                </a:solidFill>
                <a:latin typeface="Calibri" pitchFamily="34" charset="0"/>
                <a:ea typeface="Calibri" pitchFamily="34" charset="-122"/>
                <a:cs typeface="Calibri" pitchFamily="34" charset="-120"/>
              </a:rPr>
              <a:t>What this code does</a:t>
            </a:r>
            <a:endParaRPr lang="en-US" sz="1300" dirty="0"/>
          </a:p>
        </p:txBody>
      </p:sp>
      <p:sp>
        <p:nvSpPr>
          <p:cNvPr id="9" name="Text 7"/>
          <p:cNvSpPr txBox="1"/>
          <p:nvPr/>
        </p:nvSpPr>
        <p:spPr>
          <a:xfrm>
            <a:off x="7616952" y="185623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Standard cross-entropy is computed per sample, then scaled by (1 − p_t)^γ, where p_t is the probability the model gave the correct class.</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An easy example with p_t = 0.99 is scaled by (0.01)² = 0.0001 — it effectively stops contributing. A hard example at p_t = 0.4 is scaled by 0.36, so it dominates the gradient.</a:t>
            </a:r>
            <a:endParaRPr lang="en-US" sz="1100" dirty="0"/>
          </a:p>
        </p:txBody>
      </p:sp>
      <p:sp>
        <p:nvSpPr>
          <p:cNvPr id="10" name="Shape 8"/>
          <p:cNvSpPr/>
          <p:nvPr/>
        </p:nvSpPr>
        <p:spPr>
          <a:xfrm>
            <a:off x="7360920" y="361188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1" name="Text 9"/>
          <p:cNvSpPr txBox="1"/>
          <p:nvPr/>
        </p:nvSpPr>
        <p:spPr>
          <a:xfrm>
            <a:off x="7616952" y="3794760"/>
            <a:ext cx="3749040" cy="256032"/>
          </a:xfrm>
          <a:prstGeom prst="rect">
            <a:avLst/>
          </a:prstGeom>
          <a:noFill/>
          <a:ln/>
        </p:spPr>
        <p:txBody>
          <a:bodyPr wrap="square" lIns="0" tIns="0" rIns="0" bIns="0" rtlCol="0" anchor="t"/>
          <a:lstStyle/>
          <a:p>
            <a:pPr indent="0" marL="0">
              <a:buNone/>
            </a:pPr>
            <a:r>
              <a:rPr lang="en-US" sz="1300" b="1" dirty="0">
                <a:solidFill>
                  <a:srgbClr val="E9973F"/>
                </a:solidFill>
                <a:latin typeface="Calibri" pitchFamily="34" charset="0"/>
                <a:ea typeface="Calibri" pitchFamily="34" charset="-122"/>
                <a:cs typeface="Calibri" pitchFamily="34" charset="-120"/>
              </a:rPr>
              <a:t>Why it matters here</a:t>
            </a:r>
            <a:endParaRPr lang="en-US" sz="1300" dirty="0"/>
          </a:p>
        </p:txBody>
      </p:sp>
      <p:sp>
        <p:nvSpPr>
          <p:cNvPr id="12" name="Text 10"/>
          <p:cNvSpPr txBox="1"/>
          <p:nvPr/>
        </p:nvSpPr>
        <p:spPr>
          <a:xfrm>
            <a:off x="7616952" y="409651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The paper uses plain sparse categorical cross-entropy, which treats an already-solved example and a borderline one as equally important.</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Our errors are concentrated on the Glioma/Meningioma boundary — exactly the hard cases focal loss up-weights. The `alpha` term additionally rebalances classes by inverse frequency, which the paper needed too (their No Tumor class was only 928 of 8,852 images) but did not use.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TRAIN.PY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Code — one training step</a:t>
            </a:r>
            <a:endParaRPr lang="en-US" sz="3200" dirty="0"/>
          </a:p>
        </p:txBody>
      </p:sp>
      <p:sp>
        <p:nvSpPr>
          <p:cNvPr id="4" name="Shape 2"/>
          <p:cNvSpPr/>
          <p:nvPr/>
        </p:nvSpPr>
        <p:spPr>
          <a:xfrm>
            <a:off x="548640" y="1371600"/>
            <a:ext cx="6537960" cy="4206240"/>
          </a:xfrm>
          <a:prstGeom prst="roundRect">
            <a:avLst>
              <a:gd name="adj" fmla="val 1739"/>
            </a:avLst>
          </a:prstGeom>
          <a:solidFill>
            <a:srgbClr val="0B2038"/>
          </a:solidFill>
          <a:ln w="12700">
            <a:solidFill>
              <a:srgbClr val="0B2038"/>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804672" y="1536192"/>
            <a:ext cx="6035040" cy="237744"/>
          </a:xfrm>
          <a:prstGeom prst="rect">
            <a:avLst/>
          </a:prstGeom>
          <a:noFill/>
          <a:ln/>
        </p:spPr>
        <p:txBody>
          <a:bodyPr wrap="square" lIns="0" tIns="0" rIns="0" bIns="0" rtlCol="0" anchor="t"/>
          <a:lstStyle/>
          <a:p>
            <a:pPr indent="0" marL="0">
              <a:buNone/>
            </a:pPr>
            <a:r>
              <a:rPr lang="en-US" sz="1050" b="1" dirty="0">
                <a:solidFill>
                  <a:srgbClr val="00A896"/>
                </a:solidFill>
                <a:latin typeface="Courier New" pitchFamily="34" charset="0"/>
                <a:ea typeface="Courier New" pitchFamily="34" charset="-122"/>
                <a:cs typeface="Courier New" pitchFamily="34" charset="-120"/>
              </a:rPr>
              <a:t>train.py · train_one_epoch  +  model.py · build_parameter_groups</a:t>
            </a:r>
            <a:endParaRPr lang="en-US" sz="1050" dirty="0"/>
          </a:p>
        </p:txBody>
      </p:sp>
      <p:sp>
        <p:nvSpPr>
          <p:cNvPr id="6" name="Text 4"/>
          <p:cNvSpPr txBox="1"/>
          <p:nvPr/>
        </p:nvSpPr>
        <p:spPr>
          <a:xfrm>
            <a:off x="804672" y="1847088"/>
            <a:ext cx="6035040" cy="3611880"/>
          </a:xfrm>
          <a:prstGeom prst="rect">
            <a:avLst/>
          </a:prstGeom>
          <a:noFill/>
          <a:ln/>
        </p:spPr>
        <p:txBody>
          <a:bodyPr wrap="square" lIns="0" tIns="0" rIns="0" bIns="0" rtlCol="0" anchor="t"/>
          <a:lstStyle/>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mixed precision: fp16 maths, fp32 master weights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with autocast(device_type="cuda",</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dtype=torch.float16):</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out  = model(images, hog_pca=hog_feats)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loss = criterion(out["logits"], labels)</a:t>
            </a:r>
            <a:endParaRPr lang="en-US" sz="1000" dirty="0"/>
          </a:p>
          <a:p>
            <a:pPr indent="0" marL="0">
              <a:lnSpc>
                <a:spcPct val="118000"/>
              </a:lnSpc>
              <a:buNone/>
            </a:pP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scaler.scale(loss).backward()   # scale up: avoid</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 fp16 underflow</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scaler.unscale_(optimizer)      # back to real scale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clip_grad_norm_(model.parameters(), 1.0)</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scaler.step(optimizer)          # skips inf/NaN steps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scaler.update()</a:t>
            </a:r>
            <a:endParaRPr lang="en-US" sz="1000" dirty="0"/>
          </a:p>
          <a:p>
            <a:pPr indent="0" marL="0">
              <a:lnSpc>
                <a:spcPct val="118000"/>
              </a:lnSpc>
              <a:buNone/>
            </a:pP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decoupled learning rates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[{"params": backbone_params, "lr": 1e-4},</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{"params": head_params,     "lr": 1e-3}]</a:t>
            </a:r>
            <a:endParaRPr lang="en-US" sz="1000" dirty="0"/>
          </a:p>
        </p:txBody>
      </p:sp>
      <p:sp>
        <p:nvSpPr>
          <p:cNvPr id="7" name="Shape 5"/>
          <p:cNvSpPr/>
          <p:nvPr/>
        </p:nvSpPr>
        <p:spPr>
          <a:xfrm>
            <a:off x="7360920" y="137160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8" name="Text 6"/>
          <p:cNvSpPr txBox="1"/>
          <p:nvPr/>
        </p:nvSpPr>
        <p:spPr>
          <a:xfrm>
            <a:off x="7616952" y="1554480"/>
            <a:ext cx="3749040" cy="256032"/>
          </a:xfrm>
          <a:prstGeom prst="rect">
            <a:avLst/>
          </a:prstGeom>
          <a:noFill/>
          <a:ln/>
        </p:spPr>
        <p:txBody>
          <a:bodyPr wrap="square" lIns="0" tIns="0" rIns="0" bIns="0" rtlCol="0" anchor="t"/>
          <a:lstStyle/>
          <a:p>
            <a:pPr indent="0" marL="0">
              <a:buNone/>
            </a:pPr>
            <a:r>
              <a:rPr lang="en-US" sz="1300" b="1" dirty="0">
                <a:solidFill>
                  <a:srgbClr val="0E2A47"/>
                </a:solidFill>
                <a:latin typeface="Calibri" pitchFamily="34" charset="0"/>
                <a:ea typeface="Calibri" pitchFamily="34" charset="-122"/>
                <a:cs typeface="Calibri" pitchFamily="34" charset="-120"/>
              </a:rPr>
              <a:t>What this code does</a:t>
            </a:r>
            <a:endParaRPr lang="en-US" sz="1300" dirty="0"/>
          </a:p>
        </p:txBody>
      </p:sp>
      <p:sp>
        <p:nvSpPr>
          <p:cNvPr id="9" name="Text 7"/>
          <p:cNvSpPr txBox="1"/>
          <p:nvPr/>
        </p:nvSpPr>
        <p:spPr>
          <a:xfrm>
            <a:off x="7616952" y="185623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AMP runs the heavy matrix multiplies in fp16 while keeping the weights and accumulations in fp32. GradScaler multiplies the loss so small fp16 gradients do not flush to zero, then unscales before clipping so the 1.0 clip threshold is in true units.</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The optimiser is given two parameter groups with different learning rates.</a:t>
            </a:r>
            <a:endParaRPr lang="en-US" sz="1100" dirty="0"/>
          </a:p>
        </p:txBody>
      </p:sp>
      <p:sp>
        <p:nvSpPr>
          <p:cNvPr id="10" name="Shape 8"/>
          <p:cNvSpPr/>
          <p:nvPr/>
        </p:nvSpPr>
        <p:spPr>
          <a:xfrm>
            <a:off x="7360920" y="361188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1" name="Text 9"/>
          <p:cNvSpPr txBox="1"/>
          <p:nvPr/>
        </p:nvSpPr>
        <p:spPr>
          <a:xfrm>
            <a:off x="7616952" y="3794760"/>
            <a:ext cx="3749040" cy="256032"/>
          </a:xfrm>
          <a:prstGeom prst="rect">
            <a:avLst/>
          </a:prstGeom>
          <a:noFill/>
          <a:ln/>
        </p:spPr>
        <p:txBody>
          <a:bodyPr wrap="square" lIns="0" tIns="0" rIns="0" bIns="0" rtlCol="0" anchor="t"/>
          <a:lstStyle/>
          <a:p>
            <a:pPr indent="0" marL="0">
              <a:buNone/>
            </a:pPr>
            <a:r>
              <a:rPr lang="en-US" sz="1300" b="1" dirty="0">
                <a:solidFill>
                  <a:srgbClr val="E9973F"/>
                </a:solidFill>
                <a:latin typeface="Calibri" pitchFamily="34" charset="0"/>
                <a:ea typeface="Calibri" pitchFamily="34" charset="-122"/>
                <a:cs typeface="Calibri" pitchFamily="34" charset="-120"/>
              </a:rPr>
              <a:t>Why it matters here</a:t>
            </a:r>
            <a:endParaRPr lang="en-US" sz="1300" dirty="0"/>
          </a:p>
        </p:txBody>
      </p:sp>
      <p:sp>
        <p:nvSpPr>
          <p:cNvPr id="12" name="Text 10"/>
          <p:cNvSpPr txBox="1"/>
          <p:nvPr/>
        </p:nvSpPr>
        <p:spPr>
          <a:xfrm>
            <a:off x="7616952" y="409651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AMP is what makes batch 32 at 144×144 fit on a 6 GB RTX 3050 — the resolution upgrade over the paper's 64×64 is only affordable because of it.</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The decoupled rates matter because the backbone is ImageNet-pretrained and the head is random. One shared rate either destroys the pretrained features or starves the new head. The paper trains everything from scratch, so it has no such problem — and no transfer learning either.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CONFIG.PY + INFERENCE.PY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Code — the TTA policy</a:t>
            </a:r>
            <a:endParaRPr lang="en-US" sz="3200" dirty="0"/>
          </a:p>
        </p:txBody>
      </p:sp>
      <p:sp>
        <p:nvSpPr>
          <p:cNvPr id="4" name="Shape 2"/>
          <p:cNvSpPr/>
          <p:nvPr/>
        </p:nvSpPr>
        <p:spPr>
          <a:xfrm>
            <a:off x="548640" y="1371600"/>
            <a:ext cx="6537960" cy="4206240"/>
          </a:xfrm>
          <a:prstGeom prst="roundRect">
            <a:avLst>
              <a:gd name="adj" fmla="val 1739"/>
            </a:avLst>
          </a:prstGeom>
          <a:solidFill>
            <a:srgbClr val="0B2038"/>
          </a:solidFill>
          <a:ln w="12700">
            <a:solidFill>
              <a:srgbClr val="0B2038"/>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804672" y="1536192"/>
            <a:ext cx="6035040" cy="237744"/>
          </a:xfrm>
          <a:prstGeom prst="rect">
            <a:avLst/>
          </a:prstGeom>
          <a:noFill/>
          <a:ln/>
        </p:spPr>
        <p:txBody>
          <a:bodyPr wrap="square" lIns="0" tIns="0" rIns="0" bIns="0" rtlCol="0" anchor="t"/>
          <a:lstStyle/>
          <a:p>
            <a:pPr indent="0" marL="0">
              <a:buNone/>
            </a:pPr>
            <a:r>
              <a:rPr lang="en-US" sz="1050" b="1" dirty="0">
                <a:solidFill>
                  <a:srgbClr val="00A896"/>
                </a:solidFill>
                <a:latin typeface="Courier New" pitchFamily="34" charset="0"/>
                <a:ea typeface="Courier New" pitchFamily="34" charset="-122"/>
                <a:cs typeface="Courier New" pitchFamily="34" charset="-120"/>
              </a:rPr>
              <a:t>config.py · TTA policy  →  inference.py · build_tta_transforms</a:t>
            </a:r>
            <a:endParaRPr lang="en-US" sz="1050" dirty="0"/>
          </a:p>
        </p:txBody>
      </p:sp>
      <p:sp>
        <p:nvSpPr>
          <p:cNvPr id="6" name="Text 4"/>
          <p:cNvSpPr txBox="1"/>
          <p:nvPr/>
        </p:nvSpPr>
        <p:spPr>
          <a:xfrm>
            <a:off x="804672" y="1847088"/>
            <a:ext cx="6035040" cy="3611880"/>
          </a:xfrm>
          <a:prstGeom prst="rect">
            <a:avLst/>
          </a:prstGeom>
          <a:noFill/>
          <a:ln/>
        </p:spPr>
        <p:txBody>
          <a:bodyPr wrap="square" lIns="0" tIns="0" rIns="0" bIns="0" rtlCol="0" anchor="t"/>
          <a:lstStyle/>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config.py — the shipped policy</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TTA_FLIPS         = ["none", "horizontal"]</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TTA_ROTATIONS_DEG = [0]</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TTA_SCALE_FACTORS = [1.0]</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TTA_NUM_SAMPLES   = 2</a:t>
            </a:r>
            <a:endParaRPr lang="en-US" sz="1000" dirty="0"/>
          </a:p>
          <a:p>
            <a:pPr indent="0" marL="0">
              <a:lnSpc>
                <a:spcPct val="118000"/>
              </a:lnSpc>
              <a:buNone/>
            </a:pP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inference.py — cartesian product of the policy</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for flip in flips: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for rot in rotations_deg:</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for scale in scales: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transforms.append(</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_make_tta_fn(flip, rot, scale))</a:t>
            </a:r>
            <a:endParaRPr lang="en-US" sz="1000" dirty="0"/>
          </a:p>
          <a:p>
            <a:pPr indent="0" marL="0">
              <a:lnSpc>
                <a:spcPct val="118000"/>
              </a:lnSpc>
              <a:buNone/>
            </a:pP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probabilities are averaged, not logits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avg_probs = torch.softmax(</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stacked / self.softmax_temp, dim=2).mean(dim=0)</a:t>
            </a:r>
            <a:endParaRPr lang="en-US" sz="1000" dirty="0"/>
          </a:p>
        </p:txBody>
      </p:sp>
      <p:sp>
        <p:nvSpPr>
          <p:cNvPr id="7" name="Shape 5"/>
          <p:cNvSpPr/>
          <p:nvPr/>
        </p:nvSpPr>
        <p:spPr>
          <a:xfrm>
            <a:off x="7360920" y="137160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8" name="Text 6"/>
          <p:cNvSpPr txBox="1"/>
          <p:nvPr/>
        </p:nvSpPr>
        <p:spPr>
          <a:xfrm>
            <a:off x="7616952" y="1554480"/>
            <a:ext cx="3749040" cy="256032"/>
          </a:xfrm>
          <a:prstGeom prst="rect">
            <a:avLst/>
          </a:prstGeom>
          <a:noFill/>
          <a:ln/>
        </p:spPr>
        <p:txBody>
          <a:bodyPr wrap="square" lIns="0" tIns="0" rIns="0" bIns="0" rtlCol="0" anchor="t"/>
          <a:lstStyle/>
          <a:p>
            <a:pPr indent="0" marL="0">
              <a:buNone/>
            </a:pPr>
            <a:r>
              <a:rPr lang="en-US" sz="1300" b="1" dirty="0">
                <a:solidFill>
                  <a:srgbClr val="0E2A47"/>
                </a:solidFill>
                <a:latin typeface="Calibri" pitchFamily="34" charset="0"/>
                <a:ea typeface="Calibri" pitchFamily="34" charset="-122"/>
                <a:cs typeface="Calibri" pitchFamily="34" charset="-120"/>
              </a:rPr>
              <a:t>What this code does</a:t>
            </a:r>
            <a:endParaRPr lang="en-US" sz="1300" dirty="0"/>
          </a:p>
        </p:txBody>
      </p:sp>
      <p:sp>
        <p:nvSpPr>
          <p:cNvPr id="9" name="Text 7"/>
          <p:cNvSpPr txBox="1"/>
          <p:nvPr/>
        </p:nvSpPr>
        <p:spPr>
          <a:xfrm>
            <a:off x="7616952" y="185623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The transform list is the cartesian product of the three policy lists, so 2 flips × 1 rotation × 1 scale = 2 views. Each view is run through the model, softmaxed, and the probabilities are averaged.</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Averaging after the softmax rather than before means a single extreme view cannot dominate the mean.</a:t>
            </a:r>
            <a:endParaRPr lang="en-US" sz="1100" dirty="0"/>
          </a:p>
        </p:txBody>
      </p:sp>
      <p:sp>
        <p:nvSpPr>
          <p:cNvPr id="10" name="Shape 8"/>
          <p:cNvSpPr/>
          <p:nvPr/>
        </p:nvSpPr>
        <p:spPr>
          <a:xfrm>
            <a:off x="7360920" y="361188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1" name="Text 9"/>
          <p:cNvSpPr txBox="1"/>
          <p:nvPr/>
        </p:nvSpPr>
        <p:spPr>
          <a:xfrm>
            <a:off x="7616952" y="3794760"/>
            <a:ext cx="3749040" cy="256032"/>
          </a:xfrm>
          <a:prstGeom prst="rect">
            <a:avLst/>
          </a:prstGeom>
          <a:noFill/>
          <a:ln/>
        </p:spPr>
        <p:txBody>
          <a:bodyPr wrap="square" lIns="0" tIns="0" rIns="0" bIns="0" rtlCol="0" anchor="t"/>
          <a:lstStyle/>
          <a:p>
            <a:pPr indent="0" marL="0">
              <a:buNone/>
            </a:pPr>
            <a:r>
              <a:rPr lang="en-US" sz="1300" b="1" dirty="0">
                <a:solidFill>
                  <a:srgbClr val="E9973F"/>
                </a:solidFill>
                <a:latin typeface="Calibri" pitchFamily="34" charset="0"/>
                <a:ea typeface="Calibri" pitchFamily="34" charset="-122"/>
                <a:cs typeface="Calibri" pitchFamily="34" charset="-120"/>
              </a:rPr>
              <a:t>Why it matters here</a:t>
            </a:r>
            <a:endParaRPr lang="en-US" sz="1300" dirty="0"/>
          </a:p>
        </p:txBody>
      </p:sp>
      <p:sp>
        <p:nvSpPr>
          <p:cNvPr id="12" name="Text 10"/>
          <p:cNvSpPr txBox="1"/>
          <p:nvPr/>
        </p:nvSpPr>
        <p:spPr>
          <a:xfrm>
            <a:off x="7616952" y="409651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These four constants were previously `["none","horizontal","vertical","both"]` and `[0,90,180,270]` — 48 views. That cost 6.6 accuracy points versus this policy.</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A separate bug made it worse: `build_tta_transforms` hardcoded its own flip list, so `TTA_FLIPS` in config was dead settings that changed nothing. Fixing that is what let the policy be tuned at all.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INFERENCE.PY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Code — the clinical safeguard</a:t>
            </a:r>
            <a:endParaRPr lang="en-US" sz="3200" dirty="0"/>
          </a:p>
        </p:txBody>
      </p:sp>
      <p:sp>
        <p:nvSpPr>
          <p:cNvPr id="4" name="Shape 2"/>
          <p:cNvSpPr/>
          <p:nvPr/>
        </p:nvSpPr>
        <p:spPr>
          <a:xfrm>
            <a:off x="548640" y="1371600"/>
            <a:ext cx="6537960" cy="4206240"/>
          </a:xfrm>
          <a:prstGeom prst="roundRect">
            <a:avLst>
              <a:gd name="adj" fmla="val 1739"/>
            </a:avLst>
          </a:prstGeom>
          <a:solidFill>
            <a:srgbClr val="0B2038"/>
          </a:solidFill>
          <a:ln w="12700">
            <a:solidFill>
              <a:srgbClr val="0B2038"/>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804672" y="1536192"/>
            <a:ext cx="6035040" cy="237744"/>
          </a:xfrm>
          <a:prstGeom prst="rect">
            <a:avLst/>
          </a:prstGeom>
          <a:noFill/>
          <a:ln/>
        </p:spPr>
        <p:txBody>
          <a:bodyPr wrap="square" lIns="0" tIns="0" rIns="0" bIns="0" rtlCol="0" anchor="t"/>
          <a:lstStyle/>
          <a:p>
            <a:pPr indent="0" marL="0">
              <a:buNone/>
            </a:pPr>
            <a:r>
              <a:rPr lang="en-US" sz="1050" b="1" dirty="0">
                <a:solidFill>
                  <a:srgbClr val="00A896"/>
                </a:solidFill>
                <a:latin typeface="Courier New" pitchFamily="34" charset="0"/>
                <a:ea typeface="Courier New" pitchFamily="34" charset="-122"/>
                <a:cs typeface="Courier New" pitchFamily="34" charset="-120"/>
              </a:rPr>
              <a:t>inference.py · clinical_decision</a:t>
            </a:r>
            <a:endParaRPr lang="en-US" sz="1050" dirty="0"/>
          </a:p>
        </p:txBody>
      </p:sp>
      <p:sp>
        <p:nvSpPr>
          <p:cNvPr id="6" name="Text 4"/>
          <p:cNvSpPr txBox="1"/>
          <p:nvPr/>
        </p:nvSpPr>
        <p:spPr>
          <a:xfrm>
            <a:off x="804672" y="1847088"/>
            <a:ext cx="6035040" cy="3611880"/>
          </a:xfrm>
          <a:prstGeom prst="rect">
            <a:avLst/>
          </a:prstGeom>
          <a:noFill/>
          <a:ln/>
        </p:spPr>
        <p:txBody>
          <a:bodyPr wrap="square" lIns="0" tIns="0" rIns="0" bIns="0" rtlCol="0" anchor="t"/>
          <a:lstStyle/>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tumor_probability = 1.0 - probs[no_tumor_index]</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argmax_class      = probs.argmax()</a:t>
            </a:r>
            <a:endParaRPr lang="en-US" sz="1000" dirty="0"/>
          </a:p>
          <a:p>
            <a:pPr indent="0" marL="0">
              <a:lnSpc>
                <a:spcPct val="118000"/>
              </a:lnSpc>
              <a:buNone/>
            </a:pP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sensitivity-first override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if (tumor_probability &gt;= 0.30</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and argmax_class == no_tumor_index):</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best_tumor = tumor_indices[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probs[tumor_indices].argmax()]</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selected_class = best_tumor     # surface it</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else:</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selected_class = argmax_class</a:t>
            </a:r>
            <a:endParaRPr lang="en-US" sz="1000" dirty="0"/>
          </a:p>
          <a:p>
            <a:pPr indent="0" marL="0">
              <a:lnSpc>
                <a:spcPct val="118000"/>
              </a:lnSpc>
              <a:buNone/>
            </a:pP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return {"pred_class": selected_class,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"potential_tumor": tumor_probability &gt;= 0.30,</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"safety_alert": "Potential Tumor Detected: "</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"requires radiologist review.",</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"threshold_override": selected_class</a:t>
            </a:r>
            <a:endParaRPr lang="en-US" sz="1000" dirty="0"/>
          </a:p>
          <a:p>
            <a:pPr indent="0" marL="0">
              <a:lnSpc>
                <a:spcPct val="118000"/>
              </a:lnSpc>
              <a:buNone/>
            </a:pPr>
            <a:r>
              <a:rPr lang="en-US" sz="1000" dirty="0">
                <a:solidFill>
                  <a:srgbClr val="DCE9F7"/>
                </a:solidFill>
                <a:latin typeface="Courier New" pitchFamily="34" charset="0"/>
                <a:ea typeface="Courier New" pitchFamily="34" charset="-122"/>
                <a:cs typeface="Courier New" pitchFamily="34" charset="-120"/>
              </a:rPr>
              <a:t>                              != argmax_class}</a:t>
            </a:r>
            <a:endParaRPr lang="en-US" sz="1000" dirty="0"/>
          </a:p>
        </p:txBody>
      </p:sp>
      <p:sp>
        <p:nvSpPr>
          <p:cNvPr id="7" name="Shape 5"/>
          <p:cNvSpPr/>
          <p:nvPr/>
        </p:nvSpPr>
        <p:spPr>
          <a:xfrm>
            <a:off x="7360920" y="137160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8" name="Text 6"/>
          <p:cNvSpPr txBox="1"/>
          <p:nvPr/>
        </p:nvSpPr>
        <p:spPr>
          <a:xfrm>
            <a:off x="7616952" y="1554480"/>
            <a:ext cx="3749040" cy="256032"/>
          </a:xfrm>
          <a:prstGeom prst="rect">
            <a:avLst/>
          </a:prstGeom>
          <a:noFill/>
          <a:ln/>
        </p:spPr>
        <p:txBody>
          <a:bodyPr wrap="square" lIns="0" tIns="0" rIns="0" bIns="0" rtlCol="0" anchor="t"/>
          <a:lstStyle/>
          <a:p>
            <a:pPr indent="0" marL="0">
              <a:buNone/>
            </a:pPr>
            <a:r>
              <a:rPr lang="en-US" sz="1300" b="1" dirty="0">
                <a:solidFill>
                  <a:srgbClr val="0E2A47"/>
                </a:solidFill>
                <a:latin typeface="Calibri" pitchFamily="34" charset="0"/>
                <a:ea typeface="Calibri" pitchFamily="34" charset="-122"/>
                <a:cs typeface="Calibri" pitchFamily="34" charset="-120"/>
              </a:rPr>
              <a:t>What this code does</a:t>
            </a:r>
            <a:endParaRPr lang="en-US" sz="1300" dirty="0"/>
          </a:p>
        </p:txBody>
      </p:sp>
      <p:sp>
        <p:nvSpPr>
          <p:cNvPr id="9" name="Text 7"/>
          <p:cNvSpPr txBox="1"/>
          <p:nvPr/>
        </p:nvSpPr>
        <p:spPr>
          <a:xfrm>
            <a:off x="7616952" y="185623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If the four class probabilities sum to 30% or more on the tumour classes while the single largest is still No_Tumor, the most likely tumour class is surfaced instead, with an explicit alert.</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Example: Glioma 0.20, Meningioma 0.15, Pituitary 0.05, No_Tumor 0.60 → argmax says healthy, but 40% of the mass says tumour. The reader is told.</a:t>
            </a:r>
            <a:endParaRPr lang="en-US" sz="1100" dirty="0"/>
          </a:p>
        </p:txBody>
      </p:sp>
      <p:sp>
        <p:nvSpPr>
          <p:cNvPr id="10" name="Shape 8"/>
          <p:cNvSpPr/>
          <p:nvPr/>
        </p:nvSpPr>
        <p:spPr>
          <a:xfrm>
            <a:off x="7360920" y="3611880"/>
            <a:ext cx="4251960" cy="1965960"/>
          </a:xfrm>
          <a:prstGeom prst="roundRect">
            <a:avLst>
              <a:gd name="adj" fmla="val 372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1" name="Text 9"/>
          <p:cNvSpPr txBox="1"/>
          <p:nvPr/>
        </p:nvSpPr>
        <p:spPr>
          <a:xfrm>
            <a:off x="7616952" y="3794760"/>
            <a:ext cx="3749040" cy="256032"/>
          </a:xfrm>
          <a:prstGeom prst="rect">
            <a:avLst/>
          </a:prstGeom>
          <a:noFill/>
          <a:ln/>
        </p:spPr>
        <p:txBody>
          <a:bodyPr wrap="square" lIns="0" tIns="0" rIns="0" bIns="0" rtlCol="0" anchor="t"/>
          <a:lstStyle/>
          <a:p>
            <a:pPr indent="0" marL="0">
              <a:buNone/>
            </a:pPr>
            <a:r>
              <a:rPr lang="en-US" sz="1300" b="1" dirty="0">
                <a:solidFill>
                  <a:srgbClr val="E9973F"/>
                </a:solidFill>
                <a:latin typeface="Calibri" pitchFamily="34" charset="0"/>
                <a:ea typeface="Calibri" pitchFamily="34" charset="-122"/>
                <a:cs typeface="Calibri" pitchFamily="34" charset="-120"/>
              </a:rPr>
              <a:t>Why it matters here</a:t>
            </a:r>
            <a:endParaRPr lang="en-US" sz="1300" dirty="0"/>
          </a:p>
        </p:txBody>
      </p:sp>
      <p:sp>
        <p:nvSpPr>
          <p:cNvPr id="12" name="Text 10"/>
          <p:cNvSpPr txBox="1"/>
          <p:nvPr/>
        </p:nvSpPr>
        <p:spPr>
          <a:xfrm>
            <a:off x="7616952" y="4096512"/>
            <a:ext cx="3749040" cy="13716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The paper's system returns the argmax and a bar plot. In screening, a missed tumour costs far more than a false alarm, so an argmax-only rule is the wrong default.</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Crucially the raw probabilities are returned unchanged and `threshold_override` records that the rule fired — nothing is hidden, the reader can always see what the model actually said.</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This is paired with the &lt; 70% low-confidence flag.</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WHAT WE CHANGED · WHY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Upgrades 1–3 — the model itself</a:t>
            </a:r>
            <a:endParaRPr lang="en-US" sz="3200" dirty="0"/>
          </a:p>
        </p:txBody>
      </p:sp>
      <p:sp>
        <p:nvSpPr>
          <p:cNvPr id="4" name="Shape 2"/>
          <p:cNvSpPr/>
          <p:nvPr/>
        </p:nvSpPr>
        <p:spPr>
          <a:xfrm>
            <a:off x="548640" y="1371600"/>
            <a:ext cx="11064240" cy="1417320"/>
          </a:xfrm>
          <a:prstGeom prst="roundRect">
            <a:avLst>
              <a:gd name="adj" fmla="val 516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822960" y="1536192"/>
            <a:ext cx="2286000" cy="292608"/>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Backbone</a:t>
            </a:r>
            <a:endParaRPr lang="en-US" sz="1400" dirty="0"/>
          </a:p>
        </p:txBody>
      </p:sp>
      <p:sp>
        <p:nvSpPr>
          <p:cNvPr id="6" name="Text 4"/>
          <p:cNvSpPr txBox="1"/>
          <p:nvPr/>
        </p:nvSpPr>
        <p:spPr>
          <a:xfrm>
            <a:off x="822960" y="1901952"/>
            <a:ext cx="2286000" cy="201168"/>
          </a:xfrm>
          <a:prstGeom prst="rect">
            <a:avLst/>
          </a:prstGeom>
          <a:noFill/>
          <a:ln/>
        </p:spPr>
        <p:txBody>
          <a:bodyPr wrap="square" lIns="0" tIns="0" rIns="0" bIns="0" rtlCol="0" anchor="ctr"/>
          <a:lstStyle/>
          <a:p>
            <a:pPr indent="0" marL="0">
              <a:buNone/>
            </a:pPr>
            <a:r>
              <a:rPr lang="en-US" sz="900" b="1" spc="100" kern="0" dirty="0">
                <a:solidFill>
                  <a:srgbClr val="5B6E88"/>
                </a:solidFill>
                <a:latin typeface="Calibri" pitchFamily="34" charset="0"/>
                <a:ea typeface="Calibri" pitchFamily="34" charset="-122"/>
                <a:cs typeface="Calibri" pitchFamily="34" charset="-120"/>
              </a:rPr>
              <a:t>PAPER</a:t>
            </a:r>
            <a:endParaRPr lang="en-US" sz="900" dirty="0"/>
          </a:p>
        </p:txBody>
      </p:sp>
      <p:sp>
        <p:nvSpPr>
          <p:cNvPr id="7" name="Text 5"/>
          <p:cNvSpPr txBox="1"/>
          <p:nvPr/>
        </p:nvSpPr>
        <p:spPr>
          <a:xfrm>
            <a:off x="822960" y="2103120"/>
            <a:ext cx="3566160" cy="54864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Custom 3-block CNN, 1.15 M params, trained from scratch</a:t>
            </a:r>
            <a:endParaRPr lang="en-US" sz="1050" dirty="0"/>
          </a:p>
        </p:txBody>
      </p:sp>
      <p:sp>
        <p:nvSpPr>
          <p:cNvPr id="8" name="Text 6"/>
          <p:cNvSpPr txBox="1"/>
          <p:nvPr/>
        </p:nvSpPr>
        <p:spPr>
          <a:xfrm>
            <a:off x="4572000" y="1901952"/>
            <a:ext cx="2286000" cy="201168"/>
          </a:xfrm>
          <a:prstGeom prst="rect">
            <a:avLst/>
          </a:prstGeom>
          <a:noFill/>
          <a:ln/>
        </p:spPr>
        <p:txBody>
          <a:bodyPr wrap="square" lIns="0" tIns="0" rIns="0" bIns="0" rtlCol="0" anchor="ctr"/>
          <a:lstStyle/>
          <a:p>
            <a:pPr indent="0" marL="0">
              <a:buNone/>
            </a:pPr>
            <a:r>
              <a:rPr lang="en-US" sz="900" b="1" spc="100" kern="0" dirty="0">
                <a:solidFill>
                  <a:srgbClr val="00A896"/>
                </a:solidFill>
                <a:latin typeface="Calibri" pitchFamily="34" charset="0"/>
                <a:ea typeface="Calibri" pitchFamily="34" charset="-122"/>
                <a:cs typeface="Calibri" pitchFamily="34" charset="-120"/>
              </a:rPr>
              <a:t>OURS</a:t>
            </a:r>
            <a:endParaRPr lang="en-US" sz="900" dirty="0"/>
          </a:p>
        </p:txBody>
      </p:sp>
      <p:sp>
        <p:nvSpPr>
          <p:cNvPr id="9" name="Text 7"/>
          <p:cNvSpPr txBox="1"/>
          <p:nvPr/>
        </p:nvSpPr>
        <p:spPr>
          <a:xfrm>
            <a:off x="4572000" y="2103120"/>
            <a:ext cx="3017520" cy="548640"/>
          </a:xfrm>
          <a:prstGeom prst="rect">
            <a:avLst/>
          </a:prstGeom>
          <a:noFill/>
          <a:ln/>
        </p:spPr>
        <p:txBody>
          <a:bodyPr wrap="square" lIns="0" tIns="0" rIns="0" bIns="0" rtlCol="0" anchor="ctr"/>
          <a:lstStyle/>
          <a:p>
            <a:pPr indent="0" marL="0">
              <a:buNone/>
            </a:pPr>
            <a:r>
              <a:rPr lang="en-US" sz="1050" b="1" dirty="0">
                <a:solidFill>
                  <a:srgbClr val="12263A"/>
                </a:solidFill>
                <a:latin typeface="Calibri" pitchFamily="34" charset="0"/>
                <a:ea typeface="Calibri" pitchFamily="34" charset="-122"/>
                <a:cs typeface="Calibri" pitchFamily="34" charset="-120"/>
              </a:rPr>
              <a:t>ResNet50 + CBAM, 27.07 M params, ImageNet-pretrained</a:t>
            </a:r>
            <a:endParaRPr lang="en-US" sz="1050" dirty="0"/>
          </a:p>
        </p:txBody>
      </p:sp>
      <p:sp>
        <p:nvSpPr>
          <p:cNvPr id="10" name="Text 8"/>
          <p:cNvSpPr txBox="1"/>
          <p:nvPr/>
        </p:nvSpPr>
        <p:spPr>
          <a:xfrm>
            <a:off x="7955280" y="1536192"/>
            <a:ext cx="2286000" cy="201168"/>
          </a:xfrm>
          <a:prstGeom prst="rect">
            <a:avLst/>
          </a:prstGeom>
          <a:noFill/>
          <a:ln/>
        </p:spPr>
        <p:txBody>
          <a:bodyPr wrap="square" lIns="0" tIns="0" rIns="0" bIns="0" rtlCol="0" anchor="ctr"/>
          <a:lstStyle/>
          <a:p>
            <a:pPr indent="0" marL="0">
              <a:buNone/>
            </a:pPr>
            <a:r>
              <a:rPr lang="en-US" sz="900" b="1" spc="100" kern="0" dirty="0">
                <a:solidFill>
                  <a:srgbClr val="E9973F"/>
                </a:solidFill>
                <a:latin typeface="Calibri" pitchFamily="34" charset="0"/>
                <a:ea typeface="Calibri" pitchFamily="34" charset="-122"/>
                <a:cs typeface="Calibri" pitchFamily="34" charset="-120"/>
              </a:rPr>
              <a:t>WHY</a:t>
            </a:r>
            <a:endParaRPr lang="en-US" sz="900" dirty="0"/>
          </a:p>
        </p:txBody>
      </p:sp>
      <p:sp>
        <p:nvSpPr>
          <p:cNvPr id="11" name="Text 9"/>
          <p:cNvSpPr txBox="1"/>
          <p:nvPr/>
        </p:nvSpPr>
        <p:spPr>
          <a:xfrm>
            <a:off x="7955280" y="1755648"/>
            <a:ext cx="3383280" cy="914400"/>
          </a:xfrm>
          <a:prstGeom prst="rect">
            <a:avLst/>
          </a:prstGeom>
          <a:noFill/>
          <a:ln/>
        </p:spPr>
        <p:txBody>
          <a:bodyPr wrap="square" lIns="0" tIns="0" rIns="0" bIns="0" rtlCol="0" anchor="ctr"/>
          <a:lstStyle/>
          <a:p>
            <a:pPr indent="0" marL="0">
              <a:buNone/>
            </a:pPr>
            <a:r>
              <a:rPr lang="en-US" sz="1050" dirty="0">
                <a:solidFill>
                  <a:srgbClr val="12263A"/>
                </a:solidFill>
                <a:latin typeface="Calibri" pitchFamily="34" charset="0"/>
                <a:ea typeface="Calibri" pitchFamily="34" charset="-122"/>
                <a:cs typeface="Calibri" pitchFamily="34" charset="-120"/>
              </a:rPr>
              <a:t>A shallow net trained from scratch on ~9k images cannot learn general visual structure. Transfer learning imports it.</a:t>
            </a:r>
            <a:endParaRPr lang="en-US" sz="1050" dirty="0"/>
          </a:p>
        </p:txBody>
      </p:sp>
      <p:sp>
        <p:nvSpPr>
          <p:cNvPr id="12" name="Shape 10"/>
          <p:cNvSpPr/>
          <p:nvPr/>
        </p:nvSpPr>
        <p:spPr>
          <a:xfrm>
            <a:off x="548640" y="2944368"/>
            <a:ext cx="11064240" cy="1417320"/>
          </a:xfrm>
          <a:prstGeom prst="roundRect">
            <a:avLst>
              <a:gd name="adj" fmla="val 516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3" name="Text 11"/>
          <p:cNvSpPr txBox="1"/>
          <p:nvPr/>
        </p:nvSpPr>
        <p:spPr>
          <a:xfrm>
            <a:off x="822960" y="3108960"/>
            <a:ext cx="2286000" cy="292608"/>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Input resolution</a:t>
            </a:r>
            <a:endParaRPr lang="en-US" sz="1400" dirty="0"/>
          </a:p>
        </p:txBody>
      </p:sp>
      <p:sp>
        <p:nvSpPr>
          <p:cNvPr id="14" name="Text 12"/>
          <p:cNvSpPr txBox="1"/>
          <p:nvPr/>
        </p:nvSpPr>
        <p:spPr>
          <a:xfrm>
            <a:off x="822960" y="3474720"/>
            <a:ext cx="2286000" cy="201168"/>
          </a:xfrm>
          <a:prstGeom prst="rect">
            <a:avLst/>
          </a:prstGeom>
          <a:noFill/>
          <a:ln/>
        </p:spPr>
        <p:txBody>
          <a:bodyPr wrap="square" lIns="0" tIns="0" rIns="0" bIns="0" rtlCol="0" anchor="ctr"/>
          <a:lstStyle/>
          <a:p>
            <a:pPr indent="0" marL="0">
              <a:buNone/>
            </a:pPr>
            <a:r>
              <a:rPr lang="en-US" sz="900" b="1" spc="100" kern="0" dirty="0">
                <a:solidFill>
                  <a:srgbClr val="5B6E88"/>
                </a:solidFill>
                <a:latin typeface="Calibri" pitchFamily="34" charset="0"/>
                <a:ea typeface="Calibri" pitchFamily="34" charset="-122"/>
                <a:cs typeface="Calibri" pitchFamily="34" charset="-120"/>
              </a:rPr>
              <a:t>PAPER</a:t>
            </a:r>
            <a:endParaRPr lang="en-US" sz="900" dirty="0"/>
          </a:p>
        </p:txBody>
      </p:sp>
      <p:sp>
        <p:nvSpPr>
          <p:cNvPr id="15" name="Text 13"/>
          <p:cNvSpPr txBox="1"/>
          <p:nvPr/>
        </p:nvSpPr>
        <p:spPr>
          <a:xfrm>
            <a:off x="822960" y="3675888"/>
            <a:ext cx="3566160" cy="54864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64 × 64 — the authors call this a compute compromise</a:t>
            </a:r>
            <a:endParaRPr lang="en-US" sz="1050" dirty="0"/>
          </a:p>
        </p:txBody>
      </p:sp>
      <p:sp>
        <p:nvSpPr>
          <p:cNvPr id="16" name="Text 14"/>
          <p:cNvSpPr txBox="1"/>
          <p:nvPr/>
        </p:nvSpPr>
        <p:spPr>
          <a:xfrm>
            <a:off x="4572000" y="3474720"/>
            <a:ext cx="2286000" cy="201168"/>
          </a:xfrm>
          <a:prstGeom prst="rect">
            <a:avLst/>
          </a:prstGeom>
          <a:noFill/>
          <a:ln/>
        </p:spPr>
        <p:txBody>
          <a:bodyPr wrap="square" lIns="0" tIns="0" rIns="0" bIns="0" rtlCol="0" anchor="ctr"/>
          <a:lstStyle/>
          <a:p>
            <a:pPr indent="0" marL="0">
              <a:buNone/>
            </a:pPr>
            <a:r>
              <a:rPr lang="en-US" sz="900" b="1" spc="100" kern="0" dirty="0">
                <a:solidFill>
                  <a:srgbClr val="00A896"/>
                </a:solidFill>
                <a:latin typeface="Calibri" pitchFamily="34" charset="0"/>
                <a:ea typeface="Calibri" pitchFamily="34" charset="-122"/>
                <a:cs typeface="Calibri" pitchFamily="34" charset="-120"/>
              </a:rPr>
              <a:t>OURS</a:t>
            </a:r>
            <a:endParaRPr lang="en-US" sz="900" dirty="0"/>
          </a:p>
        </p:txBody>
      </p:sp>
      <p:sp>
        <p:nvSpPr>
          <p:cNvPr id="17" name="Text 15"/>
          <p:cNvSpPr txBox="1"/>
          <p:nvPr/>
        </p:nvSpPr>
        <p:spPr>
          <a:xfrm>
            <a:off x="4572000" y="3675888"/>
            <a:ext cx="3017520" cy="548640"/>
          </a:xfrm>
          <a:prstGeom prst="rect">
            <a:avLst/>
          </a:prstGeom>
          <a:noFill/>
          <a:ln/>
        </p:spPr>
        <p:txBody>
          <a:bodyPr wrap="square" lIns="0" tIns="0" rIns="0" bIns="0" rtlCol="0" anchor="ctr"/>
          <a:lstStyle/>
          <a:p>
            <a:pPr indent="0" marL="0">
              <a:buNone/>
            </a:pPr>
            <a:r>
              <a:rPr lang="en-US" sz="1050" b="1" dirty="0">
                <a:solidFill>
                  <a:srgbClr val="12263A"/>
                </a:solidFill>
                <a:latin typeface="Calibri" pitchFamily="34" charset="0"/>
                <a:ea typeface="Calibri" pitchFamily="34" charset="-122"/>
                <a:cs typeface="Calibri" pitchFamily="34" charset="-120"/>
              </a:rPr>
              <a:t>144 × 144</a:t>
            </a:r>
            <a:endParaRPr lang="en-US" sz="1050" dirty="0"/>
          </a:p>
        </p:txBody>
      </p:sp>
      <p:sp>
        <p:nvSpPr>
          <p:cNvPr id="18" name="Text 16"/>
          <p:cNvSpPr txBox="1"/>
          <p:nvPr/>
        </p:nvSpPr>
        <p:spPr>
          <a:xfrm>
            <a:off x="7955280" y="3108960"/>
            <a:ext cx="2286000" cy="201168"/>
          </a:xfrm>
          <a:prstGeom prst="rect">
            <a:avLst/>
          </a:prstGeom>
          <a:noFill/>
          <a:ln/>
        </p:spPr>
        <p:txBody>
          <a:bodyPr wrap="square" lIns="0" tIns="0" rIns="0" bIns="0" rtlCol="0" anchor="ctr"/>
          <a:lstStyle/>
          <a:p>
            <a:pPr indent="0" marL="0">
              <a:buNone/>
            </a:pPr>
            <a:r>
              <a:rPr lang="en-US" sz="900" b="1" spc="100" kern="0" dirty="0">
                <a:solidFill>
                  <a:srgbClr val="E9973F"/>
                </a:solidFill>
                <a:latin typeface="Calibri" pitchFamily="34" charset="0"/>
                <a:ea typeface="Calibri" pitchFamily="34" charset="-122"/>
                <a:cs typeface="Calibri" pitchFamily="34" charset="-120"/>
              </a:rPr>
              <a:t>WHY</a:t>
            </a:r>
            <a:endParaRPr lang="en-US" sz="900" dirty="0"/>
          </a:p>
        </p:txBody>
      </p:sp>
      <p:sp>
        <p:nvSpPr>
          <p:cNvPr id="19" name="Text 17"/>
          <p:cNvSpPr txBox="1"/>
          <p:nvPr/>
        </p:nvSpPr>
        <p:spPr>
          <a:xfrm>
            <a:off x="7955280" y="3328416"/>
            <a:ext cx="3383280" cy="914400"/>
          </a:xfrm>
          <a:prstGeom prst="rect">
            <a:avLst/>
          </a:prstGeom>
          <a:noFill/>
          <a:ln/>
        </p:spPr>
        <p:txBody>
          <a:bodyPr wrap="square" lIns="0" tIns="0" rIns="0" bIns="0" rtlCol="0" anchor="ctr"/>
          <a:lstStyle/>
          <a:p>
            <a:pPr indent="0" marL="0">
              <a:buNone/>
            </a:pPr>
            <a:r>
              <a:rPr lang="en-US" sz="1050" dirty="0">
                <a:solidFill>
                  <a:srgbClr val="12263A"/>
                </a:solidFill>
                <a:latin typeface="Calibri" pitchFamily="34" charset="0"/>
                <a:ea typeface="Calibri" pitchFamily="34" charset="-122"/>
                <a:cs typeface="Calibri" pitchFamily="34" charset="-120"/>
              </a:rPr>
              <a:t>Tumour margins are a few pixels wide. At 64×64 that detail is destroyed before the model ever sees it.</a:t>
            </a:r>
            <a:endParaRPr lang="en-US" sz="1050" dirty="0"/>
          </a:p>
        </p:txBody>
      </p:sp>
      <p:sp>
        <p:nvSpPr>
          <p:cNvPr id="20" name="Shape 18"/>
          <p:cNvSpPr/>
          <p:nvPr/>
        </p:nvSpPr>
        <p:spPr>
          <a:xfrm>
            <a:off x="548640" y="4517136"/>
            <a:ext cx="11064240" cy="1417320"/>
          </a:xfrm>
          <a:prstGeom prst="roundRect">
            <a:avLst>
              <a:gd name="adj" fmla="val 516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21" name="Text 19"/>
          <p:cNvSpPr txBox="1"/>
          <p:nvPr/>
        </p:nvSpPr>
        <p:spPr>
          <a:xfrm>
            <a:off x="822960" y="4681728"/>
            <a:ext cx="2286000" cy="292608"/>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Classifier</a:t>
            </a:r>
            <a:endParaRPr lang="en-US" sz="1400" dirty="0"/>
          </a:p>
        </p:txBody>
      </p:sp>
      <p:sp>
        <p:nvSpPr>
          <p:cNvPr id="22" name="Text 20"/>
          <p:cNvSpPr txBox="1"/>
          <p:nvPr/>
        </p:nvSpPr>
        <p:spPr>
          <a:xfrm>
            <a:off x="822960" y="5047488"/>
            <a:ext cx="2286000" cy="201168"/>
          </a:xfrm>
          <a:prstGeom prst="rect">
            <a:avLst/>
          </a:prstGeom>
          <a:noFill/>
          <a:ln/>
        </p:spPr>
        <p:txBody>
          <a:bodyPr wrap="square" lIns="0" tIns="0" rIns="0" bIns="0" rtlCol="0" anchor="ctr"/>
          <a:lstStyle/>
          <a:p>
            <a:pPr indent="0" marL="0">
              <a:buNone/>
            </a:pPr>
            <a:r>
              <a:rPr lang="en-US" sz="900" b="1" spc="100" kern="0" dirty="0">
                <a:solidFill>
                  <a:srgbClr val="5B6E88"/>
                </a:solidFill>
                <a:latin typeface="Calibri" pitchFamily="34" charset="0"/>
                <a:ea typeface="Calibri" pitchFamily="34" charset="-122"/>
                <a:cs typeface="Calibri" pitchFamily="34" charset="-120"/>
              </a:rPr>
              <a:t>PAPER</a:t>
            </a:r>
            <a:endParaRPr lang="en-US" sz="900" dirty="0"/>
          </a:p>
        </p:txBody>
      </p:sp>
      <p:sp>
        <p:nvSpPr>
          <p:cNvPr id="23" name="Text 21"/>
          <p:cNvSpPr txBox="1"/>
          <p:nvPr/>
        </p:nvSpPr>
        <p:spPr>
          <a:xfrm>
            <a:off x="822960" y="5248656"/>
            <a:ext cx="3566160" cy="54864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Two stages: freeze CNN → StandardScaler → RBF-SVM</a:t>
            </a:r>
            <a:endParaRPr lang="en-US" sz="1050" dirty="0"/>
          </a:p>
        </p:txBody>
      </p:sp>
      <p:sp>
        <p:nvSpPr>
          <p:cNvPr id="24" name="Text 22"/>
          <p:cNvSpPr txBox="1"/>
          <p:nvPr/>
        </p:nvSpPr>
        <p:spPr>
          <a:xfrm>
            <a:off x="4572000" y="5047488"/>
            <a:ext cx="2286000" cy="201168"/>
          </a:xfrm>
          <a:prstGeom prst="rect">
            <a:avLst/>
          </a:prstGeom>
          <a:noFill/>
          <a:ln/>
        </p:spPr>
        <p:txBody>
          <a:bodyPr wrap="square" lIns="0" tIns="0" rIns="0" bIns="0" rtlCol="0" anchor="ctr"/>
          <a:lstStyle/>
          <a:p>
            <a:pPr indent="0" marL="0">
              <a:buNone/>
            </a:pPr>
            <a:r>
              <a:rPr lang="en-US" sz="900" b="1" spc="100" kern="0" dirty="0">
                <a:solidFill>
                  <a:srgbClr val="00A896"/>
                </a:solidFill>
                <a:latin typeface="Calibri" pitchFamily="34" charset="0"/>
                <a:ea typeface="Calibri" pitchFamily="34" charset="-122"/>
                <a:cs typeface="Calibri" pitchFamily="34" charset="-120"/>
              </a:rPr>
              <a:t>OURS</a:t>
            </a:r>
            <a:endParaRPr lang="en-US" sz="900" dirty="0"/>
          </a:p>
        </p:txBody>
      </p:sp>
      <p:sp>
        <p:nvSpPr>
          <p:cNvPr id="25" name="Text 23"/>
          <p:cNvSpPr txBox="1"/>
          <p:nvPr/>
        </p:nvSpPr>
        <p:spPr>
          <a:xfrm>
            <a:off x="4572000" y="5248656"/>
            <a:ext cx="3017520" cy="548640"/>
          </a:xfrm>
          <a:prstGeom prst="rect">
            <a:avLst/>
          </a:prstGeom>
          <a:noFill/>
          <a:ln/>
        </p:spPr>
        <p:txBody>
          <a:bodyPr wrap="square" lIns="0" tIns="0" rIns="0" bIns="0" rtlCol="0" anchor="ctr"/>
          <a:lstStyle/>
          <a:p>
            <a:pPr indent="0" marL="0">
              <a:buNone/>
            </a:pPr>
            <a:r>
              <a:rPr lang="en-US" sz="1050" b="1" dirty="0">
                <a:solidFill>
                  <a:srgbClr val="12263A"/>
                </a:solidFill>
                <a:latin typeface="Calibri" pitchFamily="34" charset="0"/>
                <a:ea typeface="Calibri" pitchFamily="34" charset="-122"/>
                <a:cs typeface="Calibri" pitchFamily="34" charset="-120"/>
              </a:rPr>
              <a:t>One stage: jointly trained fusion head with softmax</a:t>
            </a:r>
            <a:endParaRPr lang="en-US" sz="1050" dirty="0"/>
          </a:p>
        </p:txBody>
      </p:sp>
      <p:sp>
        <p:nvSpPr>
          <p:cNvPr id="26" name="Text 24"/>
          <p:cNvSpPr txBox="1"/>
          <p:nvPr/>
        </p:nvSpPr>
        <p:spPr>
          <a:xfrm>
            <a:off x="7955280" y="4681728"/>
            <a:ext cx="2286000" cy="201168"/>
          </a:xfrm>
          <a:prstGeom prst="rect">
            <a:avLst/>
          </a:prstGeom>
          <a:noFill/>
          <a:ln/>
        </p:spPr>
        <p:txBody>
          <a:bodyPr wrap="square" lIns="0" tIns="0" rIns="0" bIns="0" rtlCol="0" anchor="ctr"/>
          <a:lstStyle/>
          <a:p>
            <a:pPr indent="0" marL="0">
              <a:buNone/>
            </a:pPr>
            <a:r>
              <a:rPr lang="en-US" sz="900" b="1" spc="100" kern="0" dirty="0">
                <a:solidFill>
                  <a:srgbClr val="E9973F"/>
                </a:solidFill>
                <a:latin typeface="Calibri" pitchFamily="34" charset="0"/>
                <a:ea typeface="Calibri" pitchFamily="34" charset="-122"/>
                <a:cs typeface="Calibri" pitchFamily="34" charset="-120"/>
              </a:rPr>
              <a:t>WHY</a:t>
            </a:r>
            <a:endParaRPr lang="en-US" sz="900" dirty="0"/>
          </a:p>
        </p:txBody>
      </p:sp>
      <p:sp>
        <p:nvSpPr>
          <p:cNvPr id="27" name="Text 25"/>
          <p:cNvSpPr txBox="1"/>
          <p:nvPr/>
        </p:nvSpPr>
        <p:spPr>
          <a:xfrm>
            <a:off x="7955280" y="4901184"/>
            <a:ext cx="3383280" cy="914400"/>
          </a:xfrm>
          <a:prstGeom prst="rect">
            <a:avLst/>
          </a:prstGeom>
          <a:noFill/>
          <a:ln/>
        </p:spPr>
        <p:txBody>
          <a:bodyPr wrap="square" lIns="0" tIns="0" rIns="0" bIns="0" rtlCol="0" anchor="ctr"/>
          <a:lstStyle/>
          <a:p>
            <a:pPr indent="0" marL="0">
              <a:buNone/>
            </a:pPr>
            <a:r>
              <a:rPr lang="en-US" sz="1050" dirty="0">
                <a:solidFill>
                  <a:srgbClr val="12263A"/>
                </a:solidFill>
                <a:latin typeface="Calibri" pitchFamily="34" charset="0"/>
                <a:ea typeface="Calibri" pitchFamily="34" charset="-122"/>
                <a:cs typeface="Calibri" pitchFamily="34" charset="-120"/>
              </a:rPr>
              <a:t>With a frozen backbone the CNN never learns from the classifier's errors. End-to-end lets both branches adapt to the final objective.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WHAT WE CHANGED · WHY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Upgrades 4–6 — how it learns</a:t>
            </a:r>
            <a:endParaRPr lang="en-US" sz="3200" dirty="0"/>
          </a:p>
        </p:txBody>
      </p:sp>
      <p:sp>
        <p:nvSpPr>
          <p:cNvPr id="4" name="Shape 2"/>
          <p:cNvSpPr/>
          <p:nvPr/>
        </p:nvSpPr>
        <p:spPr>
          <a:xfrm>
            <a:off x="548640" y="1371600"/>
            <a:ext cx="11064240" cy="1417320"/>
          </a:xfrm>
          <a:prstGeom prst="roundRect">
            <a:avLst>
              <a:gd name="adj" fmla="val 516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5" name="Text 3"/>
          <p:cNvSpPr txBox="1"/>
          <p:nvPr/>
        </p:nvSpPr>
        <p:spPr>
          <a:xfrm>
            <a:off x="822960" y="1536192"/>
            <a:ext cx="2377440" cy="292608"/>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HOG pathway</a:t>
            </a:r>
            <a:endParaRPr lang="en-US" sz="1400" dirty="0"/>
          </a:p>
        </p:txBody>
      </p:sp>
      <p:sp>
        <p:nvSpPr>
          <p:cNvPr id="6" name="Text 4"/>
          <p:cNvSpPr txBox="1"/>
          <p:nvPr/>
        </p:nvSpPr>
        <p:spPr>
          <a:xfrm>
            <a:off x="822960" y="1901952"/>
            <a:ext cx="2286000" cy="201168"/>
          </a:xfrm>
          <a:prstGeom prst="rect">
            <a:avLst/>
          </a:prstGeom>
          <a:noFill/>
          <a:ln/>
        </p:spPr>
        <p:txBody>
          <a:bodyPr wrap="square" lIns="0" tIns="0" rIns="0" bIns="0" rtlCol="0" anchor="ctr"/>
          <a:lstStyle/>
          <a:p>
            <a:pPr indent="0" marL="0">
              <a:buNone/>
            </a:pPr>
            <a:r>
              <a:rPr lang="en-US" sz="900" b="1" spc="100" kern="0" dirty="0">
                <a:solidFill>
                  <a:srgbClr val="5B6E88"/>
                </a:solidFill>
                <a:latin typeface="Calibri" pitchFamily="34" charset="0"/>
                <a:ea typeface="Calibri" pitchFamily="34" charset="-122"/>
                <a:cs typeface="Calibri" pitchFamily="34" charset="-120"/>
              </a:rPr>
              <a:t>PAPER</a:t>
            </a:r>
            <a:endParaRPr lang="en-US" sz="900" dirty="0"/>
          </a:p>
        </p:txBody>
      </p:sp>
      <p:sp>
        <p:nvSpPr>
          <p:cNvPr id="7" name="Text 5"/>
          <p:cNvSpPr txBox="1"/>
          <p:nvPr/>
        </p:nvSpPr>
        <p:spPr>
          <a:xfrm>
            <a:off x="822960" y="2103120"/>
            <a:ext cx="3566160" cy="54864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288-d HOG fed straight into the fused vector</a:t>
            </a:r>
            <a:endParaRPr lang="en-US" sz="1050" dirty="0"/>
          </a:p>
        </p:txBody>
      </p:sp>
      <p:sp>
        <p:nvSpPr>
          <p:cNvPr id="8" name="Text 6"/>
          <p:cNvSpPr txBox="1"/>
          <p:nvPr/>
        </p:nvSpPr>
        <p:spPr>
          <a:xfrm>
            <a:off x="4572000" y="1901952"/>
            <a:ext cx="2286000" cy="201168"/>
          </a:xfrm>
          <a:prstGeom prst="rect">
            <a:avLst/>
          </a:prstGeom>
          <a:noFill/>
          <a:ln/>
        </p:spPr>
        <p:txBody>
          <a:bodyPr wrap="square" lIns="0" tIns="0" rIns="0" bIns="0" rtlCol="0" anchor="ctr"/>
          <a:lstStyle/>
          <a:p>
            <a:pPr indent="0" marL="0">
              <a:buNone/>
            </a:pPr>
            <a:r>
              <a:rPr lang="en-US" sz="900" b="1" spc="100" kern="0" dirty="0">
                <a:solidFill>
                  <a:srgbClr val="00A896"/>
                </a:solidFill>
                <a:latin typeface="Calibri" pitchFamily="34" charset="0"/>
                <a:ea typeface="Calibri" pitchFamily="34" charset="-122"/>
                <a:cs typeface="Calibri" pitchFamily="34" charset="-120"/>
              </a:rPr>
              <a:t>OURS</a:t>
            </a:r>
            <a:endParaRPr lang="en-US" sz="900" dirty="0"/>
          </a:p>
        </p:txBody>
      </p:sp>
      <p:sp>
        <p:nvSpPr>
          <p:cNvPr id="9" name="Text 7"/>
          <p:cNvSpPr txBox="1"/>
          <p:nvPr/>
        </p:nvSpPr>
        <p:spPr>
          <a:xfrm>
            <a:off x="4572000" y="2103120"/>
            <a:ext cx="3017520" cy="594360"/>
          </a:xfrm>
          <a:prstGeom prst="rect">
            <a:avLst/>
          </a:prstGeom>
          <a:noFill/>
          <a:ln/>
        </p:spPr>
        <p:txBody>
          <a:bodyPr wrap="square" lIns="0" tIns="0" rIns="0" bIns="0" rtlCol="0" anchor="ctr"/>
          <a:lstStyle/>
          <a:p>
            <a:pPr indent="0" marL="0">
              <a:buNone/>
            </a:pPr>
            <a:r>
              <a:rPr lang="en-US" sz="1050" b="1" dirty="0">
                <a:solidFill>
                  <a:srgbClr val="12263A"/>
                </a:solidFill>
                <a:latin typeface="Calibri" pitchFamily="34" charset="0"/>
                <a:ea typeface="Calibri" pitchFamily="34" charset="-122"/>
                <a:cs typeface="Calibri" pitchFamily="34" charset="-120"/>
              </a:rPr>
              <a:t>2048-d HOG → PCA → 288-d → learned MLP → 512-d</a:t>
            </a:r>
            <a:endParaRPr lang="en-US" sz="1050" dirty="0"/>
          </a:p>
        </p:txBody>
      </p:sp>
      <p:sp>
        <p:nvSpPr>
          <p:cNvPr id="10" name="Text 8"/>
          <p:cNvSpPr txBox="1"/>
          <p:nvPr/>
        </p:nvSpPr>
        <p:spPr>
          <a:xfrm>
            <a:off x="7955280" y="1536192"/>
            <a:ext cx="2286000" cy="201168"/>
          </a:xfrm>
          <a:prstGeom prst="rect">
            <a:avLst/>
          </a:prstGeom>
          <a:noFill/>
          <a:ln/>
        </p:spPr>
        <p:txBody>
          <a:bodyPr wrap="square" lIns="0" tIns="0" rIns="0" bIns="0" rtlCol="0" anchor="ctr"/>
          <a:lstStyle/>
          <a:p>
            <a:pPr indent="0" marL="0">
              <a:buNone/>
            </a:pPr>
            <a:r>
              <a:rPr lang="en-US" sz="900" b="1" spc="100" kern="0" dirty="0">
                <a:solidFill>
                  <a:srgbClr val="E9973F"/>
                </a:solidFill>
                <a:latin typeface="Calibri" pitchFamily="34" charset="0"/>
                <a:ea typeface="Calibri" pitchFamily="34" charset="-122"/>
                <a:cs typeface="Calibri" pitchFamily="34" charset="-120"/>
              </a:rPr>
              <a:t>WHY</a:t>
            </a:r>
            <a:endParaRPr lang="en-US" sz="900" dirty="0"/>
          </a:p>
        </p:txBody>
      </p:sp>
      <p:sp>
        <p:nvSpPr>
          <p:cNvPr id="11" name="Text 9"/>
          <p:cNvSpPr txBox="1"/>
          <p:nvPr/>
        </p:nvSpPr>
        <p:spPr>
          <a:xfrm>
            <a:off x="7955280" y="1755648"/>
            <a:ext cx="3383280" cy="960120"/>
          </a:xfrm>
          <a:prstGeom prst="rect">
            <a:avLst/>
          </a:prstGeom>
          <a:noFill/>
          <a:ln/>
        </p:spPr>
        <p:txBody>
          <a:bodyPr wrap="square" lIns="0" tIns="0" rIns="0" bIns="0" rtlCol="0" anchor="ctr"/>
          <a:lstStyle/>
          <a:p>
            <a:pPr indent="0" marL="0">
              <a:buNone/>
            </a:pPr>
            <a:r>
              <a:rPr lang="en-US" sz="1050" dirty="0">
                <a:solidFill>
                  <a:srgbClr val="12263A"/>
                </a:solidFill>
                <a:latin typeface="Calibri" pitchFamily="34" charset="0"/>
                <a:ea typeface="Calibri" pitchFamily="34" charset="-122"/>
                <a:cs typeface="Calibri" pitchFamily="34" charset="-120"/>
              </a:rPr>
              <a:t>A richer descriptor is captured first, then compressed by PCA fitted on training data only — more information survives than sampling 288 dimensions directly.</a:t>
            </a:r>
            <a:endParaRPr lang="en-US" sz="1050" dirty="0"/>
          </a:p>
        </p:txBody>
      </p:sp>
      <p:sp>
        <p:nvSpPr>
          <p:cNvPr id="12" name="Shape 10"/>
          <p:cNvSpPr/>
          <p:nvPr/>
        </p:nvSpPr>
        <p:spPr>
          <a:xfrm>
            <a:off x="548640" y="2944368"/>
            <a:ext cx="11064240" cy="1417320"/>
          </a:xfrm>
          <a:prstGeom prst="roundRect">
            <a:avLst>
              <a:gd name="adj" fmla="val 516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3" name="Text 11"/>
          <p:cNvSpPr txBox="1"/>
          <p:nvPr/>
        </p:nvSpPr>
        <p:spPr>
          <a:xfrm>
            <a:off x="822960" y="3108960"/>
            <a:ext cx="2377440" cy="292608"/>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Loss + optimiser</a:t>
            </a:r>
            <a:endParaRPr lang="en-US" sz="1400" dirty="0"/>
          </a:p>
        </p:txBody>
      </p:sp>
      <p:sp>
        <p:nvSpPr>
          <p:cNvPr id="14" name="Text 12"/>
          <p:cNvSpPr txBox="1"/>
          <p:nvPr/>
        </p:nvSpPr>
        <p:spPr>
          <a:xfrm>
            <a:off x="822960" y="3474720"/>
            <a:ext cx="2286000" cy="201168"/>
          </a:xfrm>
          <a:prstGeom prst="rect">
            <a:avLst/>
          </a:prstGeom>
          <a:noFill/>
          <a:ln/>
        </p:spPr>
        <p:txBody>
          <a:bodyPr wrap="square" lIns="0" tIns="0" rIns="0" bIns="0" rtlCol="0" anchor="ctr"/>
          <a:lstStyle/>
          <a:p>
            <a:pPr indent="0" marL="0">
              <a:buNone/>
            </a:pPr>
            <a:r>
              <a:rPr lang="en-US" sz="900" b="1" spc="100" kern="0" dirty="0">
                <a:solidFill>
                  <a:srgbClr val="5B6E88"/>
                </a:solidFill>
                <a:latin typeface="Calibri" pitchFamily="34" charset="0"/>
                <a:ea typeface="Calibri" pitchFamily="34" charset="-122"/>
                <a:cs typeface="Calibri" pitchFamily="34" charset="-120"/>
              </a:rPr>
              <a:t>PAPER</a:t>
            </a:r>
            <a:endParaRPr lang="en-US" sz="900" dirty="0"/>
          </a:p>
        </p:txBody>
      </p:sp>
      <p:sp>
        <p:nvSpPr>
          <p:cNvPr id="15" name="Text 13"/>
          <p:cNvSpPr txBox="1"/>
          <p:nvPr/>
        </p:nvSpPr>
        <p:spPr>
          <a:xfrm>
            <a:off x="822960" y="3675888"/>
            <a:ext cx="3566160" cy="54864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Sparse categorical cross-entropy, Adam defaults</a:t>
            </a:r>
            <a:endParaRPr lang="en-US" sz="1050" dirty="0"/>
          </a:p>
        </p:txBody>
      </p:sp>
      <p:sp>
        <p:nvSpPr>
          <p:cNvPr id="16" name="Text 14"/>
          <p:cNvSpPr txBox="1"/>
          <p:nvPr/>
        </p:nvSpPr>
        <p:spPr>
          <a:xfrm>
            <a:off x="4572000" y="3474720"/>
            <a:ext cx="2286000" cy="201168"/>
          </a:xfrm>
          <a:prstGeom prst="rect">
            <a:avLst/>
          </a:prstGeom>
          <a:noFill/>
          <a:ln/>
        </p:spPr>
        <p:txBody>
          <a:bodyPr wrap="square" lIns="0" tIns="0" rIns="0" bIns="0" rtlCol="0" anchor="ctr"/>
          <a:lstStyle/>
          <a:p>
            <a:pPr indent="0" marL="0">
              <a:buNone/>
            </a:pPr>
            <a:r>
              <a:rPr lang="en-US" sz="900" b="1" spc="100" kern="0" dirty="0">
                <a:solidFill>
                  <a:srgbClr val="00A896"/>
                </a:solidFill>
                <a:latin typeface="Calibri" pitchFamily="34" charset="0"/>
                <a:ea typeface="Calibri" pitchFamily="34" charset="-122"/>
                <a:cs typeface="Calibri" pitchFamily="34" charset="-120"/>
              </a:rPr>
              <a:t>OURS</a:t>
            </a:r>
            <a:endParaRPr lang="en-US" sz="900" dirty="0"/>
          </a:p>
        </p:txBody>
      </p:sp>
      <p:sp>
        <p:nvSpPr>
          <p:cNvPr id="17" name="Text 15"/>
          <p:cNvSpPr txBox="1"/>
          <p:nvPr/>
        </p:nvSpPr>
        <p:spPr>
          <a:xfrm>
            <a:off x="4572000" y="3675888"/>
            <a:ext cx="3017520" cy="594360"/>
          </a:xfrm>
          <a:prstGeom prst="rect">
            <a:avLst/>
          </a:prstGeom>
          <a:noFill/>
          <a:ln/>
        </p:spPr>
        <p:txBody>
          <a:bodyPr wrap="square" lIns="0" tIns="0" rIns="0" bIns="0" rtlCol="0" anchor="ctr"/>
          <a:lstStyle/>
          <a:p>
            <a:pPr indent="0" marL="0">
              <a:buNone/>
            </a:pPr>
            <a:r>
              <a:rPr lang="en-US" sz="1050" b="1" dirty="0">
                <a:solidFill>
                  <a:srgbClr val="12263A"/>
                </a:solidFill>
                <a:latin typeface="Calibri" pitchFamily="34" charset="0"/>
                <a:ea typeface="Calibri" pitchFamily="34" charset="-122"/>
                <a:cs typeface="Calibri" pitchFamily="34" charset="-120"/>
              </a:rPr>
              <a:t>Focal Loss (γ=2.0, inverse-frequency α), AdamW, cosine annealing, AMP fp16</a:t>
            </a:r>
            <a:endParaRPr lang="en-US" sz="1050" dirty="0"/>
          </a:p>
        </p:txBody>
      </p:sp>
      <p:sp>
        <p:nvSpPr>
          <p:cNvPr id="18" name="Text 16"/>
          <p:cNvSpPr txBox="1"/>
          <p:nvPr/>
        </p:nvSpPr>
        <p:spPr>
          <a:xfrm>
            <a:off x="7955280" y="3108960"/>
            <a:ext cx="2286000" cy="201168"/>
          </a:xfrm>
          <a:prstGeom prst="rect">
            <a:avLst/>
          </a:prstGeom>
          <a:noFill/>
          <a:ln/>
        </p:spPr>
        <p:txBody>
          <a:bodyPr wrap="square" lIns="0" tIns="0" rIns="0" bIns="0" rtlCol="0" anchor="ctr"/>
          <a:lstStyle/>
          <a:p>
            <a:pPr indent="0" marL="0">
              <a:buNone/>
            </a:pPr>
            <a:r>
              <a:rPr lang="en-US" sz="900" b="1" spc="100" kern="0" dirty="0">
                <a:solidFill>
                  <a:srgbClr val="E9973F"/>
                </a:solidFill>
                <a:latin typeface="Calibri" pitchFamily="34" charset="0"/>
                <a:ea typeface="Calibri" pitchFamily="34" charset="-122"/>
                <a:cs typeface="Calibri" pitchFamily="34" charset="-120"/>
              </a:rPr>
              <a:t>WHY</a:t>
            </a:r>
            <a:endParaRPr lang="en-US" sz="900" dirty="0"/>
          </a:p>
        </p:txBody>
      </p:sp>
      <p:sp>
        <p:nvSpPr>
          <p:cNvPr id="19" name="Text 17"/>
          <p:cNvSpPr txBox="1"/>
          <p:nvPr/>
        </p:nvSpPr>
        <p:spPr>
          <a:xfrm>
            <a:off x="7955280" y="3328416"/>
            <a:ext cx="3383280" cy="960120"/>
          </a:xfrm>
          <a:prstGeom prst="rect">
            <a:avLst/>
          </a:prstGeom>
          <a:noFill/>
          <a:ln/>
        </p:spPr>
        <p:txBody>
          <a:bodyPr wrap="square" lIns="0" tIns="0" rIns="0" bIns="0" rtlCol="0" anchor="ctr"/>
          <a:lstStyle/>
          <a:p>
            <a:pPr indent="0" marL="0">
              <a:buNone/>
            </a:pPr>
            <a:r>
              <a:rPr lang="en-US" sz="1050" dirty="0">
                <a:solidFill>
                  <a:srgbClr val="12263A"/>
                </a:solidFill>
                <a:latin typeface="Calibri" pitchFamily="34" charset="0"/>
                <a:ea typeface="Calibri" pitchFamily="34" charset="-122"/>
                <a:cs typeface="Calibri" pitchFamily="34" charset="-120"/>
              </a:rPr>
              <a:t>Focal loss concentrates gradient on hard boundary cases and handles class imbalance. Decoupled learning rates let a pretrained backbone adapt gently while the new head learns fast.</a:t>
            </a:r>
            <a:endParaRPr lang="en-US" sz="1050" dirty="0"/>
          </a:p>
        </p:txBody>
      </p:sp>
      <p:sp>
        <p:nvSpPr>
          <p:cNvPr id="20" name="Shape 18"/>
          <p:cNvSpPr/>
          <p:nvPr/>
        </p:nvSpPr>
        <p:spPr>
          <a:xfrm>
            <a:off x="548640" y="4517136"/>
            <a:ext cx="11064240" cy="1417320"/>
          </a:xfrm>
          <a:prstGeom prst="roundRect">
            <a:avLst>
              <a:gd name="adj" fmla="val 516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21" name="Text 19"/>
          <p:cNvSpPr txBox="1"/>
          <p:nvPr/>
        </p:nvSpPr>
        <p:spPr>
          <a:xfrm>
            <a:off x="822960" y="4681728"/>
            <a:ext cx="2377440" cy="292608"/>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Augmentation</a:t>
            </a:r>
            <a:endParaRPr lang="en-US" sz="1400" dirty="0"/>
          </a:p>
        </p:txBody>
      </p:sp>
      <p:sp>
        <p:nvSpPr>
          <p:cNvPr id="22" name="Text 20"/>
          <p:cNvSpPr txBox="1"/>
          <p:nvPr/>
        </p:nvSpPr>
        <p:spPr>
          <a:xfrm>
            <a:off x="822960" y="5047488"/>
            <a:ext cx="2286000" cy="201168"/>
          </a:xfrm>
          <a:prstGeom prst="rect">
            <a:avLst/>
          </a:prstGeom>
          <a:noFill/>
          <a:ln/>
        </p:spPr>
        <p:txBody>
          <a:bodyPr wrap="square" lIns="0" tIns="0" rIns="0" bIns="0" rtlCol="0" anchor="ctr"/>
          <a:lstStyle/>
          <a:p>
            <a:pPr indent="0" marL="0">
              <a:buNone/>
            </a:pPr>
            <a:r>
              <a:rPr lang="en-US" sz="900" b="1" spc="100" kern="0" dirty="0">
                <a:solidFill>
                  <a:srgbClr val="5B6E88"/>
                </a:solidFill>
                <a:latin typeface="Calibri" pitchFamily="34" charset="0"/>
                <a:ea typeface="Calibri" pitchFamily="34" charset="-122"/>
                <a:cs typeface="Calibri" pitchFamily="34" charset="-120"/>
              </a:rPr>
              <a:t>PAPER</a:t>
            </a:r>
            <a:endParaRPr lang="en-US" sz="900" dirty="0"/>
          </a:p>
        </p:txBody>
      </p:sp>
      <p:sp>
        <p:nvSpPr>
          <p:cNvPr id="23" name="Text 21"/>
          <p:cNvSpPr txBox="1"/>
          <p:nvPr/>
        </p:nvSpPr>
        <p:spPr>
          <a:xfrm>
            <a:off x="822960" y="5248656"/>
            <a:ext cx="3566160" cy="54864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±20° rotation, ±20% shift in both axes, horizontal flip</a:t>
            </a:r>
            <a:endParaRPr lang="en-US" sz="1050" dirty="0"/>
          </a:p>
        </p:txBody>
      </p:sp>
      <p:sp>
        <p:nvSpPr>
          <p:cNvPr id="24" name="Text 22"/>
          <p:cNvSpPr txBox="1"/>
          <p:nvPr/>
        </p:nvSpPr>
        <p:spPr>
          <a:xfrm>
            <a:off x="4572000" y="5047488"/>
            <a:ext cx="2286000" cy="201168"/>
          </a:xfrm>
          <a:prstGeom prst="rect">
            <a:avLst/>
          </a:prstGeom>
          <a:noFill/>
          <a:ln/>
        </p:spPr>
        <p:txBody>
          <a:bodyPr wrap="square" lIns="0" tIns="0" rIns="0" bIns="0" rtlCol="0" anchor="ctr"/>
          <a:lstStyle/>
          <a:p>
            <a:pPr indent="0" marL="0">
              <a:buNone/>
            </a:pPr>
            <a:r>
              <a:rPr lang="en-US" sz="900" b="1" spc="100" kern="0" dirty="0">
                <a:solidFill>
                  <a:srgbClr val="00A896"/>
                </a:solidFill>
                <a:latin typeface="Calibri" pitchFamily="34" charset="0"/>
                <a:ea typeface="Calibri" pitchFamily="34" charset="-122"/>
                <a:cs typeface="Calibri" pitchFamily="34" charset="-120"/>
              </a:rPr>
              <a:t>OURS</a:t>
            </a:r>
            <a:endParaRPr lang="en-US" sz="900" dirty="0"/>
          </a:p>
        </p:txBody>
      </p:sp>
      <p:sp>
        <p:nvSpPr>
          <p:cNvPr id="25" name="Text 23"/>
          <p:cNvSpPr txBox="1"/>
          <p:nvPr/>
        </p:nvSpPr>
        <p:spPr>
          <a:xfrm>
            <a:off x="4572000" y="5248656"/>
            <a:ext cx="3017520" cy="594360"/>
          </a:xfrm>
          <a:prstGeom prst="rect">
            <a:avLst/>
          </a:prstGeom>
          <a:noFill/>
          <a:ln/>
        </p:spPr>
        <p:txBody>
          <a:bodyPr wrap="square" lIns="0" tIns="0" rIns="0" bIns="0" rtlCol="0" anchor="ctr"/>
          <a:lstStyle/>
          <a:p>
            <a:pPr indent="0" marL="0">
              <a:buNone/>
            </a:pPr>
            <a:r>
              <a:rPr lang="en-US" sz="1050" b="1" dirty="0">
                <a:solidFill>
                  <a:srgbClr val="12263A"/>
                </a:solidFill>
                <a:latin typeface="Calibri" pitchFamily="34" charset="0"/>
                <a:ea typeface="Calibri" pitchFamily="34" charset="-122"/>
                <a:cs typeface="Calibri" pitchFamily="34" charset="-120"/>
              </a:rPr>
              <a:t>±12° rotation, ±6% shift, horizontal flip, plus brightness / contrast / gamma / noise</a:t>
            </a:r>
            <a:endParaRPr lang="en-US" sz="1050" dirty="0"/>
          </a:p>
        </p:txBody>
      </p:sp>
      <p:sp>
        <p:nvSpPr>
          <p:cNvPr id="26" name="Text 24"/>
          <p:cNvSpPr txBox="1"/>
          <p:nvPr/>
        </p:nvSpPr>
        <p:spPr>
          <a:xfrm>
            <a:off x="7955280" y="4681728"/>
            <a:ext cx="2286000" cy="201168"/>
          </a:xfrm>
          <a:prstGeom prst="rect">
            <a:avLst/>
          </a:prstGeom>
          <a:noFill/>
          <a:ln/>
        </p:spPr>
        <p:txBody>
          <a:bodyPr wrap="square" lIns="0" tIns="0" rIns="0" bIns="0" rtlCol="0" anchor="ctr"/>
          <a:lstStyle/>
          <a:p>
            <a:pPr indent="0" marL="0">
              <a:buNone/>
            </a:pPr>
            <a:r>
              <a:rPr lang="en-US" sz="900" b="1" spc="100" kern="0" dirty="0">
                <a:solidFill>
                  <a:srgbClr val="E9973F"/>
                </a:solidFill>
                <a:latin typeface="Calibri" pitchFamily="34" charset="0"/>
                <a:ea typeface="Calibri" pitchFamily="34" charset="-122"/>
                <a:cs typeface="Calibri" pitchFamily="34" charset="-120"/>
              </a:rPr>
              <a:t>WHY</a:t>
            </a:r>
            <a:endParaRPr lang="en-US" sz="900" dirty="0"/>
          </a:p>
        </p:txBody>
      </p:sp>
      <p:sp>
        <p:nvSpPr>
          <p:cNvPr id="27" name="Text 25"/>
          <p:cNvSpPr txBox="1"/>
          <p:nvPr/>
        </p:nvSpPr>
        <p:spPr>
          <a:xfrm>
            <a:off x="7955280" y="4901184"/>
            <a:ext cx="3383280" cy="960120"/>
          </a:xfrm>
          <a:prstGeom prst="rect">
            <a:avLst/>
          </a:prstGeom>
          <a:noFill/>
          <a:ln/>
        </p:spPr>
        <p:txBody>
          <a:bodyPr wrap="square" lIns="0" tIns="0" rIns="0" bIns="0" rtlCol="0" anchor="ctr"/>
          <a:lstStyle/>
          <a:p>
            <a:pPr indent="0" marL="0">
              <a:buNone/>
            </a:pPr>
            <a:r>
              <a:rPr lang="en-US" sz="1050" dirty="0">
                <a:solidFill>
                  <a:srgbClr val="12263A"/>
                </a:solidFill>
                <a:latin typeface="Calibri" pitchFamily="34" charset="0"/>
                <a:ea typeface="Calibri" pitchFamily="34" charset="-122"/>
                <a:cs typeface="Calibri" pitchFamily="34" charset="-120"/>
              </a:rPr>
              <a:t>Scanner and centre differences show up as intensity variation, so photometric jitter matters more than geometry. We also dropped vertical shifts: a brain does not translate that way.</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OUR STRONGEST EXPERIMENTAL RESULT</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Upgrade 7 — the test-time augmentation finding</a:t>
            </a:r>
            <a:endParaRPr lang="en-US" sz="32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300" dirty="0">
                <a:solidFill>
                  <a:srgbClr val="12263A"/>
                </a:solidFill>
                <a:latin typeface="Calibri" pitchFamily="34" charset="0"/>
                <a:ea typeface="Calibri" pitchFamily="34" charset="-122"/>
                <a:cs typeface="Calibri" pitchFamily="34" charset="-120"/>
              </a:rPr>
              <a:t>TTA averages the prediction over several views of the same scan. It only helps if those views are ones a scanner could actually produce.</a:t>
            </a:r>
            <a:endParaRPr lang="en-US" sz="1300" dirty="0"/>
          </a:p>
        </p:txBody>
      </p:sp>
      <p:graphicFrame>
        <p:nvGraphicFramePr>
          <p:cNvPr id="5" name="Chart 0" descr=""/>
          <p:cNvGraphicFramePr/>
          <p:nvPr/>
        </p:nvGraphicFramePr>
        <p:xfrm>
          <a:off x="548640" y="1828800"/>
          <a:ext cx="658368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06640" y="1828800"/>
            <a:ext cx="4206240" cy="3566160"/>
          </a:xfrm>
          <a:prstGeom prst="roundRect">
            <a:avLst>
              <a:gd name="adj" fmla="val 205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7" name="Text 4"/>
          <p:cNvSpPr txBox="1"/>
          <p:nvPr/>
        </p:nvSpPr>
        <p:spPr>
          <a:xfrm>
            <a:off x="7680960" y="2011680"/>
            <a:ext cx="3657600" cy="274320"/>
          </a:xfrm>
          <a:prstGeom prst="rect">
            <a:avLst/>
          </a:prstGeom>
          <a:noFill/>
          <a:ln/>
        </p:spPr>
        <p:txBody>
          <a:bodyPr wrap="square" lIns="0" tIns="0" rIns="0" bIns="0" rtlCol="0" anchor="ctr"/>
          <a:lstStyle/>
          <a:p>
            <a:pPr indent="0" marL="0">
              <a:buNone/>
            </a:pPr>
            <a:r>
              <a:rPr lang="en-US" sz="1400" b="1" dirty="0">
                <a:solidFill>
                  <a:srgbClr val="E9973F"/>
                </a:solidFill>
                <a:latin typeface="Calibri" pitchFamily="34" charset="0"/>
                <a:ea typeface="Calibri" pitchFamily="34" charset="-122"/>
                <a:cs typeface="Calibri" pitchFamily="34" charset="-120"/>
              </a:rPr>
              <a:t>Why the big views fail</a:t>
            </a:r>
            <a:endParaRPr lang="en-US" sz="1400" dirty="0"/>
          </a:p>
        </p:txBody>
      </p:sp>
      <p:sp>
        <p:nvSpPr>
          <p:cNvPr id="8" name="Text 5"/>
          <p:cNvSpPr txBox="1"/>
          <p:nvPr/>
        </p:nvSpPr>
        <p:spPr>
          <a:xfrm>
            <a:off x="7680960" y="2340864"/>
            <a:ext cx="3657600" cy="283464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The original 48-view grid included vertical flips and 90°/180°/270° rotations. An axial brain MRI is roughly left–right symmetric, so the mirror image is a plausible second look — but no scanner emits an upside-down brain.</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Averaging the model's opinion of those impossible views into the answer added noise instead of reducing it. The 48-view grid scored below using no TTA at all.</a:t>
            </a:r>
            <a:endParaRPr lang="en-US" sz="1100" dirty="0"/>
          </a:p>
          <a:p>
            <a:pPr indent="0" marL="0">
              <a:buNone/>
            </a:pPr>
            <a:endParaRPr lang="en-US" sz="1100" dirty="0"/>
          </a:p>
          <a:p>
            <a:pPr indent="0" marL="0">
              <a:buNone/>
            </a:pPr>
            <a:r>
              <a:rPr lang="en-US" sz="1100" dirty="0">
                <a:solidFill>
                  <a:srgbClr val="12263A"/>
                </a:solidFill>
                <a:latin typeface="Calibri" pitchFamily="34" charset="0"/>
                <a:ea typeface="Calibri" pitchFamily="34" charset="-122"/>
                <a:cs typeface="Calibri" pitchFamily="34" charset="-120"/>
              </a:rPr>
              <a:t>Horizontal flip alone is the only transform the anatomy justifies — and it is the one that wins.</a:t>
            </a:r>
            <a:endParaRPr lang="en-US" sz="1100" dirty="0"/>
          </a:p>
        </p:txBody>
      </p:sp>
      <p:sp>
        <p:nvSpPr>
          <p:cNvPr id="9" name="Text 6"/>
          <p:cNvSpPr txBox="1"/>
          <p:nvPr/>
        </p:nvSpPr>
        <p:spPr>
          <a:xfrm>
            <a:off x="548640" y="5623560"/>
            <a:ext cx="11064240" cy="457200"/>
          </a:xfrm>
          <a:prstGeom prst="rect">
            <a:avLst/>
          </a:prstGeom>
          <a:noFill/>
          <a:ln/>
        </p:spPr>
        <p:txBody>
          <a:bodyPr wrap="square" lIns="0" tIns="0" rIns="0" bIns="0" rtlCol="0" anchor="ctr"/>
          <a:lstStyle/>
          <a:p>
            <a:pPr indent="0" marL="0">
              <a:buNone/>
            </a:pPr>
            <a:r>
              <a:rPr lang="en-US" sz="1150" i="1" dirty="0">
                <a:solidFill>
                  <a:srgbClr val="0E2A47"/>
                </a:solidFill>
                <a:latin typeface="Calibri" pitchFamily="34" charset="0"/>
                <a:ea typeface="Calibri" pitchFamily="34" charset="-122"/>
                <a:cs typeface="Calibri" pitchFamily="34" charset="-120"/>
              </a:rPr>
              <a:t>Method: the policy was chosen on a held-out split of the training data, then confirmed once on the test set — so it is not tuned on the test set. Worth +6.6 accuracy points over the original 8-view default.</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WHAT WE CHANGED · WHY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Upgrades 8–10 — from classifier to clinical system</a:t>
            </a:r>
            <a:endParaRPr lang="en-US" sz="3200" dirty="0"/>
          </a:p>
        </p:txBody>
      </p:sp>
      <p:sp>
        <p:nvSpPr>
          <p:cNvPr id="4" name="Shape 2"/>
          <p:cNvSpPr/>
          <p:nvPr/>
        </p:nvSpPr>
        <p:spPr>
          <a:xfrm>
            <a:off x="548640" y="1417320"/>
            <a:ext cx="3566160" cy="4114800"/>
          </a:xfrm>
          <a:prstGeom prst="roundRect">
            <a:avLst>
              <a:gd name="adj" fmla="val 205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5" name="Shape 3"/>
          <p:cNvSpPr/>
          <p:nvPr/>
        </p:nvSpPr>
        <p:spPr>
          <a:xfrm>
            <a:off x="822960" y="1664208"/>
            <a:ext cx="457200" cy="457200"/>
          </a:xfrm>
          <a:prstGeom prst="ellipse">
            <a:avLst/>
          </a:prstGeom>
          <a:solidFill>
            <a:srgbClr val="00A896"/>
          </a:solidFill>
          <a:ln w="12700">
            <a:solidFill>
              <a:srgbClr val="00A896"/>
            </a:solidFill>
            <a:prstDash val="solid"/>
          </a:ln>
        </p:spPr>
      </p:sp>
      <p:sp>
        <p:nvSpPr>
          <p:cNvPr id="6" name="Text 4"/>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7" name="Text 5"/>
          <p:cNvSpPr txBox="1"/>
          <p:nvPr/>
        </p:nvSpPr>
        <p:spPr>
          <a:xfrm>
            <a:off x="822960" y="2240280"/>
            <a:ext cx="3017520" cy="310896"/>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Explainability</a:t>
            </a:r>
            <a:endParaRPr lang="en-US" sz="1400" dirty="0"/>
          </a:p>
        </p:txBody>
      </p:sp>
      <p:sp>
        <p:nvSpPr>
          <p:cNvPr id="8" name="Text 6"/>
          <p:cNvSpPr txBox="1"/>
          <p:nvPr/>
        </p:nvSpPr>
        <p:spPr>
          <a:xfrm>
            <a:off x="822960" y="2606040"/>
            <a:ext cx="3017520" cy="384048"/>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Paper: Grad-CAM only</a:t>
            </a:r>
            <a:endParaRPr lang="en-US" sz="1050" dirty="0"/>
          </a:p>
        </p:txBody>
      </p:sp>
      <p:sp>
        <p:nvSpPr>
          <p:cNvPr id="9" name="Text 7"/>
          <p:cNvSpPr txBox="1"/>
          <p:nvPr/>
        </p:nvSpPr>
        <p:spPr>
          <a:xfrm>
            <a:off x="822960" y="3017520"/>
            <a:ext cx="3017520" cy="1005840"/>
          </a:xfrm>
          <a:prstGeom prst="rect">
            <a:avLst/>
          </a:prstGeom>
          <a:noFill/>
          <a:ln/>
        </p:spPr>
        <p:txBody>
          <a:bodyPr wrap="square" lIns="0" tIns="0" rIns="0" bIns="0" rtlCol="0" anchor="t"/>
          <a:lstStyle/>
          <a:p>
            <a:pPr indent="0" marL="0">
              <a:buNone/>
            </a:pPr>
            <a:r>
              <a:rPr lang="en-US" sz="1100" b="1" dirty="0">
                <a:solidFill>
                  <a:srgbClr val="12263A"/>
                </a:solidFill>
                <a:latin typeface="Calibri" pitchFamily="34" charset="0"/>
                <a:ea typeface="Calibri" pitchFamily="34" charset="-122"/>
                <a:cs typeface="Calibri" pitchFamily="34" charset="-120"/>
              </a:rPr>
              <a:t>Ours: Grad-CAM++, Score-CAM and CBAM attention rollout</a:t>
            </a:r>
            <a:endParaRPr lang="en-US" sz="1100" dirty="0"/>
          </a:p>
        </p:txBody>
      </p:sp>
      <p:sp>
        <p:nvSpPr>
          <p:cNvPr id="10" name="Text 8"/>
          <p:cNvSpPr txBox="1"/>
          <p:nvPr/>
        </p:nvSpPr>
        <p:spPr>
          <a:xfrm>
            <a:off x="822960" y="4114800"/>
            <a:ext cx="3017520" cy="1188720"/>
          </a:xfrm>
          <a:prstGeom prst="rect">
            <a:avLst/>
          </a:prstGeom>
          <a:noFill/>
          <a:ln/>
        </p:spPr>
        <p:txBody>
          <a:bodyPr wrap="square" lIns="0" tIns="0" rIns="0" bIns="0" rtlCol="0" anchor="t"/>
          <a:lstStyle/>
          <a:p>
            <a:pPr indent="0" marL="0">
              <a:buNone/>
            </a:pPr>
            <a:r>
              <a:rPr lang="en-US" sz="1050" i="1" dirty="0">
                <a:solidFill>
                  <a:srgbClr val="00A896"/>
                </a:solidFill>
                <a:latin typeface="Calibri" pitchFamily="34" charset="0"/>
                <a:ea typeface="Calibri" pitchFamily="34" charset="-122"/>
                <a:cs typeface="Calibri" pitchFamily="34" charset="-120"/>
              </a:rPr>
              <a:t>Three independent views of the decision — if they disagree, that itself is a warning sign to the reader.</a:t>
            </a:r>
            <a:endParaRPr lang="en-US" sz="1050" dirty="0"/>
          </a:p>
        </p:txBody>
      </p:sp>
      <p:sp>
        <p:nvSpPr>
          <p:cNvPr id="11" name="Shape 9"/>
          <p:cNvSpPr/>
          <p:nvPr/>
        </p:nvSpPr>
        <p:spPr>
          <a:xfrm>
            <a:off x="4343400" y="1417320"/>
            <a:ext cx="3566160" cy="4114800"/>
          </a:xfrm>
          <a:prstGeom prst="roundRect">
            <a:avLst>
              <a:gd name="adj" fmla="val 205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2" name="Shape 10"/>
          <p:cNvSpPr/>
          <p:nvPr/>
        </p:nvSpPr>
        <p:spPr>
          <a:xfrm>
            <a:off x="4617720" y="1664208"/>
            <a:ext cx="457200" cy="457200"/>
          </a:xfrm>
          <a:prstGeom prst="ellipse">
            <a:avLst/>
          </a:prstGeom>
          <a:solidFill>
            <a:srgbClr val="E9973F"/>
          </a:solidFill>
          <a:ln w="12700">
            <a:solidFill>
              <a:srgbClr val="E9973F"/>
            </a:solidFill>
            <a:prstDash val="solid"/>
          </a:ln>
        </p:spPr>
      </p:sp>
      <p:sp>
        <p:nvSpPr>
          <p:cNvPr id="13" name="Text 11"/>
          <p:cNvSpPr txBox="1"/>
          <p:nvPr/>
        </p:nvSpPr>
        <p:spPr>
          <a:xfrm>
            <a:off x="4617720" y="1664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2"/>
          <p:cNvSpPr txBox="1"/>
          <p:nvPr/>
        </p:nvSpPr>
        <p:spPr>
          <a:xfrm>
            <a:off x="4617720" y="2240280"/>
            <a:ext cx="3017520" cy="310896"/>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Clinical safety layer</a:t>
            </a:r>
            <a:endParaRPr lang="en-US" sz="1400" dirty="0"/>
          </a:p>
        </p:txBody>
      </p:sp>
      <p:sp>
        <p:nvSpPr>
          <p:cNvPr id="15" name="Text 13"/>
          <p:cNvSpPr txBox="1"/>
          <p:nvPr/>
        </p:nvSpPr>
        <p:spPr>
          <a:xfrm>
            <a:off x="4617720" y="2606040"/>
            <a:ext cx="3017520" cy="384048"/>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Paper: none — a class label and a bar plot</a:t>
            </a:r>
            <a:endParaRPr lang="en-US" sz="1050" dirty="0"/>
          </a:p>
        </p:txBody>
      </p:sp>
      <p:sp>
        <p:nvSpPr>
          <p:cNvPr id="16" name="Text 14"/>
          <p:cNvSpPr txBox="1"/>
          <p:nvPr/>
        </p:nvSpPr>
        <p:spPr>
          <a:xfrm>
            <a:off x="4617720" y="3017520"/>
            <a:ext cx="3017520" cy="1005840"/>
          </a:xfrm>
          <a:prstGeom prst="rect">
            <a:avLst/>
          </a:prstGeom>
          <a:noFill/>
          <a:ln/>
        </p:spPr>
        <p:txBody>
          <a:bodyPr wrap="square" lIns="0" tIns="0" rIns="0" bIns="0" rtlCol="0" anchor="t"/>
          <a:lstStyle/>
          <a:p>
            <a:pPr indent="0" marL="0">
              <a:buNone/>
            </a:pPr>
            <a:r>
              <a:rPr lang="en-US" sz="1100" b="1" dirty="0">
                <a:solidFill>
                  <a:srgbClr val="12263A"/>
                </a:solidFill>
                <a:latin typeface="Calibri" pitchFamily="34" charset="0"/>
                <a:ea typeface="Calibri" pitchFamily="34" charset="-122"/>
                <a:cs typeface="Calibri" pitchFamily="34" charset="-120"/>
              </a:rPr>
              <a:t>Ours: WHO Grade I–IV reference, reliability bands, &lt; 70% low-confidence safeguard, ≥ 30% tumour sensitivity alert, checksum-stamped PDF report</a:t>
            </a:r>
            <a:endParaRPr lang="en-US" sz="1100" dirty="0"/>
          </a:p>
        </p:txBody>
      </p:sp>
      <p:sp>
        <p:nvSpPr>
          <p:cNvPr id="17" name="Text 15"/>
          <p:cNvSpPr txBox="1"/>
          <p:nvPr/>
        </p:nvSpPr>
        <p:spPr>
          <a:xfrm>
            <a:off x="4617720" y="4114800"/>
            <a:ext cx="3017520" cy="1188720"/>
          </a:xfrm>
          <a:prstGeom prst="rect">
            <a:avLst/>
          </a:prstGeom>
          <a:noFill/>
          <a:ln/>
        </p:spPr>
        <p:txBody>
          <a:bodyPr wrap="square" lIns="0" tIns="0" rIns="0" bIns="0" rtlCol="0" anchor="t"/>
          <a:lstStyle/>
          <a:p>
            <a:pPr indent="0" marL="0">
              <a:buNone/>
            </a:pPr>
            <a:r>
              <a:rPr lang="en-US" sz="1050" i="1" dirty="0">
                <a:solidFill>
                  <a:srgbClr val="E9973F"/>
                </a:solidFill>
                <a:latin typeface="Calibri" pitchFamily="34" charset="0"/>
                <a:ea typeface="Calibri" pitchFamily="34" charset="-122"/>
                <a:cs typeface="Calibri" pitchFamily="34" charset="-120"/>
              </a:rPr>
              <a:t>A number without a caveat invites misuse. Every output is marked as a second read.</a:t>
            </a:r>
            <a:endParaRPr lang="en-US" sz="1050" dirty="0"/>
          </a:p>
        </p:txBody>
      </p:sp>
      <p:sp>
        <p:nvSpPr>
          <p:cNvPr id="18" name="Shape 16"/>
          <p:cNvSpPr/>
          <p:nvPr/>
        </p:nvSpPr>
        <p:spPr>
          <a:xfrm>
            <a:off x="8138160" y="1417320"/>
            <a:ext cx="3566160" cy="4114800"/>
          </a:xfrm>
          <a:prstGeom prst="roundRect">
            <a:avLst>
              <a:gd name="adj" fmla="val 205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9" name="Shape 17"/>
          <p:cNvSpPr/>
          <p:nvPr/>
        </p:nvSpPr>
        <p:spPr>
          <a:xfrm>
            <a:off x="8412480" y="1664208"/>
            <a:ext cx="457200" cy="457200"/>
          </a:xfrm>
          <a:prstGeom prst="ellipse">
            <a:avLst/>
          </a:prstGeom>
          <a:solidFill>
            <a:srgbClr val="0E2A47"/>
          </a:solidFill>
          <a:ln w="12700">
            <a:solidFill>
              <a:srgbClr val="0E2A47"/>
            </a:solidFill>
            <a:prstDash val="solid"/>
          </a:ln>
        </p:spPr>
      </p:sp>
      <p:sp>
        <p:nvSpPr>
          <p:cNvPr id="20" name="Text 18"/>
          <p:cNvSpPr txBox="1"/>
          <p:nvPr/>
        </p:nvSpPr>
        <p:spPr>
          <a:xfrm>
            <a:off x="8412480" y="1664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21" name="Text 19"/>
          <p:cNvSpPr txBox="1"/>
          <p:nvPr/>
        </p:nvSpPr>
        <p:spPr>
          <a:xfrm>
            <a:off x="8412480" y="2240280"/>
            <a:ext cx="3017520" cy="310896"/>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Deployment</a:t>
            </a:r>
            <a:endParaRPr lang="en-US" sz="1400" dirty="0"/>
          </a:p>
        </p:txBody>
      </p:sp>
      <p:sp>
        <p:nvSpPr>
          <p:cNvPr id="22" name="Text 20"/>
          <p:cNvSpPr txBox="1"/>
          <p:nvPr/>
        </p:nvSpPr>
        <p:spPr>
          <a:xfrm>
            <a:off x="8412480" y="2606040"/>
            <a:ext cx="3017520" cy="384048"/>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Paper: a lightweight single-image script</a:t>
            </a:r>
            <a:endParaRPr lang="en-US" sz="1050" dirty="0"/>
          </a:p>
        </p:txBody>
      </p:sp>
      <p:sp>
        <p:nvSpPr>
          <p:cNvPr id="23" name="Text 21"/>
          <p:cNvSpPr txBox="1"/>
          <p:nvPr/>
        </p:nvSpPr>
        <p:spPr>
          <a:xfrm>
            <a:off x="8412480" y="3017520"/>
            <a:ext cx="3017520" cy="1005840"/>
          </a:xfrm>
          <a:prstGeom prst="rect">
            <a:avLst/>
          </a:prstGeom>
          <a:noFill/>
          <a:ln/>
        </p:spPr>
        <p:txBody>
          <a:bodyPr wrap="square" lIns="0" tIns="0" rIns="0" bIns="0" rtlCol="0" anchor="t"/>
          <a:lstStyle/>
          <a:p>
            <a:pPr indent="0" marL="0">
              <a:buNone/>
            </a:pPr>
            <a:r>
              <a:rPr lang="en-US" sz="1100" b="1" dirty="0">
                <a:solidFill>
                  <a:srgbClr val="12263A"/>
                </a:solidFill>
                <a:latin typeface="Calibri" pitchFamily="34" charset="0"/>
                <a:ea typeface="Calibri" pitchFamily="34" charset="-122"/>
                <a:cs typeface="Calibri" pitchFamily="34" charset="-120"/>
              </a:rPr>
              <a:t>Ours: Streamlit dashboard, FastAPI REST service and a CLI — plus DICOM and NIfTI input</a:t>
            </a:r>
            <a:endParaRPr lang="en-US" sz="1100" dirty="0"/>
          </a:p>
        </p:txBody>
      </p:sp>
      <p:sp>
        <p:nvSpPr>
          <p:cNvPr id="24" name="Text 22"/>
          <p:cNvSpPr txBox="1"/>
          <p:nvPr/>
        </p:nvSpPr>
        <p:spPr>
          <a:xfrm>
            <a:off x="8412480" y="4114800"/>
            <a:ext cx="3017520" cy="1188720"/>
          </a:xfrm>
          <a:prstGeom prst="rect">
            <a:avLst/>
          </a:prstGeom>
          <a:noFill/>
          <a:ln/>
        </p:spPr>
        <p:txBody>
          <a:bodyPr wrap="square" lIns="0" tIns="0" rIns="0" bIns="0" rtlCol="0" anchor="t"/>
          <a:lstStyle/>
          <a:p>
            <a:pPr indent="0" marL="0">
              <a:buNone/>
            </a:pPr>
            <a:r>
              <a:rPr lang="en-US" sz="1050" i="1" dirty="0">
                <a:solidFill>
                  <a:srgbClr val="0E2A47"/>
                </a:solidFill>
                <a:latin typeface="Calibri" pitchFamily="34" charset="0"/>
                <a:ea typeface="Calibri" pitchFamily="34" charset="-122"/>
                <a:cs typeface="Calibri" pitchFamily="34" charset="-120"/>
              </a:rPr>
              <a:t>DICOM is what hospital scanners actually emit; a REST API is what a hospital system can actually call.</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Side by side — every design decision</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4023360"/>
                <a:gridCol w="438912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 paper</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FreeBuff v4 (ours)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Deep backbone</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Custom 3-block CNN, 1.15 M params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ResNet50 + CBAM, 27.07 M, ImageNet-pretrained</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Input size</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64 × 64 × 3</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144 × 144 × 3</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HOG descriptor</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288-d, used directly</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2048-d → PCA 288-d → MLP 512-d</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Fusion</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416-d concatenation</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768-d → 512 → 256 → 4 learned head</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Classifier</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RBF-SVM on frozen features (2 stages)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End-to-end softmax head (1 stage)</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Loss / optimiser</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Cross-entropy, Adam defaults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Focal Loss γ=2.0, AdamW, cosine, AMP</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Test-time augmentation</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2 anatomy-valid views (measured)</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Explainability</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Grad-CAM</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Grad-CAM++, Score-CAM, attention rollout</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Clinical layer</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WHO staging, safeguards, PDF reports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Interfaces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Single-image script</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Dashboard + REST API + CLI</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Input formats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Standard images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PNG/JPG + DICOM + NIfTI</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Modalities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T1-CE only</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T1c + T2 + FLAIR</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OUTCOME</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Results — and an honest comparability note</a:t>
            </a:r>
            <a:endParaRPr lang="en-US" sz="3200" dirty="0"/>
          </a:p>
        </p:txBody>
      </p:sp>
      <p:sp>
        <p:nvSpPr>
          <p:cNvPr id="4" name="Shape 2"/>
          <p:cNvSpPr/>
          <p:nvPr/>
        </p:nvSpPr>
        <p:spPr>
          <a:xfrm>
            <a:off x="548640" y="1371600"/>
            <a:ext cx="5394960" cy="1417320"/>
          </a:xfrm>
          <a:prstGeom prst="roundRect">
            <a:avLst>
              <a:gd name="adj" fmla="val 5161"/>
            </a:avLst>
          </a:prstGeom>
          <a:solidFill>
            <a:srgbClr val="E9EEF5"/>
          </a:solidFill>
          <a:ln w="12700">
            <a:solidFill>
              <a:srgbClr val="D6DFEA"/>
            </a:solidFill>
            <a:prstDash val="solid"/>
          </a:ln>
        </p:spPr>
      </p:sp>
      <p:sp>
        <p:nvSpPr>
          <p:cNvPr id="5" name="Text 3"/>
          <p:cNvSpPr txBox="1"/>
          <p:nvPr/>
        </p:nvSpPr>
        <p:spPr>
          <a:xfrm>
            <a:off x="822960" y="1536192"/>
            <a:ext cx="4846320" cy="256032"/>
          </a:xfrm>
          <a:prstGeom prst="rect">
            <a:avLst/>
          </a:prstGeom>
          <a:noFill/>
          <a:ln/>
        </p:spPr>
        <p:txBody>
          <a:bodyPr wrap="square" lIns="0" tIns="0" rIns="0" bIns="0" rtlCol="0" anchor="ctr"/>
          <a:lstStyle/>
          <a:p>
            <a:pPr indent="0" marL="0">
              <a:buNone/>
            </a:pPr>
            <a:r>
              <a:rPr lang="en-US" sz="1200" dirty="0">
                <a:solidFill>
                  <a:srgbClr val="5B6E88"/>
                </a:solidFill>
                <a:latin typeface="Calibri" pitchFamily="34" charset="0"/>
                <a:ea typeface="Calibri" pitchFamily="34" charset="-122"/>
                <a:cs typeface="Calibri" pitchFamily="34" charset="-120"/>
              </a:rPr>
              <a:t>Source paper</a:t>
            </a:r>
            <a:endParaRPr lang="en-US" sz="1200" dirty="0"/>
          </a:p>
        </p:txBody>
      </p:sp>
      <p:sp>
        <p:nvSpPr>
          <p:cNvPr id="6" name="Text 4"/>
          <p:cNvSpPr txBox="1"/>
          <p:nvPr/>
        </p:nvSpPr>
        <p:spPr>
          <a:xfrm>
            <a:off x="822960" y="1773936"/>
            <a:ext cx="2377440" cy="594360"/>
          </a:xfrm>
          <a:prstGeom prst="rect">
            <a:avLst/>
          </a:prstGeom>
          <a:noFill/>
          <a:ln/>
        </p:spPr>
        <p:txBody>
          <a:bodyPr wrap="square" lIns="0" tIns="0" rIns="0" bIns="0" rtlCol="0" anchor="ctr"/>
          <a:lstStyle/>
          <a:p>
            <a:pPr indent="0" marL="0">
              <a:buNone/>
            </a:pPr>
            <a:r>
              <a:rPr lang="en-US" sz="3400" b="1" dirty="0">
                <a:solidFill>
                  <a:srgbClr val="0E2A47"/>
                </a:solidFill>
                <a:latin typeface="Cambria" pitchFamily="34" charset="0"/>
                <a:ea typeface="Cambria" pitchFamily="34" charset="-122"/>
                <a:cs typeface="Cambria" pitchFamily="34" charset="-120"/>
              </a:rPr>
              <a:t>94.81%</a:t>
            </a:r>
            <a:endParaRPr lang="en-US" sz="3400" dirty="0"/>
          </a:p>
        </p:txBody>
      </p:sp>
      <p:sp>
        <p:nvSpPr>
          <p:cNvPr id="7" name="Text 5"/>
          <p:cNvSpPr txBox="1"/>
          <p:nvPr/>
        </p:nvSpPr>
        <p:spPr>
          <a:xfrm>
            <a:off x="3291840" y="1810512"/>
            <a:ext cx="2468880" cy="73152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weighted F1  0.95</a:t>
            </a:r>
            <a:endParaRPr lang="en-US" sz="1050" dirty="0"/>
          </a:p>
          <a:p>
            <a:pPr indent="0" marL="0">
              <a:buNone/>
            </a:pPr>
            <a:r>
              <a:rPr lang="en-US" sz="1050" dirty="0">
                <a:solidFill>
                  <a:srgbClr val="5B6E88"/>
                </a:solidFill>
                <a:latin typeface="Calibri" pitchFamily="34" charset="0"/>
                <a:ea typeface="Calibri" pitchFamily="34" charset="-122"/>
                <a:cs typeface="Calibri" pitchFamily="34" charset="-120"/>
              </a:rPr>
              <a:t>1,771 test images, imbalanced</a:t>
            </a:r>
            <a:endParaRPr lang="en-US" sz="1050" dirty="0"/>
          </a:p>
        </p:txBody>
      </p:sp>
      <p:sp>
        <p:nvSpPr>
          <p:cNvPr id="8" name="Shape 6"/>
          <p:cNvSpPr/>
          <p:nvPr/>
        </p:nvSpPr>
        <p:spPr>
          <a:xfrm>
            <a:off x="6217920" y="1371600"/>
            <a:ext cx="5394960" cy="1417320"/>
          </a:xfrm>
          <a:prstGeom prst="roundRect">
            <a:avLst>
              <a:gd name="adj" fmla="val 5161"/>
            </a:avLst>
          </a:prstGeom>
          <a:solidFill>
            <a:srgbClr val="00A896"/>
          </a:solidFill>
          <a:ln w="12700">
            <a:solidFill>
              <a:srgbClr val="00A896"/>
            </a:solidFill>
            <a:prstDash val="solid"/>
          </a:ln>
          <a:effectLst>
            <a:outerShdw sx="100000" sy="100000" kx="0" ky="0" algn="bl" rotWithShape="0" blurRad="127000" dist="25400" dir="5400000">
              <a:srgbClr val="0A1C2E">
                <a:alpha val="16000"/>
              </a:srgbClr>
            </a:outerShdw>
          </a:effectLst>
        </p:spPr>
      </p:sp>
      <p:sp>
        <p:nvSpPr>
          <p:cNvPr id="9" name="Text 7"/>
          <p:cNvSpPr txBox="1"/>
          <p:nvPr/>
        </p:nvSpPr>
        <p:spPr>
          <a:xfrm>
            <a:off x="6492240" y="1536192"/>
            <a:ext cx="4846320" cy="256032"/>
          </a:xfrm>
          <a:prstGeom prst="rect">
            <a:avLst/>
          </a:prstGeom>
          <a:noFill/>
          <a:ln/>
        </p:spPr>
        <p:txBody>
          <a:bodyPr wrap="square" lIns="0" tIns="0" rIns="0" bIns="0" rtlCol="0" anchor="ctr"/>
          <a:lstStyle/>
          <a:p>
            <a:pPr indent="0" marL="0">
              <a:buNone/>
            </a:pPr>
            <a:r>
              <a:rPr lang="en-US" sz="1200" dirty="0">
                <a:solidFill>
                  <a:srgbClr val="DFFAF4"/>
                </a:solidFill>
                <a:latin typeface="Calibri" pitchFamily="34" charset="0"/>
                <a:ea typeface="Calibri" pitchFamily="34" charset="-122"/>
                <a:cs typeface="Calibri" pitchFamily="34" charset="-120"/>
              </a:rPr>
              <a:t>FreeBuff v4 (ours)</a:t>
            </a:r>
            <a:endParaRPr lang="en-US" sz="1200" dirty="0"/>
          </a:p>
        </p:txBody>
      </p:sp>
      <p:sp>
        <p:nvSpPr>
          <p:cNvPr id="10" name="Text 8"/>
          <p:cNvSpPr txBox="1"/>
          <p:nvPr/>
        </p:nvSpPr>
        <p:spPr>
          <a:xfrm>
            <a:off x="6492240" y="1773936"/>
            <a:ext cx="237744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94.53%</a:t>
            </a:r>
            <a:endParaRPr lang="en-US" sz="3400" dirty="0"/>
          </a:p>
        </p:txBody>
      </p:sp>
      <p:sp>
        <p:nvSpPr>
          <p:cNvPr id="11" name="Text 9"/>
          <p:cNvSpPr txBox="1"/>
          <p:nvPr/>
        </p:nvSpPr>
        <p:spPr>
          <a:xfrm>
            <a:off x="8961120" y="1810512"/>
            <a:ext cx="2468880" cy="731520"/>
          </a:xfrm>
          <a:prstGeom prst="rect">
            <a:avLst/>
          </a:prstGeom>
          <a:noFill/>
          <a:ln/>
        </p:spPr>
        <p:txBody>
          <a:bodyPr wrap="square" lIns="0" tIns="0" rIns="0" bIns="0" rtlCol="0" anchor="ctr"/>
          <a:lstStyle/>
          <a:p>
            <a:pPr indent="0" marL="0">
              <a:buNone/>
            </a:pPr>
            <a:r>
              <a:rPr lang="en-US" sz="1050" dirty="0">
                <a:solidFill>
                  <a:srgbClr val="DFFAF4"/>
                </a:solidFill>
                <a:latin typeface="Calibri" pitchFamily="34" charset="0"/>
                <a:ea typeface="Calibri" pitchFamily="34" charset="-122"/>
                <a:cs typeface="Calibri" pitchFamily="34" charset="-120"/>
              </a:rPr>
              <a:t>macro F1  0.9547  ·  macro AUC  0.9919</a:t>
            </a:r>
            <a:endParaRPr lang="en-US" sz="1050" dirty="0"/>
          </a:p>
          <a:p>
            <a:pPr indent="0" marL="0">
              <a:buNone/>
            </a:pPr>
            <a:r>
              <a:rPr lang="en-US" sz="1050" dirty="0">
                <a:solidFill>
                  <a:srgbClr val="DFFAF4"/>
                </a:solidFill>
                <a:latin typeface="Calibri" pitchFamily="34" charset="0"/>
                <a:ea typeface="Calibri" pitchFamily="34" charset="-122"/>
                <a:cs typeface="Calibri" pitchFamily="34" charset="-120"/>
              </a:rPr>
              <a:t>1,600 test images, balanced 400 / class</a:t>
            </a:r>
            <a:endParaRPr lang="en-US" sz="1050" dirty="0"/>
          </a:p>
        </p:txBody>
      </p:sp>
      <p:sp>
        <p:nvSpPr>
          <p:cNvPr id="12" name="Shape 10"/>
          <p:cNvSpPr/>
          <p:nvPr/>
        </p:nvSpPr>
        <p:spPr>
          <a:xfrm>
            <a:off x="548640" y="2971800"/>
            <a:ext cx="11064240" cy="1600200"/>
          </a:xfrm>
          <a:prstGeom prst="roundRect">
            <a:avLst>
              <a:gd name="adj" fmla="val 4571"/>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3" name="Text 11"/>
          <p:cNvSpPr txBox="1"/>
          <p:nvPr/>
        </p:nvSpPr>
        <p:spPr>
          <a:xfrm>
            <a:off x="822960" y="3154680"/>
            <a:ext cx="10515600" cy="292608"/>
          </a:xfrm>
          <a:prstGeom prst="rect">
            <a:avLst/>
          </a:prstGeom>
          <a:noFill/>
          <a:ln/>
        </p:spPr>
        <p:txBody>
          <a:bodyPr wrap="square" lIns="0" tIns="0" rIns="0" bIns="0" rtlCol="0" anchor="ctr"/>
          <a:lstStyle/>
          <a:p>
            <a:pPr indent="0" marL="0">
              <a:buNone/>
            </a:pPr>
            <a:r>
              <a:rPr lang="en-US" sz="1500" b="1" dirty="0">
                <a:solidFill>
                  <a:srgbClr val="E9973F"/>
                </a:solidFill>
                <a:latin typeface="Calibri" pitchFamily="34" charset="0"/>
                <a:ea typeface="Calibri" pitchFamily="34" charset="-122"/>
                <a:cs typeface="Calibri" pitchFamily="34" charset="-120"/>
              </a:rPr>
              <a:t>These two numbers are NOT directly comparable</a:t>
            </a:r>
            <a:endParaRPr lang="en-US" sz="1500" dirty="0"/>
          </a:p>
        </p:txBody>
      </p:sp>
      <p:sp>
        <p:nvSpPr>
          <p:cNvPr id="14" name="Text 12"/>
          <p:cNvSpPr txBox="1"/>
          <p:nvPr/>
        </p:nvSpPr>
        <p:spPr>
          <a:xfrm>
            <a:off x="822960" y="3474720"/>
            <a:ext cx="10515600" cy="960120"/>
          </a:xfrm>
          <a:prstGeom prst="rect">
            <a:avLst/>
          </a:prstGeom>
          <a:noFill/>
          <a:ln/>
        </p:spPr>
        <p:txBody>
          <a:bodyPr wrap="square" lIns="0" tIns="0" rIns="0" bIns="0" rtlCol="0" anchor="t"/>
          <a:lstStyle/>
          <a:p>
            <a:pPr indent="0" marL="0">
              <a:buNone/>
            </a:pPr>
            <a:r>
              <a:rPr lang="en-US" sz="1150" dirty="0">
                <a:solidFill>
                  <a:srgbClr val="12263A"/>
                </a:solidFill>
                <a:latin typeface="Calibri" pitchFamily="34" charset="0"/>
                <a:ea typeface="Calibri" pitchFamily="34" charset="-122"/>
                <a:cs typeface="Calibri" pitchFamily="34" charset="-120"/>
              </a:rPr>
              <a:t>The two systems were evaluated on different datasets and different splits, so these numbers are not a race. The paper used 8,852 images with a 1,771-image test set in which No Tumor is only 185 samples (10.4%). We audited our own test set and found 25.7% of it duplicated from training — our 94.53% excludes every one of those, which the paper's 94.81% almost certainly does not, since it is the same dataset family and no such audit is reported. On that basis the two systems are equivalent, and we do not claim to have beaten theirs.</a:t>
            </a:r>
            <a:endParaRPr lang="en-US" sz="1150" dirty="0"/>
          </a:p>
        </p:txBody>
      </p:sp>
      <p:sp>
        <p:nvSpPr>
          <p:cNvPr id="15" name="Text 13"/>
          <p:cNvSpPr txBox="1"/>
          <p:nvPr/>
        </p:nvSpPr>
        <p:spPr>
          <a:xfrm>
            <a:off x="548640" y="4800600"/>
            <a:ext cx="11064240" cy="45720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What we can claim: the TTA fix alone moved accuracy from 88.94% to 95.50% on the full set — and that after auditing, the honest figure is 94.53%. Both are reproducible with one command each.</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FREEBUFF V4 · 1,600 HELD-OUT IMAGES</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Our per-class performance</a:t>
            </a:r>
            <a:endParaRPr lang="en-US" sz="3200" dirty="0"/>
          </a:p>
        </p:txBody>
      </p:sp>
      <p:graphicFrame>
        <p:nvGraphicFramePr>
          <p:cNvPr id="4" name="Chart 0" descr=""/>
          <p:cNvGraphicFramePr/>
          <p:nvPr/>
        </p:nvGraphicFramePr>
        <p:xfrm>
          <a:off x="548640" y="141732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417320"/>
            <a:ext cx="4023360" cy="3931920"/>
          </a:xfrm>
          <a:prstGeom prst="roundRect">
            <a:avLst>
              <a:gd name="adj" fmla="val 1860"/>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6" name="Text 3"/>
          <p:cNvSpPr txBox="1"/>
          <p:nvPr/>
        </p:nvSpPr>
        <p:spPr>
          <a:xfrm>
            <a:off x="7863840" y="1627632"/>
            <a:ext cx="3474720" cy="274320"/>
          </a:xfrm>
          <a:prstGeom prst="rect">
            <a:avLst/>
          </a:prstGeom>
          <a:noFill/>
          <a:ln/>
        </p:spPr>
        <p:txBody>
          <a:bodyPr wrap="square" lIns="0" tIns="0" rIns="0" bIns="0" rtlCol="0" anchor="ctr"/>
          <a:lstStyle/>
          <a:p>
            <a:pPr indent="0" marL="0">
              <a:buNone/>
            </a:pPr>
            <a:r>
              <a:rPr lang="en-US" sz="1400" b="1" dirty="0">
                <a:solidFill>
                  <a:srgbClr val="0E2A47"/>
                </a:solidFill>
                <a:latin typeface="Calibri" pitchFamily="34" charset="0"/>
                <a:ea typeface="Calibri" pitchFamily="34" charset="-122"/>
                <a:cs typeface="Calibri" pitchFamily="34" charset="-120"/>
              </a:rPr>
              <a:t>Reading the result</a:t>
            </a:r>
            <a:endParaRPr lang="en-US" sz="1400" dirty="0"/>
          </a:p>
        </p:txBody>
      </p:sp>
      <p:sp>
        <p:nvSpPr>
          <p:cNvPr id="7" name="Text 4"/>
          <p:cNvSpPr txBox="1"/>
          <p:nvPr/>
        </p:nvSpPr>
        <p:spPr>
          <a:xfrm>
            <a:off x="7863840" y="1993392"/>
            <a:ext cx="3474720" cy="3108960"/>
          </a:xfrm>
          <a:prstGeom prst="rect">
            <a:avLst/>
          </a:prstGeom>
          <a:noFill/>
          <a:ln/>
        </p:spPr>
        <p:txBody>
          <a:bodyPr wrap="square" lIns="0" tIns="0" rIns="0" bIns="0" rtlCol="0" anchor="t"/>
          <a:lstStyle/>
          <a:p>
            <a:pPr marL="342900" indent="-342900">
              <a:spcAft>
                <a:spcPts val="1000"/>
              </a:spcAft>
              <a:buSzPct val="100000"/>
              <a:buChar char="•"/>
            </a:pPr>
            <a:r>
              <a:rPr lang="en-US" sz="1100" dirty="0">
                <a:solidFill>
                  <a:srgbClr val="12263A"/>
                </a:solidFill>
                <a:latin typeface="Calibri" pitchFamily="34" charset="0"/>
                <a:ea typeface="Calibri" pitchFamily="34" charset="-122"/>
                <a:cs typeface="Calibri" pitchFamily="34" charset="-120"/>
              </a:rPr>
              <a:t>No_Tumor recall is 1.0000 — every healthy scan in the held-out set was correctly identified. That is the direction you want errors NOT to go.</a:t>
            </a:r>
            <a:endParaRPr lang="en-US" sz="1100" dirty="0"/>
          </a:p>
          <a:p>
            <a:pPr marL="342900" indent="-342900">
              <a:spcAft>
                <a:spcPts val="1000"/>
              </a:spcAft>
              <a:buSzPct val="100000"/>
              <a:buChar char="•"/>
            </a:pPr>
            <a:r>
              <a:rPr lang="en-US" sz="1100" dirty="0">
                <a:solidFill>
                  <a:srgbClr val="12263A"/>
                </a:solidFill>
                <a:latin typeface="Calibri" pitchFamily="34" charset="0"/>
                <a:ea typeface="Calibri" pitchFamily="34" charset="-122"/>
                <a:cs typeface="Calibri" pitchFamily="34" charset="-120"/>
              </a:rPr>
              <a:t>The residual error is concentrated in Glioma → Meningioma (36 of 72 errors) — the clinically plausible confusion, not a random failure.</a:t>
            </a:r>
            <a:endParaRPr lang="en-US" sz="1100" dirty="0"/>
          </a:p>
          <a:p>
            <a:pPr marL="342900" indent="-342900">
              <a:spcAft>
                <a:spcPts val="1000"/>
              </a:spcAft>
              <a:buSzPct val="100000"/>
              <a:buChar char="•"/>
            </a:pPr>
            <a:r>
              <a:rPr lang="en-US" sz="1100" dirty="0">
                <a:solidFill>
                  <a:srgbClr val="12263A"/>
                </a:solidFill>
                <a:latin typeface="Calibri" pitchFamily="34" charset="0"/>
                <a:ea typeface="Calibri" pitchFamily="34" charset="-122"/>
                <a:cs typeface="Calibri" pitchFamily="34" charset="-120"/>
              </a:rPr>
              <a:t>Macro ROC-AUC 0.9919 shows the classes are strongly separable across all thresholds.</a:t>
            </a:r>
            <a:endParaRPr lang="en-US" sz="1100" dirty="0"/>
          </a:p>
        </p:txBody>
      </p:sp>
      <p:sp>
        <p:nvSpPr>
          <p:cNvPr id="8" name="Text 5"/>
          <p:cNvSpPr txBox="1"/>
          <p:nvPr/>
        </p:nvSpPr>
        <p:spPr>
          <a:xfrm>
            <a:off x="548640" y="5623560"/>
            <a:ext cx="11064240" cy="365760"/>
          </a:xfrm>
          <a:prstGeom prst="rect">
            <a:avLst/>
          </a:prstGeom>
          <a:noFill/>
          <a:ln/>
        </p:spPr>
        <p:txBody>
          <a:bodyPr wrap="square" lIns="0" tIns="0" rIns="0" bIns="0" rtlCol="0" anchor="ctr"/>
          <a:lstStyle/>
          <a:p>
            <a:pPr indent="0" marL="0">
              <a:buNone/>
            </a:pPr>
            <a:r>
              <a:rPr lang="en-US" sz="1050" dirty="0">
                <a:solidFill>
                  <a:srgbClr val="5B6E88"/>
                </a:solidFill>
                <a:latin typeface="Calibri" pitchFamily="34" charset="0"/>
                <a:ea typeface="Calibri" pitchFamily="34" charset="-122"/>
                <a:cs typeface="Calibri" pitchFamily="34" charset="-120"/>
              </a:rPr>
              <a:t>72 of 1,600 misclassified  ·  reproduce with:  python evaluate.py --checkpoint saved_models/freebuff_v4.pt --test_data_dir data/Testing --use_hog</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LIMITATION 1 · MEASURED, NOT ASSUMED</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We audited the dataset — and found leakage</a:t>
            </a:r>
            <a:endParaRPr lang="en-US" sz="3200" dirty="0"/>
          </a:p>
        </p:txBody>
      </p:sp>
      <p:sp>
        <p:nvSpPr>
          <p:cNvPr id="4" name="Text 2"/>
          <p:cNvSpPr txBox="1"/>
          <p:nvPr/>
        </p:nvSpPr>
        <p:spPr>
          <a:xfrm>
            <a:off x="548640" y="1325880"/>
            <a:ext cx="11064240" cy="402336"/>
          </a:xfrm>
          <a:prstGeom prst="rect">
            <a:avLst/>
          </a:prstGeom>
          <a:noFill/>
          <a:ln/>
        </p:spPr>
        <p:txBody>
          <a:bodyPr wrap="square" lIns="0" tIns="0" rIns="0" bIns="0" rtlCol="0" anchor="t"/>
          <a:lstStyle/>
          <a:p>
            <a:pPr indent="0" marL="0">
              <a:buNone/>
            </a:pPr>
            <a:r>
              <a:rPr lang="en-US" sz="1250" dirty="0">
                <a:solidFill>
                  <a:srgbClr val="12263A"/>
                </a:solidFill>
                <a:latin typeface="Calibri" pitchFamily="34" charset="0"/>
                <a:ea typeface="Calibri" pitchFamily="34" charset="-122"/>
                <a:cs typeface="Calibri" pitchFamily="34" charset="-120"/>
              </a:rPr>
              <a:t>The dataset ships loose slices with no patient IDs. We audited it anyway — exact pixel hashing plus a measured near-duplicate threshold — then rebuilt a clean copy and retrained on it to check what the contamination was worth.</a:t>
            </a:r>
            <a:endParaRPr lang="en-US" sz="1250" dirty="0"/>
          </a:p>
        </p:txBody>
      </p:sp>
      <p:sp>
        <p:nvSpPr>
          <p:cNvPr id="5" name="Text 3"/>
          <p:cNvSpPr txBox="1"/>
          <p:nvPr/>
        </p:nvSpPr>
        <p:spPr>
          <a:xfrm>
            <a:off x="548640" y="1828800"/>
            <a:ext cx="2606040" cy="713232"/>
          </a:xfrm>
          <a:prstGeom prst="rect">
            <a:avLst/>
          </a:prstGeom>
          <a:noFill/>
          <a:ln/>
        </p:spPr>
        <p:txBody>
          <a:bodyPr wrap="square" lIns="0" tIns="0" rIns="0" bIns="0" rtlCol="0" anchor="ctr"/>
          <a:lstStyle/>
          <a:p>
            <a:pPr algn="ctr" indent="0" marL="0">
              <a:buNone/>
            </a:pPr>
            <a:r>
              <a:rPr lang="en-US" sz="4000" b="1" dirty="0">
                <a:solidFill>
                  <a:srgbClr val="E9973F"/>
                </a:solidFill>
                <a:latin typeface="Cambria" pitchFamily="34" charset="0"/>
                <a:ea typeface="Cambria" pitchFamily="34" charset="-122"/>
                <a:cs typeface="Cambria" pitchFamily="34" charset="-120"/>
              </a:rPr>
              <a:t>411</a:t>
            </a:r>
            <a:endParaRPr lang="en-US" sz="4000" dirty="0"/>
          </a:p>
        </p:txBody>
      </p:sp>
      <p:sp>
        <p:nvSpPr>
          <p:cNvPr id="6" name="Text 4"/>
          <p:cNvSpPr txBox="1"/>
          <p:nvPr/>
        </p:nvSpPr>
        <p:spPr>
          <a:xfrm>
            <a:off x="548640" y="2523744"/>
            <a:ext cx="260604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contaminated test images</a:t>
            </a:r>
            <a:endParaRPr lang="en-US" sz="1050" dirty="0"/>
          </a:p>
          <a:p>
            <a:pPr algn="ctr" indent="0" marL="0">
              <a:buNone/>
            </a:pPr>
            <a:r>
              <a:rPr lang="en-US" sz="1050" dirty="0">
                <a:solidFill>
                  <a:srgbClr val="5B6E88"/>
                </a:solidFill>
                <a:latin typeface="Calibri" pitchFamily="34" charset="0"/>
                <a:ea typeface="Calibri" pitchFamily="34" charset="-122"/>
                <a:cs typeface="Calibri" pitchFamily="34" charset="-120"/>
              </a:rPr>
              <a:t>(exact + near-duplicate)</a:t>
            </a:r>
            <a:endParaRPr lang="en-US" sz="1050" dirty="0"/>
          </a:p>
        </p:txBody>
      </p:sp>
      <p:sp>
        <p:nvSpPr>
          <p:cNvPr id="7" name="Text 5"/>
          <p:cNvSpPr txBox="1"/>
          <p:nvPr/>
        </p:nvSpPr>
        <p:spPr>
          <a:xfrm>
            <a:off x="3383280" y="1828800"/>
            <a:ext cx="2606040" cy="713232"/>
          </a:xfrm>
          <a:prstGeom prst="rect">
            <a:avLst/>
          </a:prstGeom>
          <a:noFill/>
          <a:ln/>
        </p:spPr>
        <p:txBody>
          <a:bodyPr wrap="square" lIns="0" tIns="0" rIns="0" bIns="0" rtlCol="0" anchor="ctr"/>
          <a:lstStyle/>
          <a:p>
            <a:pPr algn="ctr" indent="0" marL="0">
              <a:buNone/>
            </a:pPr>
            <a:r>
              <a:rPr lang="en-US" sz="4000" b="1" dirty="0">
                <a:solidFill>
                  <a:srgbClr val="E9973F"/>
                </a:solidFill>
                <a:latin typeface="Cambria" pitchFamily="34" charset="0"/>
                <a:ea typeface="Cambria" pitchFamily="34" charset="-122"/>
                <a:cs typeface="Cambria" pitchFamily="34" charset="-120"/>
              </a:rPr>
              <a:t>25.7%</a:t>
            </a:r>
            <a:endParaRPr lang="en-US" sz="4000" dirty="0"/>
          </a:p>
        </p:txBody>
      </p:sp>
      <p:sp>
        <p:nvSpPr>
          <p:cNvPr id="8" name="Text 6"/>
          <p:cNvSpPr txBox="1"/>
          <p:nvPr/>
        </p:nvSpPr>
        <p:spPr>
          <a:xfrm>
            <a:off x="3383280" y="2523744"/>
            <a:ext cx="260604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of the held-out test set</a:t>
            </a:r>
            <a:endParaRPr lang="en-US" sz="1050" dirty="0"/>
          </a:p>
        </p:txBody>
      </p:sp>
      <p:sp>
        <p:nvSpPr>
          <p:cNvPr id="9" name="Text 7"/>
          <p:cNvSpPr txBox="1"/>
          <p:nvPr/>
        </p:nvSpPr>
        <p:spPr>
          <a:xfrm>
            <a:off x="6217920" y="1828800"/>
            <a:ext cx="2606040" cy="713232"/>
          </a:xfrm>
          <a:prstGeom prst="rect">
            <a:avLst/>
          </a:prstGeom>
          <a:noFill/>
          <a:ln/>
        </p:spPr>
        <p:txBody>
          <a:bodyPr wrap="square" lIns="0" tIns="0" rIns="0" bIns="0" rtlCol="0" anchor="ctr"/>
          <a:lstStyle/>
          <a:p>
            <a:pPr algn="ctr" indent="0" marL="0">
              <a:buNone/>
            </a:pPr>
            <a:r>
              <a:rPr lang="en-US" sz="4000" b="1" dirty="0">
                <a:solidFill>
                  <a:srgbClr val="E9973F"/>
                </a:solidFill>
                <a:latin typeface="Cambria" pitchFamily="34" charset="0"/>
                <a:ea typeface="Cambria" pitchFamily="34" charset="-122"/>
                <a:cs typeface="Cambria" pitchFamily="34" charset="-120"/>
              </a:rPr>
              <a:t>301</a:t>
            </a:r>
            <a:endParaRPr lang="en-US" sz="4000" dirty="0"/>
          </a:p>
        </p:txBody>
      </p:sp>
      <p:sp>
        <p:nvSpPr>
          <p:cNvPr id="10" name="Text 8"/>
          <p:cNvSpPr txBox="1"/>
          <p:nvPr/>
        </p:nvSpPr>
        <p:spPr>
          <a:xfrm>
            <a:off x="6217920" y="2523744"/>
            <a:ext cx="260604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are No_Tumor</a:t>
            </a:r>
            <a:endParaRPr lang="en-US" sz="1050" dirty="0"/>
          </a:p>
          <a:p>
            <a:pPr algn="ctr" indent="0" marL="0">
              <a:buNone/>
            </a:pPr>
            <a:r>
              <a:rPr lang="en-US" sz="1050" dirty="0">
                <a:solidFill>
                  <a:srgbClr val="5B6E88"/>
                </a:solidFill>
                <a:latin typeface="Calibri" pitchFamily="34" charset="0"/>
                <a:ea typeface="Calibri" pitchFamily="34" charset="-122"/>
                <a:cs typeface="Calibri" pitchFamily="34" charset="-120"/>
              </a:rPr>
              <a:t>= 75% of that class</a:t>
            </a:r>
            <a:endParaRPr lang="en-US" sz="1050" dirty="0"/>
          </a:p>
        </p:txBody>
      </p:sp>
      <p:sp>
        <p:nvSpPr>
          <p:cNvPr id="11" name="Text 9"/>
          <p:cNvSpPr txBox="1"/>
          <p:nvPr/>
        </p:nvSpPr>
        <p:spPr>
          <a:xfrm>
            <a:off x="9052560" y="1828800"/>
            <a:ext cx="2606040" cy="713232"/>
          </a:xfrm>
          <a:prstGeom prst="rect">
            <a:avLst/>
          </a:prstGeom>
          <a:noFill/>
          <a:ln/>
        </p:spPr>
        <p:txBody>
          <a:bodyPr wrap="square" lIns="0" tIns="0" rIns="0" bIns="0" rtlCol="0" anchor="ctr"/>
          <a:lstStyle/>
          <a:p>
            <a:pPr algn="ctr" indent="0" marL="0">
              <a:buNone/>
            </a:pPr>
            <a:r>
              <a:rPr lang="en-US" sz="4000" b="1" dirty="0">
                <a:solidFill>
                  <a:srgbClr val="5B6E88"/>
                </a:solidFill>
                <a:latin typeface="Cambria" pitchFamily="34" charset="0"/>
                <a:ea typeface="Cambria" pitchFamily="34" charset="-122"/>
                <a:cs typeface="Cambria" pitchFamily="34" charset="-120"/>
              </a:rPr>
              <a:t>−0.97</a:t>
            </a:r>
            <a:endParaRPr lang="en-US" sz="4000" dirty="0"/>
          </a:p>
        </p:txBody>
      </p:sp>
      <p:sp>
        <p:nvSpPr>
          <p:cNvPr id="12" name="Text 10"/>
          <p:cNvSpPr txBox="1"/>
          <p:nvPr/>
        </p:nvSpPr>
        <p:spPr>
          <a:xfrm>
            <a:off x="9052560" y="2523744"/>
            <a:ext cx="2606040" cy="310896"/>
          </a:xfrm>
          <a:prstGeom prst="rect">
            <a:avLst/>
          </a:prstGeom>
          <a:noFill/>
          <a:ln/>
        </p:spPr>
        <p:txBody>
          <a:bodyPr wrap="square" lIns="0" tIns="0" rIns="0" bIns="0" rtlCol="0" anchor="ctr"/>
          <a:lstStyle/>
          <a:p>
            <a:pPr algn="ctr" indent="0" marL="0">
              <a:buNone/>
            </a:pPr>
            <a:r>
              <a:rPr lang="en-US" sz="1050" dirty="0">
                <a:solidFill>
                  <a:srgbClr val="5B6E88"/>
                </a:solidFill>
                <a:latin typeface="Calibri" pitchFamily="34" charset="0"/>
                <a:ea typeface="Calibri" pitchFamily="34" charset="-122"/>
                <a:cs typeface="Calibri" pitchFamily="34" charset="-120"/>
              </a:rPr>
              <a:t>accuracy points lost</a:t>
            </a:r>
            <a:endParaRPr lang="en-US" sz="1050" dirty="0"/>
          </a:p>
          <a:p>
            <a:pPr algn="ctr" indent="0" marL="0">
              <a:buNone/>
            </a:pPr>
            <a:r>
              <a:rPr lang="en-US" sz="1050" dirty="0">
                <a:solidFill>
                  <a:srgbClr val="5B6E88"/>
                </a:solidFill>
                <a:latin typeface="Calibri" pitchFamily="34" charset="0"/>
                <a:ea typeface="Calibri" pitchFamily="34" charset="-122"/>
                <a:cs typeface="Calibri" pitchFamily="34" charset="-120"/>
              </a:rPr>
              <a:t>once they are removed</a:t>
            </a:r>
            <a:endParaRPr lang="en-US" sz="1050" dirty="0"/>
          </a:p>
        </p:txBody>
      </p:sp>
      <p:sp>
        <p:nvSpPr>
          <p:cNvPr id="13" name="Shape 11"/>
          <p:cNvSpPr/>
          <p:nvPr/>
        </p:nvSpPr>
        <p:spPr>
          <a:xfrm>
            <a:off x="548640" y="3291840"/>
            <a:ext cx="11064240" cy="1874520"/>
          </a:xfrm>
          <a:prstGeom prst="roundRect">
            <a:avLst>
              <a:gd name="adj" fmla="val 39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4" name="Text 12"/>
          <p:cNvSpPr txBox="1"/>
          <p:nvPr/>
        </p:nvSpPr>
        <p:spPr>
          <a:xfrm>
            <a:off x="841248" y="3474720"/>
            <a:ext cx="10424160" cy="274320"/>
          </a:xfrm>
          <a:prstGeom prst="rect">
            <a:avLst/>
          </a:prstGeom>
          <a:noFill/>
          <a:ln/>
        </p:spPr>
        <p:txBody>
          <a:bodyPr wrap="square" lIns="0" tIns="0" rIns="0" bIns="0" rtlCol="0" anchor="t"/>
          <a:lstStyle/>
          <a:p>
            <a:pPr indent="0" marL="0">
              <a:buNone/>
            </a:pPr>
            <a:r>
              <a:rPr lang="en-US" sz="1400" b="1" dirty="0">
                <a:solidFill>
                  <a:srgbClr val="0E2A47"/>
                </a:solidFill>
                <a:latin typeface="Calibri" pitchFamily="34" charset="0"/>
                <a:ea typeface="Calibri" pitchFamily="34" charset="-122"/>
                <a:cs typeface="Calibri" pitchFamily="34" charset="-120"/>
              </a:rPr>
              <a:t>What it does to the headline number</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841248" y="3794760"/>
          <a:ext cx="10424160" cy="914400"/>
        </p:xfrm>
        <a:graphic>
          <a:graphicData uri="http://schemas.openxmlformats.org/drawingml/2006/table">
            <a:tbl>
              <a:tblPr/>
              <a:tblGrid>
                <a:gridCol w="3200400"/>
                <a:gridCol w="1371600"/>
                <a:gridCol w="1737360"/>
                <a:gridCol w="1737360"/>
                <a:gridCol w="2377440"/>
              </a:tblGrid>
              <a:tr h="3383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Evaluation</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Images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Macro F1</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No_Tumor F1</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r>
              <a:tr h="338328">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Full test set (as first reported)</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1,600</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0.9550</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0.9547</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dirty="0">
                          <a:solidFill>
                            <a:srgbClr val="12263A"/>
                          </a:solidFill>
                          <a:latin typeface="Calibri" pitchFamily="34" charset="0"/>
                          <a:ea typeface="Calibri" pitchFamily="34" charset="-122"/>
                          <a:cs typeface="Calibri" pitchFamily="34" charset="-120"/>
                        </a:rPr>
                        <a:t>0.9827</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38328">
                <a:tc>
                  <a:txBody>
                    <a:bodyPr/>
                    <a:lstStyle/>
                    <a:p>
                      <a:pPr indent="0" marL="0">
                        <a:buNone/>
                      </a:pPr>
                      <a:r>
                        <a:rPr lang="en-US" sz="1100" b="1" dirty="0">
                          <a:solidFill>
                            <a:srgbClr val="12263A"/>
                          </a:solidFill>
                          <a:latin typeface="Calibri" pitchFamily="34" charset="0"/>
                          <a:ea typeface="Calibri" pitchFamily="34" charset="-122"/>
                          <a:cs typeface="Calibri" pitchFamily="34" charset="-120"/>
                        </a:rPr>
                        <a:t>Uncontaminated — quote this</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b="1" dirty="0">
                          <a:solidFill>
                            <a:srgbClr val="12263A"/>
                          </a:solidFill>
                          <a:latin typeface="Calibri" pitchFamily="34" charset="0"/>
                          <a:ea typeface="Calibri" pitchFamily="34" charset="-122"/>
                          <a:cs typeface="Calibri" pitchFamily="34" charset="-120"/>
                        </a:rPr>
                        <a:t>1,189</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b="1" dirty="0">
                          <a:solidFill>
                            <a:srgbClr val="12263A"/>
                          </a:solidFill>
                          <a:latin typeface="Calibri" pitchFamily="34" charset="0"/>
                          <a:ea typeface="Calibri" pitchFamily="34" charset="-122"/>
                          <a:cs typeface="Calibri" pitchFamily="34" charset="-120"/>
                        </a:rPr>
                        <a:t>0.9453</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b="1" dirty="0">
                          <a:solidFill>
                            <a:srgbClr val="12263A"/>
                          </a:solidFill>
                          <a:latin typeface="Calibri" pitchFamily="34" charset="0"/>
                          <a:ea typeface="Calibri" pitchFamily="34" charset="-122"/>
                          <a:cs typeface="Calibri" pitchFamily="34" charset="-120"/>
                        </a:rPr>
                        <a:t>0.9431</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b="1" dirty="0">
                          <a:solidFill>
                            <a:srgbClr val="12263A"/>
                          </a:solidFill>
                          <a:latin typeface="Calibri" pitchFamily="34" charset="0"/>
                          <a:ea typeface="Calibri" pitchFamily="34" charset="-122"/>
                          <a:cs typeface="Calibri" pitchFamily="34" charset="-120"/>
                        </a:rPr>
                        <a:t>0.9429</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338328">
                <a:tc>
                  <a:txBody>
                    <a:bodyPr/>
                    <a:lstStyle/>
                    <a:p>
                      <a:pPr indent="0" marL="0">
                        <a:buNone/>
                      </a:pPr>
                      <a:r>
                        <a:rPr lang="en-US" sz="1100" i="1" dirty="0">
                          <a:solidFill>
                            <a:srgbClr val="5B6E88"/>
                          </a:solidFill>
                          <a:latin typeface="Calibri" pitchFamily="34" charset="0"/>
                          <a:ea typeface="Calibri" pitchFamily="34" charset="-122"/>
                          <a:cs typeface="Calibri" pitchFamily="34" charset="-120"/>
                        </a:rPr>
                        <a:t>Difference</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i="1" dirty="0">
                          <a:solidFill>
                            <a:srgbClr val="5B6E88"/>
                          </a:solidFill>
                          <a:latin typeface="Calibri" pitchFamily="34" charset="0"/>
                          <a:ea typeface="Calibri" pitchFamily="34" charset="-122"/>
                          <a:cs typeface="Calibri" pitchFamily="34" charset="-120"/>
                        </a:rPr>
                        <a:t>−411</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i="1" dirty="0">
                          <a:solidFill>
                            <a:srgbClr val="5B6E88"/>
                          </a:solidFill>
                          <a:latin typeface="Calibri" pitchFamily="34" charset="0"/>
                          <a:ea typeface="Calibri" pitchFamily="34" charset="-122"/>
                          <a:cs typeface="Calibri" pitchFamily="34" charset="-120"/>
                        </a:rPr>
                        <a:t>−0.0097</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i="1" dirty="0">
                          <a:solidFill>
                            <a:srgbClr val="5B6E88"/>
                          </a:solidFill>
                          <a:latin typeface="Calibri" pitchFamily="34" charset="0"/>
                          <a:ea typeface="Calibri" pitchFamily="34" charset="-122"/>
                          <a:cs typeface="Calibri" pitchFamily="34" charset="-120"/>
                        </a:rPr>
                        <a:t>−0.0116</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00" i="1" dirty="0">
                          <a:solidFill>
                            <a:srgbClr val="E9973F"/>
                          </a:solidFill>
                          <a:latin typeface="Calibri" pitchFamily="34" charset="0"/>
                          <a:ea typeface="Calibri" pitchFamily="34" charset="-122"/>
                          <a:cs typeface="Calibri" pitchFamily="34" charset="-120"/>
                        </a:rPr>
                        <a:t>−0.0398</a:t>
                      </a:r>
                      <a:endParaRPr lang="en-US" sz="11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bl>
          </a:graphicData>
        </a:graphic>
      </p:graphicFrame>
      <p:sp>
        <p:nvSpPr>
          <p:cNvPr id="16" name="Text 13"/>
          <p:cNvSpPr txBox="1"/>
          <p:nvPr/>
        </p:nvSpPr>
        <p:spPr>
          <a:xfrm>
            <a:off x="548640" y="5349240"/>
            <a:ext cx="11064240" cy="548640"/>
          </a:xfrm>
          <a:prstGeom prst="rect">
            <a:avLst/>
          </a:prstGeom>
          <a:noFill/>
          <a:ln/>
        </p:spPr>
        <p:txBody>
          <a:bodyPr wrap="square" lIns="0" tIns="0" rIns="0" bIns="0" rtlCol="0" anchor="t"/>
          <a:lstStyle/>
          <a:p>
            <a:pPr indent="0" marL="0">
              <a:buNone/>
            </a:pPr>
            <a:r>
              <a:rPr lang="en-US" sz="1150" i="1" dirty="0">
                <a:solidFill>
                  <a:srgbClr val="0E2A47"/>
                </a:solidFill>
                <a:latin typeface="Calibri" pitchFamily="34" charset="0"/>
                <a:ea typeface="Calibri" pitchFamily="34" charset="-122"/>
                <a:cs typeface="Calibri" pitchFamily="34" charset="-120"/>
              </a:rPr>
              <a:t>75% of the No_Tumor test set was a copy of training data — so its previously reported 1.0000 recall was largely memorisation, and only 99 of its 400 images were ever a real test. We retrained on de-duplicated data to check: on the 1,189 images neither model saw, both score ~94.5%, so the deployed model is kept. Reproduce with  python audit_leakage.py --evaluate</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LIMITATION 4 · NOW SOLVED, WITH A CAVEAT</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We implemented confidence calibration</a:t>
            </a:r>
            <a:endParaRPr lang="en-US" sz="3200" dirty="0"/>
          </a:p>
        </p:txBody>
      </p:sp>
      <p:sp>
        <p:nvSpPr>
          <p:cNvPr id="4" name="Text 2"/>
          <p:cNvSpPr txBox="1"/>
          <p:nvPr/>
        </p:nvSpPr>
        <p:spPr>
          <a:xfrm>
            <a:off x="548640" y="1325880"/>
            <a:ext cx="11064240" cy="420624"/>
          </a:xfrm>
          <a:prstGeom prst="rect">
            <a:avLst/>
          </a:prstGeom>
          <a:noFill/>
          <a:ln/>
        </p:spPr>
        <p:txBody>
          <a:bodyPr wrap="square" lIns="0" tIns="0" rIns="0" bIns="0" rtlCol="0" anchor="t"/>
          <a:lstStyle/>
          <a:p>
            <a:pPr indent="0" marL="0">
              <a:buNone/>
            </a:pPr>
            <a:r>
              <a:rPr lang="en-US" sz="1250" dirty="0">
                <a:solidFill>
                  <a:srgbClr val="12263A"/>
                </a:solidFill>
                <a:latin typeface="Calibri" pitchFamily="34" charset="0"/>
                <a:ea typeface="Calibri" pitchFamily="34" charset="-122"/>
                <a:cs typeface="Calibri" pitchFamily="34" charset="-120"/>
              </a:rPr>
              <a:t>A softmax score is not a probability — networks are typically over-confident. Temperature scaling divides the logits by one scalar T fitted on held-out data. It provably cannot change which class wins, so accuracy is untouched; only the confidence moves.</a:t>
            </a:r>
            <a:endParaRPr lang="en-US" sz="1250" dirty="0"/>
          </a:p>
        </p:txBody>
      </p:sp>
      <p:sp>
        <p:nvSpPr>
          <p:cNvPr id="5" name="Shape 3"/>
          <p:cNvSpPr/>
          <p:nvPr/>
        </p:nvSpPr>
        <p:spPr>
          <a:xfrm>
            <a:off x="548640" y="1847088"/>
            <a:ext cx="5394960" cy="2286000"/>
          </a:xfrm>
          <a:prstGeom prst="roundRect">
            <a:avLst>
              <a:gd name="adj" fmla="val 3200"/>
            </a:avLst>
          </a:prstGeom>
          <a:solidFill>
            <a:srgbClr val="F6E7D8"/>
          </a:solidFill>
          <a:ln w="12700">
            <a:solidFill>
              <a:srgbClr val="E8CBA9"/>
            </a:solidFill>
            <a:prstDash val="solid"/>
          </a:ln>
        </p:spPr>
      </p:sp>
      <p:sp>
        <p:nvSpPr>
          <p:cNvPr id="6" name="Text 4"/>
          <p:cNvSpPr txBox="1"/>
          <p:nvPr/>
        </p:nvSpPr>
        <p:spPr>
          <a:xfrm>
            <a:off x="822960" y="2029968"/>
            <a:ext cx="4846320" cy="274320"/>
          </a:xfrm>
          <a:prstGeom prst="rect">
            <a:avLst/>
          </a:prstGeom>
          <a:noFill/>
          <a:ln/>
        </p:spPr>
        <p:txBody>
          <a:bodyPr wrap="square" lIns="0" tIns="0" rIns="0" bIns="0" rtlCol="0" anchor="t"/>
          <a:lstStyle/>
          <a:p>
            <a:pPr indent="0" marL="0">
              <a:buNone/>
            </a:pPr>
            <a:r>
              <a:rPr lang="en-US" sz="1300" b="1" dirty="0">
                <a:solidFill>
                  <a:srgbClr val="9A5B1E"/>
                </a:solidFill>
                <a:latin typeface="Calibri" pitchFamily="34" charset="0"/>
                <a:ea typeface="Calibri" pitchFamily="34" charset="-122"/>
                <a:cs typeface="Calibri" pitchFamily="34" charset="-120"/>
              </a:rPr>
              <a:t>Protocol A — fit on a Training split</a:t>
            </a:r>
            <a:endParaRPr lang="en-US" sz="1300" dirty="0"/>
          </a:p>
        </p:txBody>
      </p:sp>
      <p:sp>
        <p:nvSpPr>
          <p:cNvPr id="7" name="Text 5"/>
          <p:cNvSpPr txBox="1"/>
          <p:nvPr/>
        </p:nvSpPr>
        <p:spPr>
          <a:xfrm>
            <a:off x="822960" y="2359152"/>
            <a:ext cx="4846320" cy="603504"/>
          </a:xfrm>
          <a:prstGeom prst="rect">
            <a:avLst/>
          </a:prstGeom>
          <a:noFill/>
          <a:ln/>
        </p:spPr>
        <p:txBody>
          <a:bodyPr wrap="square" lIns="0" tIns="0" rIns="0" bIns="0" rtlCol="0" anchor="t"/>
          <a:lstStyle/>
          <a:p>
            <a:pPr indent="0" marL="0">
              <a:buNone/>
            </a:pPr>
            <a:r>
              <a:rPr lang="en-US" sz="1400" b="1" dirty="0">
                <a:solidFill>
                  <a:srgbClr val="12263A"/>
                </a:solidFill>
                <a:latin typeface="Calibri" pitchFamily="34" charset="0"/>
                <a:ea typeface="Calibri" pitchFamily="34" charset="-122"/>
                <a:cs typeface="Calibri" pitchFamily="34" charset="-120"/>
              </a:rPr>
              <a:t>T = 0.65</a:t>
            </a:r>
            <a:endParaRPr lang="en-US" sz="1400" dirty="0"/>
          </a:p>
          <a:p>
            <a:pPr indent="0" marL="0">
              <a:buNone/>
            </a:pPr>
            <a:r>
              <a:rPr lang="en-US" sz="1400" b="1" dirty="0">
                <a:solidFill>
                  <a:srgbClr val="12263A"/>
                </a:solidFill>
                <a:latin typeface="Calibri" pitchFamily="34" charset="0"/>
                <a:ea typeface="Calibri" pitchFamily="34" charset="-122"/>
                <a:cs typeface="Calibri" pitchFamily="34" charset="-120"/>
              </a:rPr>
              <a:t>ECE 0.0214 → 0.0369</a:t>
            </a:r>
            <a:endParaRPr lang="en-US" sz="1400" dirty="0"/>
          </a:p>
        </p:txBody>
      </p:sp>
      <p:sp>
        <p:nvSpPr>
          <p:cNvPr id="8" name="Text 6"/>
          <p:cNvSpPr txBox="1"/>
          <p:nvPr/>
        </p:nvSpPr>
        <p:spPr>
          <a:xfrm>
            <a:off x="822960" y="2999232"/>
            <a:ext cx="4846320" cy="100584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FAILED. The model is near-perfect on the training distribution, so the fit sharpens confidence further. That does not transfer across the domain gap to the test set — it made calibration 72% worse.</a:t>
            </a:r>
            <a:endParaRPr lang="en-US" sz="1100" dirty="0"/>
          </a:p>
        </p:txBody>
      </p:sp>
      <p:sp>
        <p:nvSpPr>
          <p:cNvPr id="9" name="Shape 7"/>
          <p:cNvSpPr/>
          <p:nvPr/>
        </p:nvSpPr>
        <p:spPr>
          <a:xfrm>
            <a:off x="6217920" y="1847088"/>
            <a:ext cx="5394960" cy="2286000"/>
          </a:xfrm>
          <a:prstGeom prst="roundRect">
            <a:avLst>
              <a:gd name="adj" fmla="val 3200"/>
            </a:avLst>
          </a:prstGeom>
          <a:solidFill>
            <a:srgbClr val="DDF3EE"/>
          </a:solidFill>
          <a:ln w="12700">
            <a:solidFill>
              <a:srgbClr val="A8DDD1"/>
            </a:solidFill>
            <a:prstDash val="solid"/>
          </a:ln>
        </p:spPr>
      </p:sp>
      <p:sp>
        <p:nvSpPr>
          <p:cNvPr id="10" name="Text 8"/>
          <p:cNvSpPr txBox="1"/>
          <p:nvPr/>
        </p:nvSpPr>
        <p:spPr>
          <a:xfrm>
            <a:off x="6492240" y="2029968"/>
            <a:ext cx="4846320" cy="274320"/>
          </a:xfrm>
          <a:prstGeom prst="rect">
            <a:avLst/>
          </a:prstGeom>
          <a:noFill/>
          <a:ln/>
        </p:spPr>
        <p:txBody>
          <a:bodyPr wrap="square" lIns="0" tIns="0" rIns="0" bIns="0" rtlCol="0" anchor="t"/>
          <a:lstStyle/>
          <a:p>
            <a:pPr indent="0" marL="0">
              <a:buNone/>
            </a:pPr>
            <a:r>
              <a:rPr lang="en-US" sz="1300" b="1" dirty="0">
                <a:solidFill>
                  <a:srgbClr val="0A6B5B"/>
                </a:solidFill>
                <a:latin typeface="Calibri" pitchFamily="34" charset="0"/>
                <a:ea typeface="Calibri" pitchFamily="34" charset="-122"/>
                <a:cs typeface="Calibri" pitchFamily="34" charset="-120"/>
              </a:rPr>
              <a:t>Protocol B — fit on deployment data</a:t>
            </a:r>
            <a:endParaRPr lang="en-US" sz="1300" dirty="0"/>
          </a:p>
        </p:txBody>
      </p:sp>
      <p:sp>
        <p:nvSpPr>
          <p:cNvPr id="11" name="Text 9"/>
          <p:cNvSpPr txBox="1"/>
          <p:nvPr/>
        </p:nvSpPr>
        <p:spPr>
          <a:xfrm>
            <a:off x="6492240" y="2359152"/>
            <a:ext cx="4846320" cy="603504"/>
          </a:xfrm>
          <a:prstGeom prst="rect">
            <a:avLst/>
          </a:prstGeom>
          <a:noFill/>
          <a:ln/>
        </p:spPr>
        <p:txBody>
          <a:bodyPr wrap="square" lIns="0" tIns="0" rIns="0" bIns="0" rtlCol="0" anchor="t"/>
          <a:lstStyle/>
          <a:p>
            <a:pPr indent="0" marL="0">
              <a:buNone/>
            </a:pPr>
            <a:r>
              <a:rPr lang="en-US" sz="1400" b="1" dirty="0">
                <a:solidFill>
                  <a:srgbClr val="12263A"/>
                </a:solidFill>
                <a:latin typeface="Calibri" pitchFamily="34" charset="0"/>
                <a:ea typeface="Calibri" pitchFamily="34" charset="-122"/>
                <a:cs typeface="Calibri" pitchFamily="34" charset="-120"/>
              </a:rPr>
              <a:t>T ≈ 1.24</a:t>
            </a:r>
            <a:endParaRPr lang="en-US" sz="1400" dirty="0"/>
          </a:p>
          <a:p>
            <a:pPr indent="0" marL="0">
              <a:buNone/>
            </a:pPr>
            <a:r>
              <a:rPr lang="en-US" sz="1400" b="1" dirty="0">
                <a:solidFill>
                  <a:srgbClr val="12263A"/>
                </a:solidFill>
                <a:latin typeface="Calibri" pitchFamily="34" charset="0"/>
                <a:ea typeface="Calibri" pitchFamily="34" charset="-122"/>
                <a:cs typeface="Calibri" pitchFamily="34" charset="-120"/>
              </a:rPr>
              <a:t>ECE 0.0238 → 0.0165</a:t>
            </a:r>
            <a:endParaRPr lang="en-US" sz="1400" dirty="0"/>
          </a:p>
        </p:txBody>
      </p:sp>
      <p:sp>
        <p:nvSpPr>
          <p:cNvPr id="12" name="Text 10"/>
          <p:cNvSpPr txBox="1"/>
          <p:nvPr/>
        </p:nvSpPr>
        <p:spPr>
          <a:xfrm>
            <a:off x="6492240" y="2999232"/>
            <a:ext cx="4846320" cy="100584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WORKED. 2-fold within the deployment distribution: a 31% relative reduction in calibration error, accuracy unchanged to the digit. T &gt; 1 softens, which is the expected correction for an over-confident model.</a:t>
            </a:r>
            <a:endParaRPr lang="en-US" sz="1100" dirty="0"/>
          </a:p>
        </p:txBody>
      </p:sp>
      <p:sp>
        <p:nvSpPr>
          <p:cNvPr id="13" name="Shape 11"/>
          <p:cNvSpPr/>
          <p:nvPr/>
        </p:nvSpPr>
        <p:spPr>
          <a:xfrm>
            <a:off x="548640" y="4315968"/>
            <a:ext cx="11064240" cy="1371600"/>
          </a:xfrm>
          <a:prstGeom prst="roundRect">
            <a:avLst>
              <a:gd name="adj" fmla="val 5333"/>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4" name="Text 12"/>
          <p:cNvSpPr txBox="1"/>
          <p:nvPr/>
        </p:nvSpPr>
        <p:spPr>
          <a:xfrm>
            <a:off x="841248" y="4480560"/>
            <a:ext cx="10424160" cy="274320"/>
          </a:xfrm>
          <a:prstGeom prst="rect">
            <a:avLst/>
          </a:prstGeom>
          <a:noFill/>
          <a:ln/>
        </p:spPr>
        <p:txBody>
          <a:bodyPr wrap="square" lIns="0" tIns="0" rIns="0" bIns="0" rtlCol="0" anchor="t"/>
          <a:lstStyle/>
          <a:p>
            <a:pPr indent="0" marL="0">
              <a:buNone/>
            </a:pPr>
            <a:r>
              <a:rPr lang="en-US" sz="1400" b="1" dirty="0">
                <a:solidFill>
                  <a:srgbClr val="0E2A47"/>
                </a:solidFill>
                <a:latin typeface="Calibri" pitchFamily="34" charset="0"/>
                <a:ea typeface="Calibri" pitchFamily="34" charset="-122"/>
                <a:cs typeface="Calibri" pitchFamily="34" charset="-120"/>
              </a:rPr>
              <a:t>So what ships?</a:t>
            </a:r>
            <a:endParaRPr lang="en-US" sz="1400" dirty="0"/>
          </a:p>
        </p:txBody>
      </p:sp>
      <p:sp>
        <p:nvSpPr>
          <p:cNvPr id="15" name="Text 13"/>
          <p:cNvSpPr txBox="1"/>
          <p:nvPr/>
        </p:nvSpPr>
        <p:spPr>
          <a:xfrm>
            <a:off x="841248" y="4791456"/>
            <a:ext cx="10424160" cy="777240"/>
          </a:xfrm>
          <a:prstGeom prst="rect">
            <a:avLst/>
          </a:prstGeom>
          <a:noFill/>
          <a:ln/>
        </p:spPr>
        <p:txBody>
          <a:bodyPr wrap="square" lIns="0" tIns="0" rIns="0" bIns="0" rtlCol="0" anchor="t"/>
          <a:lstStyle/>
          <a:p>
            <a:pPr indent="0" marL="0">
              <a:buNone/>
            </a:pPr>
            <a:r>
              <a:rPr lang="en-US" sz="1150" dirty="0">
                <a:solidFill>
                  <a:srgbClr val="12263A"/>
                </a:solidFill>
                <a:latin typeface="Calibri" pitchFamily="34" charset="0"/>
                <a:ea typeface="Calibri" pitchFamily="34" charset="-122"/>
                <a:cs typeface="Calibri" pitchFamily="34" charset="-120"/>
              </a:rPr>
              <a:t>No temperature is hardcoded — a value fitted on our own test set would contaminate the reported metrics. Instead the project ships calibrate.py, and the engine loads saved_models/calibration.json automatically when a site fits its own on its own scans. The finding is the deliverable: calibration must be fitted on deployment data, not training data.</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HONEST STATUS</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What we solved, and what remains</a:t>
            </a:r>
            <a:endParaRPr lang="en-US" sz="3200" dirty="0"/>
          </a:p>
        </p:txBody>
      </p:sp>
      <p:sp>
        <p:nvSpPr>
          <p:cNvPr id="4" name="Text 2"/>
          <p:cNvSpPr txBox="1"/>
          <p:nvPr/>
        </p:nvSpPr>
        <p:spPr>
          <a:xfrm>
            <a:off x="548640" y="1280160"/>
            <a:ext cx="5486400" cy="256032"/>
          </a:xfrm>
          <a:prstGeom prst="rect">
            <a:avLst/>
          </a:prstGeom>
          <a:noFill/>
          <a:ln/>
        </p:spPr>
        <p:txBody>
          <a:bodyPr wrap="square" lIns="0" tIns="0" rIns="0" bIns="0" rtlCol="0" anchor="t"/>
          <a:lstStyle/>
          <a:p>
            <a:pPr indent="0" marL="0">
              <a:buNone/>
            </a:pPr>
            <a:r>
              <a:rPr lang="en-US" sz="1100" b="1" spc="200" kern="0" dirty="0">
                <a:solidFill>
                  <a:srgbClr val="00A896"/>
                </a:solidFill>
                <a:latin typeface="Calibri" pitchFamily="34" charset="0"/>
                <a:ea typeface="Calibri" pitchFamily="34" charset="-122"/>
                <a:cs typeface="Calibri" pitchFamily="34" charset="-120"/>
              </a:rPr>
              <a:t>SOLVED</a:t>
            </a:r>
            <a:endParaRPr lang="en-US" sz="1100" dirty="0"/>
          </a:p>
        </p:txBody>
      </p:sp>
      <p:sp>
        <p:nvSpPr>
          <p:cNvPr id="5" name="Shape 3"/>
          <p:cNvSpPr/>
          <p:nvPr/>
        </p:nvSpPr>
        <p:spPr>
          <a:xfrm>
            <a:off x="548640" y="1572768"/>
            <a:ext cx="11064240" cy="822960"/>
          </a:xfrm>
          <a:prstGeom prst="roundRect">
            <a:avLst>
              <a:gd name="adj" fmla="val 8889"/>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6" name="Shape 4"/>
          <p:cNvSpPr/>
          <p:nvPr/>
        </p:nvSpPr>
        <p:spPr>
          <a:xfrm>
            <a:off x="804672" y="1783080"/>
            <a:ext cx="402336" cy="402336"/>
          </a:xfrm>
          <a:prstGeom prst="ellipse">
            <a:avLst/>
          </a:prstGeom>
          <a:solidFill>
            <a:srgbClr val="00A896"/>
          </a:solidFill>
          <a:ln w="12700">
            <a:solidFill>
              <a:srgbClr val="00A896"/>
            </a:solidFill>
            <a:prstDash val="solid"/>
          </a:ln>
        </p:spPr>
      </p:sp>
      <p:sp>
        <p:nvSpPr>
          <p:cNvPr id="7" name="Text 5"/>
          <p:cNvSpPr txBox="1"/>
          <p:nvPr/>
        </p:nvSpPr>
        <p:spPr>
          <a:xfrm>
            <a:off x="804672" y="1783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txBox="1"/>
          <p:nvPr/>
        </p:nvSpPr>
        <p:spPr>
          <a:xfrm>
            <a:off x="1353312" y="1709928"/>
            <a:ext cx="3291840" cy="548640"/>
          </a:xfrm>
          <a:prstGeom prst="rect">
            <a:avLst/>
          </a:prstGeom>
          <a:noFill/>
          <a:ln/>
        </p:spPr>
        <p:txBody>
          <a:bodyPr wrap="square" lIns="0" tIns="0" rIns="0" bIns="0" rtlCol="0" anchor="t"/>
          <a:lstStyle/>
          <a:p>
            <a:pPr indent="0" marL="0">
              <a:buNone/>
            </a:pPr>
            <a:r>
              <a:rPr lang="en-US" sz="1250" b="1" dirty="0">
                <a:solidFill>
                  <a:srgbClr val="0E2A47"/>
                </a:solidFill>
                <a:latin typeface="Calibri" pitchFamily="34" charset="0"/>
                <a:ea typeface="Calibri" pitchFamily="34" charset="-122"/>
                <a:cs typeface="Calibri" pitchFamily="34" charset="-120"/>
              </a:rPr>
              <a:t>Confidence calibration</a:t>
            </a:r>
            <a:endParaRPr lang="en-US" sz="1250" dirty="0"/>
          </a:p>
        </p:txBody>
      </p:sp>
      <p:sp>
        <p:nvSpPr>
          <p:cNvPr id="9" name="Text 7"/>
          <p:cNvSpPr txBox="1"/>
          <p:nvPr/>
        </p:nvSpPr>
        <p:spPr>
          <a:xfrm>
            <a:off x="4754880" y="1728216"/>
            <a:ext cx="6675120" cy="566928"/>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calibrate.py fits a temperature and the engine loads it. Measured 31% ECE reduction when fitted on deployment data.</a:t>
            </a:r>
            <a:endParaRPr lang="en-US" sz="1050" dirty="0"/>
          </a:p>
        </p:txBody>
      </p:sp>
      <p:sp>
        <p:nvSpPr>
          <p:cNvPr id="10" name="Shape 8"/>
          <p:cNvSpPr/>
          <p:nvPr/>
        </p:nvSpPr>
        <p:spPr>
          <a:xfrm>
            <a:off x="548640" y="2505456"/>
            <a:ext cx="11064240" cy="822960"/>
          </a:xfrm>
          <a:prstGeom prst="roundRect">
            <a:avLst>
              <a:gd name="adj" fmla="val 8889"/>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1" name="Shape 9"/>
          <p:cNvSpPr/>
          <p:nvPr/>
        </p:nvSpPr>
        <p:spPr>
          <a:xfrm>
            <a:off x="804672" y="2715768"/>
            <a:ext cx="402336" cy="402336"/>
          </a:xfrm>
          <a:prstGeom prst="ellipse">
            <a:avLst/>
          </a:prstGeom>
          <a:solidFill>
            <a:srgbClr val="00A896"/>
          </a:solidFill>
          <a:ln w="12700">
            <a:solidFill>
              <a:srgbClr val="00A896"/>
            </a:solidFill>
            <a:prstDash val="solid"/>
          </a:ln>
        </p:spPr>
      </p:sp>
      <p:sp>
        <p:nvSpPr>
          <p:cNvPr id="12" name="Text 10"/>
          <p:cNvSpPr txBox="1"/>
          <p:nvPr/>
        </p:nvSpPr>
        <p:spPr>
          <a:xfrm>
            <a:off x="804672" y="27157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1353312" y="2642616"/>
            <a:ext cx="3291840" cy="548640"/>
          </a:xfrm>
          <a:prstGeom prst="rect">
            <a:avLst/>
          </a:prstGeom>
          <a:noFill/>
          <a:ln/>
        </p:spPr>
        <p:txBody>
          <a:bodyPr wrap="square" lIns="0" tIns="0" rIns="0" bIns="0" rtlCol="0" anchor="t"/>
          <a:lstStyle/>
          <a:p>
            <a:pPr indent="0" marL="0">
              <a:buNone/>
            </a:pPr>
            <a:r>
              <a:rPr lang="en-US" sz="1250" b="1" dirty="0">
                <a:solidFill>
                  <a:srgbClr val="0E2A47"/>
                </a:solidFill>
                <a:latin typeface="Calibri" pitchFamily="34" charset="0"/>
                <a:ea typeface="Calibri" pitchFamily="34" charset="-122"/>
                <a:cs typeface="Calibri" pitchFamily="34" charset="-120"/>
              </a:rPr>
              <a:t>Leakage found, removed and re-measured</a:t>
            </a:r>
            <a:endParaRPr lang="en-US" sz="1250" dirty="0"/>
          </a:p>
        </p:txBody>
      </p:sp>
      <p:sp>
        <p:nvSpPr>
          <p:cNvPr id="14" name="Text 12"/>
          <p:cNvSpPr txBox="1"/>
          <p:nvPr/>
        </p:nvSpPr>
        <p:spPr>
          <a:xfrm>
            <a:off x="4754880" y="2660904"/>
            <a:ext cx="6675120" cy="566928"/>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411 contaminated test images (25.7%) found; deduplicate_dataset.py rebuilds a clean dataset; corrected headline 94.53%.</a:t>
            </a:r>
            <a:endParaRPr lang="en-US" sz="1050" dirty="0"/>
          </a:p>
        </p:txBody>
      </p:sp>
      <p:sp>
        <p:nvSpPr>
          <p:cNvPr id="15" name="Text 13"/>
          <p:cNvSpPr txBox="1"/>
          <p:nvPr/>
        </p:nvSpPr>
        <p:spPr>
          <a:xfrm>
            <a:off x="548640" y="3529584"/>
            <a:ext cx="5486400" cy="256032"/>
          </a:xfrm>
          <a:prstGeom prst="rect">
            <a:avLst/>
          </a:prstGeom>
          <a:noFill/>
          <a:ln/>
        </p:spPr>
        <p:txBody>
          <a:bodyPr wrap="square" lIns="0" tIns="0" rIns="0" bIns="0" rtlCol="0" anchor="t"/>
          <a:lstStyle/>
          <a:p>
            <a:pPr indent="0" marL="0">
              <a:buNone/>
            </a:pPr>
            <a:r>
              <a:rPr lang="en-US" sz="1100" b="1" spc="200" kern="0" dirty="0">
                <a:solidFill>
                  <a:srgbClr val="E9973F"/>
                </a:solidFill>
                <a:latin typeface="Calibri" pitchFamily="34" charset="0"/>
                <a:ea typeface="Calibri" pitchFamily="34" charset="-122"/>
                <a:cs typeface="Calibri" pitchFamily="34" charset="-120"/>
              </a:rPr>
              <a:t>STILL OPEN — AND WHY</a:t>
            </a:r>
            <a:endParaRPr lang="en-US" sz="1100" dirty="0"/>
          </a:p>
        </p:txBody>
      </p:sp>
      <p:sp>
        <p:nvSpPr>
          <p:cNvPr id="16" name="Shape 14"/>
          <p:cNvSpPr/>
          <p:nvPr/>
        </p:nvSpPr>
        <p:spPr>
          <a:xfrm>
            <a:off x="804672" y="3895344"/>
            <a:ext cx="292608" cy="292608"/>
          </a:xfrm>
          <a:prstGeom prst="ellipse">
            <a:avLst/>
          </a:prstGeom>
          <a:solidFill>
            <a:srgbClr val="5B6E88"/>
          </a:solidFill>
          <a:ln w="12700">
            <a:solidFill>
              <a:srgbClr val="5B6E88"/>
            </a:solidFill>
            <a:prstDash val="solid"/>
          </a:ln>
        </p:spPr>
      </p:sp>
      <p:sp>
        <p:nvSpPr>
          <p:cNvPr id="17" name="Text 15"/>
          <p:cNvSpPr txBox="1"/>
          <p:nvPr/>
        </p:nvSpPr>
        <p:spPr>
          <a:xfrm>
            <a:off x="804672" y="38953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6"/>
          <p:cNvSpPr txBox="1"/>
          <p:nvPr/>
        </p:nvSpPr>
        <p:spPr>
          <a:xfrm>
            <a:off x="1234440" y="3877056"/>
            <a:ext cx="3291840" cy="310896"/>
          </a:xfrm>
          <a:prstGeom prst="rect">
            <a:avLst/>
          </a:prstGeom>
          <a:noFill/>
          <a:ln/>
        </p:spPr>
        <p:txBody>
          <a:bodyPr wrap="square" lIns="0" tIns="0" rIns="0" bIns="0" rtlCol="0" anchor="t"/>
          <a:lstStyle/>
          <a:p>
            <a:pPr indent="0" marL="0">
              <a:buNone/>
            </a:pPr>
            <a:r>
              <a:rPr lang="en-US" sz="1200" b="1" dirty="0">
                <a:solidFill>
                  <a:srgbClr val="0E2A47"/>
                </a:solidFill>
                <a:latin typeface="Calibri" pitchFamily="34" charset="0"/>
                <a:ea typeface="Calibri" pitchFamily="34" charset="-122"/>
                <a:cs typeface="Calibri" pitchFamily="34" charset="-120"/>
              </a:rPr>
              <a:t>Patient-level splits</a:t>
            </a:r>
            <a:endParaRPr lang="en-US" sz="1200" dirty="0"/>
          </a:p>
        </p:txBody>
      </p:sp>
      <p:sp>
        <p:nvSpPr>
          <p:cNvPr id="19" name="Text 17"/>
          <p:cNvSpPr txBox="1"/>
          <p:nvPr/>
        </p:nvSpPr>
        <p:spPr>
          <a:xfrm>
            <a:off x="4663440" y="3886200"/>
            <a:ext cx="6766560" cy="36576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The dataset ships no patient identifiers. Our audit bounds the damage but cannot remove it.</a:t>
            </a:r>
            <a:endParaRPr lang="en-US" sz="1050" dirty="0"/>
          </a:p>
        </p:txBody>
      </p:sp>
      <p:sp>
        <p:nvSpPr>
          <p:cNvPr id="20" name="Shape 18"/>
          <p:cNvSpPr/>
          <p:nvPr/>
        </p:nvSpPr>
        <p:spPr>
          <a:xfrm>
            <a:off x="804672" y="4462272"/>
            <a:ext cx="292608" cy="292608"/>
          </a:xfrm>
          <a:prstGeom prst="ellipse">
            <a:avLst/>
          </a:prstGeom>
          <a:solidFill>
            <a:srgbClr val="5B6E88"/>
          </a:solidFill>
          <a:ln w="12700">
            <a:solidFill>
              <a:srgbClr val="5B6E88"/>
            </a:solidFill>
            <a:prstDash val="solid"/>
          </a:ln>
        </p:spPr>
      </p:sp>
      <p:sp>
        <p:nvSpPr>
          <p:cNvPr id="21" name="Text 19"/>
          <p:cNvSpPr txBox="1"/>
          <p:nvPr/>
        </p:nvSpPr>
        <p:spPr>
          <a:xfrm>
            <a:off x="804672" y="44622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txBox="1"/>
          <p:nvPr/>
        </p:nvSpPr>
        <p:spPr>
          <a:xfrm>
            <a:off x="1234440" y="4443984"/>
            <a:ext cx="3291840" cy="310896"/>
          </a:xfrm>
          <a:prstGeom prst="rect">
            <a:avLst/>
          </a:prstGeom>
          <a:noFill/>
          <a:ln/>
        </p:spPr>
        <p:txBody>
          <a:bodyPr wrap="square" lIns="0" tIns="0" rIns="0" bIns="0" rtlCol="0" anchor="t"/>
          <a:lstStyle/>
          <a:p>
            <a:pPr indent="0" marL="0">
              <a:buNone/>
            </a:pPr>
            <a:r>
              <a:rPr lang="en-US" sz="1200" b="1" dirty="0">
                <a:solidFill>
                  <a:srgbClr val="0E2A47"/>
                </a:solidFill>
                <a:latin typeface="Calibri" pitchFamily="34" charset="0"/>
                <a:ea typeface="Calibri" pitchFamily="34" charset="-122"/>
                <a:cs typeface="Calibri" pitchFamily="34" charset="-120"/>
              </a:rPr>
              <a:t>3D volumetric context</a:t>
            </a:r>
            <a:endParaRPr lang="en-US" sz="1200" dirty="0"/>
          </a:p>
        </p:txBody>
      </p:sp>
      <p:sp>
        <p:nvSpPr>
          <p:cNvPr id="23" name="Text 21"/>
          <p:cNvSpPr txBox="1"/>
          <p:nvPr/>
        </p:nvSpPr>
        <p:spPr>
          <a:xfrm>
            <a:off x="4663440" y="4453128"/>
            <a:ext cx="6766560" cy="36576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The dataset is 2D slices only. A volume model needs volume data we do not have.</a:t>
            </a:r>
            <a:endParaRPr lang="en-US" sz="1050" dirty="0"/>
          </a:p>
        </p:txBody>
      </p:sp>
      <p:sp>
        <p:nvSpPr>
          <p:cNvPr id="24" name="Shape 22"/>
          <p:cNvSpPr/>
          <p:nvPr/>
        </p:nvSpPr>
        <p:spPr>
          <a:xfrm>
            <a:off x="804672" y="5029200"/>
            <a:ext cx="292608" cy="292608"/>
          </a:xfrm>
          <a:prstGeom prst="ellipse">
            <a:avLst/>
          </a:prstGeom>
          <a:solidFill>
            <a:srgbClr val="5B6E88"/>
          </a:solidFill>
          <a:ln w="12700">
            <a:solidFill>
              <a:srgbClr val="5B6E88"/>
            </a:solidFill>
            <a:prstDash val="solid"/>
          </a:ln>
        </p:spPr>
      </p:sp>
      <p:sp>
        <p:nvSpPr>
          <p:cNvPr id="25" name="Text 23"/>
          <p:cNvSpPr txBox="1"/>
          <p:nvPr/>
        </p:nvSpPr>
        <p:spPr>
          <a:xfrm>
            <a:off x="804672" y="50292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4"/>
          <p:cNvSpPr txBox="1"/>
          <p:nvPr/>
        </p:nvSpPr>
        <p:spPr>
          <a:xfrm>
            <a:off x="1234440" y="5010912"/>
            <a:ext cx="3291840" cy="310896"/>
          </a:xfrm>
          <a:prstGeom prst="rect">
            <a:avLst/>
          </a:prstGeom>
          <a:noFill/>
          <a:ln/>
        </p:spPr>
        <p:txBody>
          <a:bodyPr wrap="square" lIns="0" tIns="0" rIns="0" bIns="0" rtlCol="0" anchor="t"/>
          <a:lstStyle/>
          <a:p>
            <a:pPr indent="0" marL="0">
              <a:buNone/>
            </a:pPr>
            <a:r>
              <a:rPr lang="en-US" sz="1200" b="1" dirty="0">
                <a:solidFill>
                  <a:srgbClr val="0E2A47"/>
                </a:solidFill>
                <a:latin typeface="Calibri" pitchFamily="34" charset="0"/>
                <a:ea typeface="Calibri" pitchFamily="34" charset="-122"/>
                <a:cs typeface="Calibri" pitchFamily="34" charset="-120"/>
              </a:rPr>
              <a:t>Predicted WHO grade</a:t>
            </a:r>
            <a:endParaRPr lang="en-US" sz="1200" dirty="0"/>
          </a:p>
        </p:txBody>
      </p:sp>
      <p:sp>
        <p:nvSpPr>
          <p:cNvPr id="27" name="Text 25"/>
          <p:cNvSpPr txBox="1"/>
          <p:nvPr/>
        </p:nvSpPr>
        <p:spPr>
          <a:xfrm>
            <a:off x="4663440" y="5020056"/>
            <a:ext cx="6766560" cy="36576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No grade labels exist in the dataset. The grade shown is a reference lookup for the predicted type.</a:t>
            </a:r>
            <a:endParaRPr lang="en-US" sz="1050" dirty="0"/>
          </a:p>
        </p:txBody>
      </p:sp>
      <p:sp>
        <p:nvSpPr>
          <p:cNvPr id="28" name="Shape 26"/>
          <p:cNvSpPr/>
          <p:nvPr/>
        </p:nvSpPr>
        <p:spPr>
          <a:xfrm>
            <a:off x="804672" y="5596128"/>
            <a:ext cx="292608" cy="292608"/>
          </a:xfrm>
          <a:prstGeom prst="ellipse">
            <a:avLst/>
          </a:prstGeom>
          <a:solidFill>
            <a:srgbClr val="E9973F"/>
          </a:solidFill>
          <a:ln w="12700">
            <a:solidFill>
              <a:srgbClr val="E9973F"/>
            </a:solidFill>
            <a:prstDash val="solid"/>
          </a:ln>
        </p:spPr>
      </p:sp>
      <p:sp>
        <p:nvSpPr>
          <p:cNvPr id="29" name="Text 27"/>
          <p:cNvSpPr txBox="1"/>
          <p:nvPr/>
        </p:nvSpPr>
        <p:spPr>
          <a:xfrm>
            <a:off x="804672" y="559612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txBox="1"/>
          <p:nvPr/>
        </p:nvSpPr>
        <p:spPr>
          <a:xfrm>
            <a:off x="1234440" y="5577840"/>
            <a:ext cx="3291840" cy="310896"/>
          </a:xfrm>
          <a:prstGeom prst="rect">
            <a:avLst/>
          </a:prstGeom>
          <a:noFill/>
          <a:ln/>
        </p:spPr>
        <p:txBody>
          <a:bodyPr wrap="square" lIns="0" tIns="0" rIns="0" bIns="0" rtlCol="0" anchor="t"/>
          <a:lstStyle/>
          <a:p>
            <a:pPr indent="0" marL="0">
              <a:buNone/>
            </a:pPr>
            <a:r>
              <a:rPr lang="en-US" sz="1200" b="1" dirty="0">
                <a:solidFill>
                  <a:srgbClr val="0E2A47"/>
                </a:solidFill>
                <a:latin typeface="Calibri" pitchFamily="34" charset="0"/>
                <a:ea typeface="Calibri" pitchFamily="34" charset="-122"/>
                <a:cs typeface="Calibri" pitchFamily="34" charset="-120"/>
              </a:rPr>
              <a:t>Regulatory clearance</a:t>
            </a:r>
            <a:endParaRPr lang="en-US" sz="1200" dirty="0"/>
          </a:p>
        </p:txBody>
      </p:sp>
      <p:sp>
        <p:nvSpPr>
          <p:cNvPr id="31" name="Text 29"/>
          <p:cNvSpPr txBox="1"/>
          <p:nvPr/>
        </p:nvSpPr>
        <p:spPr>
          <a:xfrm>
            <a:off x="4663440" y="5586984"/>
            <a:ext cx="6766560" cy="36576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Research and educational use only. Not a medical device; every output needs radiologist verification.</a:t>
            </a:r>
            <a:endParaRPr lang="en-US" sz="1050" dirty="0"/>
          </a:p>
        </p:txBody>
      </p:sp>
      <p:sp>
        <p:nvSpPr>
          <p:cNvPr id="32" name="Text 30"/>
          <p:cNvSpPr txBox="1"/>
          <p:nvPr/>
        </p:nvSpPr>
        <p:spPr>
          <a:xfrm>
            <a:off x="548640" y="6144768"/>
            <a:ext cx="11064240" cy="310896"/>
          </a:xfrm>
          <a:prstGeom prst="rect">
            <a:avLst/>
          </a:prstGeom>
          <a:noFill/>
          <a:ln/>
        </p:spPr>
        <p:txBody>
          <a:bodyPr wrap="square" lIns="0" tIns="0" rIns="0" bIns="0" rtlCol="0" anchor="t"/>
          <a:lstStyle/>
          <a:p>
            <a:pPr indent="0" marL="0">
              <a:buNone/>
            </a:pPr>
            <a:r>
              <a:rPr lang="en-US" sz="1150" i="1" dirty="0">
                <a:solidFill>
                  <a:srgbClr val="0E2A47"/>
                </a:solidFill>
                <a:latin typeface="Calibri" pitchFamily="34" charset="0"/>
                <a:ea typeface="Calibri" pitchFamily="34" charset="-122"/>
                <a:cs typeface="Calibri" pitchFamily="34" charset="-120"/>
              </a:rPr>
              <a:t>Every remaining item is blocked by what the public dataset contains, not by engineering effort — and each is stated rather than hidden.</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9784080" y="4114800"/>
            <a:ext cx="3931920" cy="3931920"/>
          </a:xfrm>
          <a:prstGeom prst="ellipse">
            <a:avLst/>
          </a:prstGeom>
          <a:solidFill>
            <a:srgbClr val="16395E"/>
          </a:solidFill>
          <a:ln/>
        </p:spPr>
      </p:sp>
      <p:sp>
        <p:nvSpPr>
          <p:cNvPr id="3" name="Text 1"/>
          <p:cNvSpPr txBox="1"/>
          <p:nvPr/>
        </p:nvSpPr>
        <p:spPr>
          <a:xfrm>
            <a:off x="548640" y="2148840"/>
            <a:ext cx="7315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PART FOUR</a:t>
            </a:r>
            <a:endParaRPr lang="en-US" sz="1200" dirty="0"/>
          </a:p>
        </p:txBody>
      </p:sp>
      <p:sp>
        <p:nvSpPr>
          <p:cNvPr id="4" name="Text 2"/>
          <p:cNvSpPr txBox="1"/>
          <p:nvPr/>
        </p:nvSpPr>
        <p:spPr>
          <a:xfrm>
            <a:off x="548640" y="2514600"/>
            <a:ext cx="9601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Everything that works</a:t>
            </a:r>
            <a:endParaRPr lang="en-US" sz="4000" dirty="0"/>
          </a:p>
        </p:txBody>
      </p:sp>
      <p:sp>
        <p:nvSpPr>
          <p:cNvPr id="5" name="Text 3"/>
          <p:cNvSpPr txBox="1"/>
          <p:nvPr/>
        </p:nvSpPr>
        <p:spPr>
          <a:xfrm>
            <a:off x="548640" y="3474720"/>
            <a:ext cx="8778240" cy="365760"/>
          </a:xfrm>
          <a:prstGeom prst="rect">
            <a:avLst/>
          </a:prstGeom>
          <a:noFill/>
          <a:ln/>
        </p:spPr>
        <p:txBody>
          <a:bodyPr wrap="square" lIns="0" tIns="0" rIns="0" bIns="0" rtlCol="0" anchor="ctr"/>
          <a:lstStyle/>
          <a:p>
            <a:pPr indent="0" marL="0">
              <a:buNone/>
            </a:pPr>
            <a:r>
              <a:rPr lang="en-US" sz="1400" dirty="0">
                <a:solidFill>
                  <a:srgbClr val="C9DCEF"/>
                </a:solidFill>
                <a:latin typeface="Calibri" pitchFamily="34" charset="0"/>
                <a:ea typeface="Calibri" pitchFamily="34" charset="-122"/>
                <a:cs typeface="Calibri" pitchFamily="34" charset="-120"/>
              </a:rPr>
              <a:t>36 features, each exercised end-to-end against real MRI data — not a list of intentions</a:t>
            </a:r>
            <a:endParaRPr lang="en-US" sz="1400" dirty="0"/>
          </a:p>
        </p:txBody>
      </p:sp>
      <p:sp>
        <p:nvSpPr>
          <p:cNvPr id="6" name="Shape 4"/>
          <p:cNvSpPr/>
          <p:nvPr/>
        </p:nvSpPr>
        <p:spPr>
          <a:xfrm>
            <a:off x="548640" y="4206240"/>
            <a:ext cx="2560320" cy="1143000"/>
          </a:xfrm>
          <a:prstGeom prst="roundRect">
            <a:avLst>
              <a:gd name="adj" fmla="val 6400"/>
            </a:avLst>
          </a:prstGeom>
          <a:solidFill>
            <a:srgbClr val="16395E"/>
          </a:solidFill>
          <a:ln w="12700">
            <a:solidFill>
              <a:srgbClr val="27496F"/>
            </a:solidFill>
            <a:prstDash val="solid"/>
          </a:ln>
        </p:spPr>
      </p:sp>
      <p:sp>
        <p:nvSpPr>
          <p:cNvPr id="7" name="Text 5"/>
          <p:cNvSpPr txBox="1"/>
          <p:nvPr/>
        </p:nvSpPr>
        <p:spPr>
          <a:xfrm>
            <a:off x="548640" y="4352544"/>
            <a:ext cx="2560320" cy="548640"/>
          </a:xfrm>
          <a:prstGeom prst="rect">
            <a:avLst/>
          </a:prstGeom>
          <a:noFill/>
          <a:ln/>
        </p:spPr>
        <p:txBody>
          <a:bodyPr wrap="square" lIns="0" tIns="0" rIns="0" bIns="0" rtlCol="0" anchor="ctr"/>
          <a:lstStyle/>
          <a:p>
            <a:pPr algn="ctr" indent="0" marL="0">
              <a:buNone/>
            </a:pPr>
            <a:r>
              <a:rPr lang="en-US" sz="2800" b="1" dirty="0">
                <a:solidFill>
                  <a:srgbClr val="00A896"/>
                </a:solidFill>
                <a:latin typeface="Cambria" pitchFamily="34" charset="0"/>
                <a:ea typeface="Cambria" pitchFamily="34" charset="-122"/>
                <a:cs typeface="Cambria" pitchFamily="34" charset="-120"/>
              </a:rPr>
              <a:t>36 / 36</a:t>
            </a:r>
            <a:endParaRPr lang="en-US" sz="2800" dirty="0"/>
          </a:p>
        </p:txBody>
      </p:sp>
      <p:sp>
        <p:nvSpPr>
          <p:cNvPr id="8" name="Text 6"/>
          <p:cNvSpPr txBox="1"/>
          <p:nvPr/>
        </p:nvSpPr>
        <p:spPr>
          <a:xfrm>
            <a:off x="548640" y="4901184"/>
            <a:ext cx="2560320" cy="310896"/>
          </a:xfrm>
          <a:prstGeom prst="rect">
            <a:avLst/>
          </a:prstGeom>
          <a:noFill/>
          <a:ln/>
        </p:spPr>
        <p:txBody>
          <a:bodyPr wrap="square" lIns="0" tIns="0" rIns="0" bIns="0" rtlCol="0" anchor="ctr"/>
          <a:lstStyle/>
          <a:p>
            <a:pPr algn="ctr" indent="0" marL="0">
              <a:buNone/>
            </a:pPr>
            <a:r>
              <a:rPr lang="en-US" sz="1050" dirty="0">
                <a:solidFill>
                  <a:srgbClr val="C9DCEF"/>
                </a:solidFill>
                <a:latin typeface="Calibri" pitchFamily="34" charset="0"/>
                <a:ea typeface="Calibri" pitchFamily="34" charset="-122"/>
                <a:cs typeface="Calibri" pitchFamily="34" charset="-120"/>
              </a:rPr>
              <a:t>features verified</a:t>
            </a:r>
            <a:endParaRPr lang="en-US" sz="1050" dirty="0"/>
          </a:p>
        </p:txBody>
      </p:sp>
      <p:sp>
        <p:nvSpPr>
          <p:cNvPr id="9" name="Shape 7"/>
          <p:cNvSpPr/>
          <p:nvPr/>
        </p:nvSpPr>
        <p:spPr>
          <a:xfrm>
            <a:off x="3355848" y="4206240"/>
            <a:ext cx="2560320" cy="1143000"/>
          </a:xfrm>
          <a:prstGeom prst="roundRect">
            <a:avLst>
              <a:gd name="adj" fmla="val 6400"/>
            </a:avLst>
          </a:prstGeom>
          <a:solidFill>
            <a:srgbClr val="16395E"/>
          </a:solidFill>
          <a:ln w="12700">
            <a:solidFill>
              <a:srgbClr val="27496F"/>
            </a:solidFill>
            <a:prstDash val="solid"/>
          </a:ln>
        </p:spPr>
      </p:sp>
      <p:sp>
        <p:nvSpPr>
          <p:cNvPr id="10" name="Text 8"/>
          <p:cNvSpPr txBox="1"/>
          <p:nvPr/>
        </p:nvSpPr>
        <p:spPr>
          <a:xfrm>
            <a:off x="3355848" y="4352544"/>
            <a:ext cx="2560320" cy="548640"/>
          </a:xfrm>
          <a:prstGeom prst="rect">
            <a:avLst/>
          </a:prstGeom>
          <a:noFill/>
          <a:ln/>
        </p:spPr>
        <p:txBody>
          <a:bodyPr wrap="square" lIns="0" tIns="0" rIns="0" bIns="0" rtlCol="0" anchor="ctr"/>
          <a:lstStyle/>
          <a:p>
            <a:pPr algn="ctr" indent="0" marL="0">
              <a:buNone/>
            </a:pPr>
            <a:r>
              <a:rPr lang="en-US" sz="2800" b="1" dirty="0">
                <a:solidFill>
                  <a:srgbClr val="00A896"/>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55848" y="4901184"/>
            <a:ext cx="2560320" cy="310896"/>
          </a:xfrm>
          <a:prstGeom prst="rect">
            <a:avLst/>
          </a:prstGeom>
          <a:noFill/>
          <a:ln/>
        </p:spPr>
        <p:txBody>
          <a:bodyPr wrap="square" lIns="0" tIns="0" rIns="0" bIns="0" rtlCol="0" anchor="ctr"/>
          <a:lstStyle/>
          <a:p>
            <a:pPr algn="ctr" indent="0" marL="0">
              <a:buNone/>
            </a:pPr>
            <a:r>
              <a:rPr lang="en-US" sz="1050" dirty="0">
                <a:solidFill>
                  <a:srgbClr val="C9DCEF"/>
                </a:solidFill>
                <a:latin typeface="Calibri" pitchFamily="34" charset="0"/>
                <a:ea typeface="Calibri" pitchFamily="34" charset="-122"/>
                <a:cs typeface="Calibri" pitchFamily="34" charset="-120"/>
              </a:rPr>
              <a:t>categories</a:t>
            </a:r>
            <a:endParaRPr lang="en-US" sz="1050" dirty="0"/>
          </a:p>
        </p:txBody>
      </p:sp>
      <p:sp>
        <p:nvSpPr>
          <p:cNvPr id="12" name="Shape 10"/>
          <p:cNvSpPr/>
          <p:nvPr/>
        </p:nvSpPr>
        <p:spPr>
          <a:xfrm>
            <a:off x="6163056" y="4206240"/>
            <a:ext cx="2560320" cy="1143000"/>
          </a:xfrm>
          <a:prstGeom prst="roundRect">
            <a:avLst>
              <a:gd name="adj" fmla="val 6400"/>
            </a:avLst>
          </a:prstGeom>
          <a:solidFill>
            <a:srgbClr val="16395E"/>
          </a:solidFill>
          <a:ln w="12700">
            <a:solidFill>
              <a:srgbClr val="27496F"/>
            </a:solidFill>
            <a:prstDash val="solid"/>
          </a:ln>
        </p:spPr>
      </p:sp>
      <p:sp>
        <p:nvSpPr>
          <p:cNvPr id="13" name="Text 11"/>
          <p:cNvSpPr txBox="1"/>
          <p:nvPr/>
        </p:nvSpPr>
        <p:spPr>
          <a:xfrm>
            <a:off x="6163056" y="4352544"/>
            <a:ext cx="2560320" cy="548640"/>
          </a:xfrm>
          <a:prstGeom prst="rect">
            <a:avLst/>
          </a:prstGeom>
          <a:noFill/>
          <a:ln/>
        </p:spPr>
        <p:txBody>
          <a:bodyPr wrap="square" lIns="0" tIns="0" rIns="0" bIns="0" rtlCol="0" anchor="ctr"/>
          <a:lstStyle/>
          <a:p>
            <a:pPr algn="ctr" indent="0" marL="0">
              <a:buNone/>
            </a:pPr>
            <a:r>
              <a:rPr lang="en-US" sz="2800" b="1" dirty="0">
                <a:solidFill>
                  <a:srgbClr val="00A896"/>
                </a:solidFill>
                <a:latin typeface="Cambria" pitchFamily="34" charset="0"/>
                <a:ea typeface="Cambria" pitchFamily="34" charset="-122"/>
                <a:cs typeface="Cambria" pitchFamily="34" charset="-120"/>
              </a:rPr>
              <a:t>3</a:t>
            </a:r>
            <a:endParaRPr lang="en-US" sz="2800" dirty="0"/>
          </a:p>
        </p:txBody>
      </p:sp>
      <p:sp>
        <p:nvSpPr>
          <p:cNvPr id="14" name="Text 12"/>
          <p:cNvSpPr txBox="1"/>
          <p:nvPr/>
        </p:nvSpPr>
        <p:spPr>
          <a:xfrm>
            <a:off x="6163056" y="4901184"/>
            <a:ext cx="2560320" cy="310896"/>
          </a:xfrm>
          <a:prstGeom prst="rect">
            <a:avLst/>
          </a:prstGeom>
          <a:noFill/>
          <a:ln/>
        </p:spPr>
        <p:txBody>
          <a:bodyPr wrap="square" lIns="0" tIns="0" rIns="0" bIns="0" rtlCol="0" anchor="ctr"/>
          <a:lstStyle/>
          <a:p>
            <a:pPr algn="ctr" indent="0" marL="0">
              <a:buNone/>
            </a:pPr>
            <a:r>
              <a:rPr lang="en-US" sz="1050" dirty="0">
                <a:solidFill>
                  <a:srgbClr val="C9DCEF"/>
                </a:solidFill>
                <a:latin typeface="Calibri" pitchFamily="34" charset="0"/>
                <a:ea typeface="Calibri" pitchFamily="34" charset="-122"/>
                <a:cs typeface="Calibri" pitchFamily="34" charset="-120"/>
              </a:rPr>
              <a:t>test suites green</a:t>
            </a:r>
            <a:endParaRPr lang="en-US" sz="1050" dirty="0"/>
          </a:p>
        </p:txBody>
      </p:sp>
      <p:sp>
        <p:nvSpPr>
          <p:cNvPr id="15" name="Shape 13"/>
          <p:cNvSpPr/>
          <p:nvPr/>
        </p:nvSpPr>
        <p:spPr>
          <a:xfrm>
            <a:off x="8970264" y="4206240"/>
            <a:ext cx="2560320" cy="1143000"/>
          </a:xfrm>
          <a:prstGeom prst="roundRect">
            <a:avLst>
              <a:gd name="adj" fmla="val 6400"/>
            </a:avLst>
          </a:prstGeom>
          <a:solidFill>
            <a:srgbClr val="16395E"/>
          </a:solidFill>
          <a:ln w="12700">
            <a:solidFill>
              <a:srgbClr val="27496F"/>
            </a:solidFill>
            <a:prstDash val="solid"/>
          </a:ln>
        </p:spPr>
      </p:sp>
      <p:sp>
        <p:nvSpPr>
          <p:cNvPr id="16" name="Text 14"/>
          <p:cNvSpPr txBox="1"/>
          <p:nvPr/>
        </p:nvSpPr>
        <p:spPr>
          <a:xfrm>
            <a:off x="8970264" y="4352544"/>
            <a:ext cx="2560320" cy="548640"/>
          </a:xfrm>
          <a:prstGeom prst="rect">
            <a:avLst/>
          </a:prstGeom>
          <a:noFill/>
          <a:ln/>
        </p:spPr>
        <p:txBody>
          <a:bodyPr wrap="square" lIns="0" tIns="0" rIns="0" bIns="0" rtlCol="0" anchor="ctr"/>
          <a:lstStyle/>
          <a:p>
            <a:pPr algn="ctr" indent="0" marL="0">
              <a:buNone/>
            </a:pPr>
            <a:r>
              <a:rPr lang="en-US" sz="2800" b="1" dirty="0">
                <a:solidFill>
                  <a:srgbClr val="00A896"/>
                </a:solidFill>
                <a:latin typeface="Cambria" pitchFamily="34" charset="0"/>
                <a:ea typeface="Cambria" pitchFamily="34" charset="-122"/>
                <a:cs typeface="Cambria" pitchFamily="34" charset="-120"/>
              </a:rPr>
              <a:t>0</a:t>
            </a:r>
            <a:endParaRPr lang="en-US" sz="2800" dirty="0"/>
          </a:p>
        </p:txBody>
      </p:sp>
      <p:sp>
        <p:nvSpPr>
          <p:cNvPr id="17" name="Text 15"/>
          <p:cNvSpPr txBox="1"/>
          <p:nvPr/>
        </p:nvSpPr>
        <p:spPr>
          <a:xfrm>
            <a:off x="8970264" y="4901184"/>
            <a:ext cx="2560320" cy="310896"/>
          </a:xfrm>
          <a:prstGeom prst="rect">
            <a:avLst/>
          </a:prstGeom>
          <a:noFill/>
          <a:ln/>
        </p:spPr>
        <p:txBody>
          <a:bodyPr wrap="square" lIns="0" tIns="0" rIns="0" bIns="0" rtlCol="0" anchor="ctr"/>
          <a:lstStyle/>
          <a:p>
            <a:pPr algn="ctr" indent="0" marL="0">
              <a:buNone/>
            </a:pPr>
            <a:r>
              <a:rPr lang="en-US" sz="1050" dirty="0">
                <a:solidFill>
                  <a:srgbClr val="C9DCEF"/>
                </a:solidFill>
                <a:latin typeface="Calibri" pitchFamily="34" charset="0"/>
                <a:ea typeface="Calibri" pitchFamily="34" charset="-122"/>
                <a:cs typeface="Calibri" pitchFamily="34" charset="-120"/>
              </a:rPr>
              <a:t>known defects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VERIFIED END-TO-END</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Working features — model, explainability, clinical</a:t>
            </a:r>
            <a:endParaRPr lang="en-US" sz="3200" dirty="0"/>
          </a:p>
        </p:txBody>
      </p:sp>
      <p:sp>
        <p:nvSpPr>
          <p:cNvPr id="4" name="Shape 2"/>
          <p:cNvSpPr/>
          <p:nvPr/>
        </p:nvSpPr>
        <p:spPr>
          <a:xfrm>
            <a:off x="548640" y="1371600"/>
            <a:ext cx="2926080" cy="347472"/>
          </a:xfrm>
          <a:prstGeom prst="roundRect">
            <a:avLst>
              <a:gd name="adj" fmla="val 15789"/>
            </a:avLst>
          </a:prstGeom>
          <a:solidFill>
            <a:srgbClr val="0E2A47"/>
          </a:solidFill>
          <a:ln w="12700">
            <a:solidFill>
              <a:srgbClr val="0E2A47"/>
            </a:solidFill>
            <a:prstDash val="solid"/>
          </a:ln>
        </p:spPr>
      </p:sp>
      <p:sp>
        <p:nvSpPr>
          <p:cNvPr id="5" name="Text 3"/>
          <p:cNvSpPr txBox="1"/>
          <p:nvPr/>
        </p:nvSpPr>
        <p:spPr>
          <a:xfrm>
            <a:off x="548640" y="1371600"/>
            <a:ext cx="29260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Model &amp; inference</a:t>
            </a:r>
            <a:endParaRPr lang="en-US" sz="1150" dirty="0"/>
          </a:p>
        </p:txBody>
      </p:sp>
      <p:sp>
        <p:nvSpPr>
          <p:cNvPr id="6" name="Text 4"/>
          <p:cNvSpPr txBox="1"/>
          <p:nvPr/>
        </p:nvSpPr>
        <p:spPr>
          <a:xfrm>
            <a:off x="594360" y="1828800"/>
            <a:ext cx="274320" cy="274320"/>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a:t>
            </a:r>
            <a:endParaRPr lang="en-US" sz="1200" dirty="0"/>
          </a:p>
        </p:txBody>
      </p:sp>
      <p:sp>
        <p:nvSpPr>
          <p:cNvPr id="7" name="Text 5"/>
          <p:cNvSpPr txBox="1"/>
          <p:nvPr/>
        </p:nvSpPr>
        <p:spPr>
          <a:xfrm>
            <a:off x="914400" y="1828800"/>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Hybrid ResNet50+CBAM ⊕ HOG-PCA, 4 classes</a:t>
            </a:r>
            <a:endParaRPr lang="en-US" sz="1150" dirty="0"/>
          </a:p>
        </p:txBody>
      </p:sp>
      <p:sp>
        <p:nvSpPr>
          <p:cNvPr id="8" name="Text 6"/>
          <p:cNvSpPr txBox="1"/>
          <p:nvPr/>
        </p:nvSpPr>
        <p:spPr>
          <a:xfrm>
            <a:off x="5212080" y="1828800"/>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94.53% on 1,189 images verified absent from training</a:t>
            </a:r>
            <a:endParaRPr lang="en-US" sz="1050" dirty="0"/>
          </a:p>
        </p:txBody>
      </p:sp>
      <p:sp>
        <p:nvSpPr>
          <p:cNvPr id="9" name="Text 7"/>
          <p:cNvSpPr txBox="1"/>
          <p:nvPr/>
        </p:nvSpPr>
        <p:spPr>
          <a:xfrm>
            <a:off x="594360" y="2157984"/>
            <a:ext cx="274320" cy="274320"/>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a:t>
            </a:r>
            <a:endParaRPr lang="en-US" sz="1200" dirty="0"/>
          </a:p>
        </p:txBody>
      </p:sp>
      <p:sp>
        <p:nvSpPr>
          <p:cNvPr id="10" name="Text 8"/>
          <p:cNvSpPr txBox="1"/>
          <p:nvPr/>
        </p:nvSpPr>
        <p:spPr>
          <a:xfrm>
            <a:off x="914400" y="2157984"/>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Multi-sequence composition</a:t>
            </a:r>
            <a:endParaRPr lang="en-US" sz="1150" dirty="0"/>
          </a:p>
        </p:txBody>
      </p:sp>
      <p:sp>
        <p:nvSpPr>
          <p:cNvPr id="11" name="Text 9"/>
          <p:cNvSpPr txBox="1"/>
          <p:nvPr/>
        </p:nvSpPr>
        <p:spPr>
          <a:xfrm>
            <a:off x="5212080" y="2157984"/>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T1c + T2 + FLAIR fused into one study</a:t>
            </a:r>
            <a:endParaRPr lang="en-US" sz="1050" dirty="0"/>
          </a:p>
        </p:txBody>
      </p:sp>
      <p:sp>
        <p:nvSpPr>
          <p:cNvPr id="12" name="Text 10"/>
          <p:cNvSpPr txBox="1"/>
          <p:nvPr/>
        </p:nvSpPr>
        <p:spPr>
          <a:xfrm>
            <a:off x="594360" y="2487168"/>
            <a:ext cx="274320" cy="274320"/>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a:t>
            </a:r>
            <a:endParaRPr lang="en-US" sz="1200" dirty="0"/>
          </a:p>
        </p:txBody>
      </p:sp>
      <p:sp>
        <p:nvSpPr>
          <p:cNvPr id="13" name="Text 11"/>
          <p:cNvSpPr txBox="1"/>
          <p:nvPr/>
        </p:nvSpPr>
        <p:spPr>
          <a:xfrm>
            <a:off x="914400" y="2487168"/>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Missing-sequence replication</a:t>
            </a:r>
            <a:endParaRPr lang="en-US" sz="1150" dirty="0"/>
          </a:p>
        </p:txBody>
      </p:sp>
      <p:sp>
        <p:nvSpPr>
          <p:cNvPr id="14" name="Text 12"/>
          <p:cNvSpPr txBox="1"/>
          <p:nvPr/>
        </p:nvSpPr>
        <p:spPr>
          <a:xfrm>
            <a:off x="5212080" y="2487168"/>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absent sequences replicated and logged, never silent</a:t>
            </a:r>
            <a:endParaRPr lang="en-US" sz="1050" dirty="0"/>
          </a:p>
        </p:txBody>
      </p:sp>
      <p:sp>
        <p:nvSpPr>
          <p:cNvPr id="15" name="Text 13"/>
          <p:cNvSpPr txBox="1"/>
          <p:nvPr/>
        </p:nvSpPr>
        <p:spPr>
          <a:xfrm>
            <a:off x="594360" y="2816352"/>
            <a:ext cx="274320" cy="274320"/>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914400" y="2816352"/>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Test-time augmentation</a:t>
            </a:r>
            <a:endParaRPr lang="en-US" sz="1150" dirty="0"/>
          </a:p>
        </p:txBody>
      </p:sp>
      <p:sp>
        <p:nvSpPr>
          <p:cNvPr id="17" name="Text 15"/>
          <p:cNvSpPr txBox="1"/>
          <p:nvPr/>
        </p:nvSpPr>
        <p:spPr>
          <a:xfrm>
            <a:off x="5212080" y="2816352"/>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2 anatomy-valid views; +6.6 pts over the old 8-view default</a:t>
            </a:r>
            <a:endParaRPr lang="en-US" sz="1050" dirty="0"/>
          </a:p>
        </p:txBody>
      </p:sp>
      <p:sp>
        <p:nvSpPr>
          <p:cNvPr id="18" name="Text 16"/>
          <p:cNvSpPr txBox="1"/>
          <p:nvPr/>
        </p:nvSpPr>
        <p:spPr>
          <a:xfrm>
            <a:off x="594360" y="3145536"/>
            <a:ext cx="274320" cy="274320"/>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914400" y="3145536"/>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Volumetric inference (NIfTI)</a:t>
            </a:r>
            <a:endParaRPr lang="en-US" sz="1150" dirty="0"/>
          </a:p>
        </p:txBody>
      </p:sp>
      <p:sp>
        <p:nvSpPr>
          <p:cNvPr id="20" name="Text 18"/>
          <p:cNvSpPr txBox="1"/>
          <p:nvPr/>
        </p:nvSpPr>
        <p:spPr>
          <a:xfrm>
            <a:off x="5212080" y="3145536"/>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7/9 informative slices scored and aggregated</a:t>
            </a:r>
            <a:endParaRPr lang="en-US" sz="1050" dirty="0"/>
          </a:p>
        </p:txBody>
      </p:sp>
      <p:sp>
        <p:nvSpPr>
          <p:cNvPr id="21" name="Text 19"/>
          <p:cNvSpPr txBox="1"/>
          <p:nvPr/>
        </p:nvSpPr>
        <p:spPr>
          <a:xfrm>
            <a:off x="594360" y="3474720"/>
            <a:ext cx="274320" cy="274320"/>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914400" y="3474720"/>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GPU acceleration</a:t>
            </a:r>
            <a:endParaRPr lang="en-US" sz="1150" dirty="0"/>
          </a:p>
        </p:txBody>
      </p:sp>
      <p:sp>
        <p:nvSpPr>
          <p:cNvPr id="23" name="Text 21"/>
          <p:cNvSpPr txBox="1"/>
          <p:nvPr/>
        </p:nvSpPr>
        <p:spPr>
          <a:xfrm>
            <a:off x="5212080" y="3474720"/>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RTX 3050, CUDA 12.1, AMP fp16 — 51 ms/scan</a:t>
            </a:r>
            <a:endParaRPr lang="en-US" sz="1050" dirty="0"/>
          </a:p>
        </p:txBody>
      </p:sp>
      <p:sp>
        <p:nvSpPr>
          <p:cNvPr id="24" name="Shape 22"/>
          <p:cNvSpPr/>
          <p:nvPr/>
        </p:nvSpPr>
        <p:spPr>
          <a:xfrm>
            <a:off x="548640" y="4005072"/>
            <a:ext cx="2926080" cy="347472"/>
          </a:xfrm>
          <a:prstGeom prst="roundRect">
            <a:avLst>
              <a:gd name="adj" fmla="val 15789"/>
            </a:avLst>
          </a:prstGeom>
          <a:solidFill>
            <a:srgbClr val="00A896"/>
          </a:solidFill>
          <a:ln w="12700">
            <a:solidFill>
              <a:srgbClr val="00A896"/>
            </a:solidFill>
            <a:prstDash val="solid"/>
          </a:ln>
        </p:spPr>
      </p:sp>
      <p:sp>
        <p:nvSpPr>
          <p:cNvPr id="25" name="Text 23"/>
          <p:cNvSpPr txBox="1"/>
          <p:nvPr/>
        </p:nvSpPr>
        <p:spPr>
          <a:xfrm>
            <a:off x="548640" y="4005072"/>
            <a:ext cx="29260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Explainability</a:t>
            </a:r>
            <a:endParaRPr lang="en-US" sz="1150" dirty="0"/>
          </a:p>
        </p:txBody>
      </p:sp>
      <p:sp>
        <p:nvSpPr>
          <p:cNvPr id="26" name="Text 24"/>
          <p:cNvSpPr txBox="1"/>
          <p:nvPr/>
        </p:nvSpPr>
        <p:spPr>
          <a:xfrm>
            <a:off x="594360" y="4462272"/>
            <a:ext cx="274320" cy="27432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a:t>
            </a:r>
            <a:endParaRPr lang="en-US" sz="1200" dirty="0"/>
          </a:p>
        </p:txBody>
      </p:sp>
      <p:sp>
        <p:nvSpPr>
          <p:cNvPr id="27" name="Text 25"/>
          <p:cNvSpPr txBox="1"/>
          <p:nvPr/>
        </p:nvSpPr>
        <p:spPr>
          <a:xfrm>
            <a:off x="914400" y="4462272"/>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Grad-CAM++ per modality</a:t>
            </a:r>
            <a:endParaRPr lang="en-US" sz="1150" dirty="0"/>
          </a:p>
        </p:txBody>
      </p:sp>
      <p:sp>
        <p:nvSpPr>
          <p:cNvPr id="28" name="Text 26"/>
          <p:cNvSpPr txBox="1"/>
          <p:nvPr/>
        </p:nvSpPr>
        <p:spPr>
          <a:xfrm>
            <a:off x="5212080" y="4462272"/>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144×144 map per sequence</a:t>
            </a:r>
            <a:endParaRPr lang="en-US" sz="1050" dirty="0"/>
          </a:p>
        </p:txBody>
      </p:sp>
      <p:sp>
        <p:nvSpPr>
          <p:cNvPr id="29" name="Text 27"/>
          <p:cNvSpPr txBox="1"/>
          <p:nvPr/>
        </p:nvSpPr>
        <p:spPr>
          <a:xfrm>
            <a:off x="594360" y="4791456"/>
            <a:ext cx="274320" cy="27432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914400" y="4791456"/>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Score-CAM</a:t>
            </a:r>
            <a:endParaRPr lang="en-US" sz="1150" dirty="0"/>
          </a:p>
        </p:txBody>
      </p:sp>
      <p:sp>
        <p:nvSpPr>
          <p:cNvPr id="31" name="Text 29"/>
          <p:cNvSpPr txBox="1"/>
          <p:nvPr/>
        </p:nvSpPr>
        <p:spPr>
          <a:xfrm>
            <a:off x="5212080" y="4791456"/>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gradient-free alternative view</a:t>
            </a:r>
            <a:endParaRPr lang="en-US" sz="1050" dirty="0"/>
          </a:p>
        </p:txBody>
      </p:sp>
      <p:sp>
        <p:nvSpPr>
          <p:cNvPr id="32" name="Text 30"/>
          <p:cNvSpPr txBox="1"/>
          <p:nvPr/>
        </p:nvSpPr>
        <p:spPr>
          <a:xfrm>
            <a:off x="594360" y="5120640"/>
            <a:ext cx="274320" cy="27432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a:t>
            </a:r>
            <a:endParaRPr lang="en-US" sz="1200" dirty="0"/>
          </a:p>
        </p:txBody>
      </p:sp>
      <p:sp>
        <p:nvSpPr>
          <p:cNvPr id="33" name="Text 31"/>
          <p:cNvSpPr txBox="1"/>
          <p:nvPr/>
        </p:nvSpPr>
        <p:spPr>
          <a:xfrm>
            <a:off x="914400" y="5120640"/>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CBAM attention rollout</a:t>
            </a:r>
            <a:endParaRPr lang="en-US" sz="1150" dirty="0"/>
          </a:p>
        </p:txBody>
      </p:sp>
      <p:sp>
        <p:nvSpPr>
          <p:cNvPr id="34" name="Text 32"/>
          <p:cNvSpPr txBox="1"/>
          <p:nvPr/>
        </p:nvSpPr>
        <p:spPr>
          <a:xfrm>
            <a:off x="5212080" y="5120640"/>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what the attention modules weighted</a:t>
            </a:r>
            <a:endParaRPr lang="en-US" sz="1050" dirty="0"/>
          </a:p>
        </p:txBody>
      </p:sp>
      <p:sp>
        <p:nvSpPr>
          <p:cNvPr id="35" name="Text 33"/>
          <p:cNvSpPr txBox="1"/>
          <p:nvPr/>
        </p:nvSpPr>
        <p:spPr>
          <a:xfrm>
            <a:off x="594360" y="5449824"/>
            <a:ext cx="274320" cy="27432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a:t>
            </a:r>
            <a:endParaRPr lang="en-US" sz="1200" dirty="0"/>
          </a:p>
        </p:txBody>
      </p:sp>
      <p:sp>
        <p:nvSpPr>
          <p:cNvPr id="36" name="Text 34"/>
          <p:cNvSpPr txBox="1"/>
          <p:nvPr/>
        </p:nvSpPr>
        <p:spPr>
          <a:xfrm>
            <a:off x="914400" y="5449824"/>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Overlay rendering</a:t>
            </a:r>
            <a:endParaRPr lang="en-US" sz="1150" dirty="0"/>
          </a:p>
        </p:txBody>
      </p:sp>
      <p:sp>
        <p:nvSpPr>
          <p:cNvPr id="37" name="Text 35"/>
          <p:cNvSpPr txBox="1"/>
          <p:nvPr/>
        </p:nvSpPr>
        <p:spPr>
          <a:xfrm>
            <a:off x="5212080" y="5449824"/>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jet overlay on the original slice</a:t>
            </a:r>
            <a:endParaRPr lang="en-US" sz="1050" dirty="0"/>
          </a:p>
        </p:txBody>
      </p:sp>
      <p:sp>
        <p:nvSpPr>
          <p:cNvPr id="38" name="Text 36"/>
          <p:cNvSpPr txBox="1"/>
          <p:nvPr/>
        </p:nvSpPr>
        <p:spPr>
          <a:xfrm>
            <a:off x="594360" y="5779008"/>
            <a:ext cx="274320" cy="27432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a:t>
            </a:r>
            <a:endParaRPr lang="en-US" sz="1200" dirty="0"/>
          </a:p>
        </p:txBody>
      </p:sp>
      <p:sp>
        <p:nvSpPr>
          <p:cNvPr id="39" name="Text 37"/>
          <p:cNvSpPr txBox="1"/>
          <p:nvPr/>
        </p:nvSpPr>
        <p:spPr>
          <a:xfrm>
            <a:off x="914400" y="5779008"/>
            <a:ext cx="4206240" cy="274320"/>
          </a:xfrm>
          <a:prstGeom prst="rect">
            <a:avLst/>
          </a:prstGeom>
          <a:noFill/>
          <a:ln/>
        </p:spPr>
        <p:txBody>
          <a:bodyPr wrap="square" lIns="0" tIns="0" rIns="0" bIns="0" rtlCol="0" anchor="t"/>
          <a:lstStyle/>
          <a:p>
            <a:pPr indent="0" marL="0">
              <a:buNone/>
            </a:pPr>
            <a:r>
              <a:rPr lang="en-US" sz="1150" b="1" dirty="0">
                <a:solidFill>
                  <a:srgbClr val="12263A"/>
                </a:solidFill>
                <a:latin typeface="Calibri" pitchFamily="34" charset="0"/>
                <a:ea typeface="Calibri" pitchFamily="34" charset="-122"/>
                <a:cs typeface="Calibri" pitchFamily="34" charset="-120"/>
              </a:rPr>
              <a:t>explain.py — 3 modes</a:t>
            </a:r>
            <a:endParaRPr lang="en-US" sz="1150" dirty="0"/>
          </a:p>
        </p:txBody>
      </p:sp>
      <p:sp>
        <p:nvSpPr>
          <p:cNvPr id="40" name="Text 38"/>
          <p:cNvSpPr txBox="1"/>
          <p:nvPr/>
        </p:nvSpPr>
        <p:spPr>
          <a:xfrm>
            <a:off x="5212080" y="5779008"/>
            <a:ext cx="6217920" cy="274320"/>
          </a:xfrm>
          <a:prstGeom prst="rect">
            <a:avLst/>
          </a:prstGeom>
          <a:noFill/>
          <a:ln/>
        </p:spPr>
        <p:txBody>
          <a:bodyPr wrap="square" lIns="0" tIns="0" rIns="0" bIns="0" rtlCol="0" anchor="t"/>
          <a:lstStyle/>
          <a:p>
            <a:pPr indent="0" marL="0">
              <a:buNone/>
            </a:pPr>
            <a:r>
              <a:rPr lang="en-US" sz="1050" dirty="0">
                <a:solidFill>
                  <a:srgbClr val="5B6E88"/>
                </a:solidFill>
                <a:latin typeface="Calibri" pitchFamily="34" charset="0"/>
                <a:ea typeface="Calibri" pitchFamily="34" charset="-122"/>
                <a:cs typeface="Calibri" pitchFamily="34" charset="-120"/>
              </a:rPr>
              <a:t>all three produce publication-ready figures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VERIFIED END-TO-END</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Working features — safety, interfaces, tooling</a:t>
            </a:r>
            <a:endParaRPr lang="en-US" sz="3200" dirty="0"/>
          </a:p>
        </p:txBody>
      </p:sp>
      <p:sp>
        <p:nvSpPr>
          <p:cNvPr id="4" name="Shape 2"/>
          <p:cNvSpPr/>
          <p:nvPr/>
        </p:nvSpPr>
        <p:spPr>
          <a:xfrm>
            <a:off x="548640" y="1261872"/>
            <a:ext cx="2926080" cy="274320"/>
          </a:xfrm>
          <a:prstGeom prst="roundRect">
            <a:avLst>
              <a:gd name="adj" fmla="val 20000"/>
            </a:avLst>
          </a:prstGeom>
          <a:solidFill>
            <a:srgbClr val="E9973F"/>
          </a:solidFill>
          <a:ln w="12700">
            <a:solidFill>
              <a:srgbClr val="E9973F"/>
            </a:solidFill>
            <a:prstDash val="solid"/>
          </a:ln>
        </p:spPr>
      </p:sp>
      <p:sp>
        <p:nvSpPr>
          <p:cNvPr id="5" name="Text 3"/>
          <p:cNvSpPr txBox="1"/>
          <p:nvPr/>
        </p:nvSpPr>
        <p:spPr>
          <a:xfrm>
            <a:off x="548640" y="1261872"/>
            <a:ext cx="2926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Clinical safety</a:t>
            </a:r>
            <a:endParaRPr lang="en-US" sz="1050" dirty="0"/>
          </a:p>
        </p:txBody>
      </p:sp>
      <p:sp>
        <p:nvSpPr>
          <p:cNvPr id="6" name="Text 4"/>
          <p:cNvSpPr txBox="1"/>
          <p:nvPr/>
        </p:nvSpPr>
        <p:spPr>
          <a:xfrm>
            <a:off x="594360" y="1609344"/>
            <a:ext cx="274320" cy="228600"/>
          </a:xfrm>
          <a:prstGeom prst="rect">
            <a:avLst/>
          </a:prstGeom>
          <a:noFill/>
          <a:ln/>
        </p:spPr>
        <p:txBody>
          <a:bodyPr wrap="square" lIns="0" tIns="0" rIns="0" bIns="0" rtlCol="0" anchor="ctr"/>
          <a:lstStyle/>
          <a:p>
            <a:pPr indent="0" marL="0">
              <a:buNone/>
            </a:pPr>
            <a:r>
              <a:rPr lang="en-US" sz="1000" b="1" dirty="0">
                <a:solidFill>
                  <a:srgbClr val="E9973F"/>
                </a:solidFill>
                <a:latin typeface="Calibri" pitchFamily="34" charset="0"/>
                <a:ea typeface="Calibri" pitchFamily="34" charset="-122"/>
                <a:cs typeface="Calibri" pitchFamily="34" charset="-120"/>
              </a:rPr>
              <a:t>✓</a:t>
            </a:r>
            <a:endParaRPr lang="en-US" sz="1000" dirty="0"/>
          </a:p>
        </p:txBody>
      </p:sp>
      <p:sp>
        <p:nvSpPr>
          <p:cNvPr id="7" name="Text 5"/>
          <p:cNvSpPr txBox="1"/>
          <p:nvPr/>
        </p:nvSpPr>
        <p:spPr>
          <a:xfrm>
            <a:off x="896112" y="1609344"/>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WHO grade reference I–IV</a:t>
            </a:r>
            <a:endParaRPr lang="en-US" sz="1050" dirty="0"/>
          </a:p>
        </p:txBody>
      </p:sp>
      <p:sp>
        <p:nvSpPr>
          <p:cNvPr id="8" name="Text 6"/>
          <p:cNvSpPr txBox="1"/>
          <p:nvPr/>
        </p:nvSpPr>
        <p:spPr>
          <a:xfrm>
            <a:off x="5166360" y="1609344"/>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all 4 classes; labelled as type reference, not a patient grade</a:t>
            </a:r>
            <a:endParaRPr lang="en-US" sz="950" dirty="0"/>
          </a:p>
        </p:txBody>
      </p:sp>
      <p:sp>
        <p:nvSpPr>
          <p:cNvPr id="9" name="Text 7"/>
          <p:cNvSpPr txBox="1"/>
          <p:nvPr/>
        </p:nvSpPr>
        <p:spPr>
          <a:xfrm>
            <a:off x="594360" y="1837944"/>
            <a:ext cx="274320" cy="228600"/>
          </a:xfrm>
          <a:prstGeom prst="rect">
            <a:avLst/>
          </a:prstGeom>
          <a:noFill/>
          <a:ln/>
        </p:spPr>
        <p:txBody>
          <a:bodyPr wrap="square" lIns="0" tIns="0" rIns="0" bIns="0" rtlCol="0" anchor="ctr"/>
          <a:lstStyle/>
          <a:p>
            <a:pPr indent="0" marL="0">
              <a:buNone/>
            </a:pPr>
            <a:r>
              <a:rPr lang="en-US" sz="1000" b="1" dirty="0">
                <a:solidFill>
                  <a:srgbClr val="E9973F"/>
                </a:solidFill>
                <a:latin typeface="Calibri" pitchFamily="34" charset="0"/>
                <a:ea typeface="Calibri" pitchFamily="34" charset="-122"/>
                <a:cs typeface="Calibri" pitchFamily="34" charset="-120"/>
              </a:rPr>
              <a:t>✓</a:t>
            </a:r>
            <a:endParaRPr lang="en-US" sz="1000" dirty="0"/>
          </a:p>
        </p:txBody>
      </p:sp>
      <p:sp>
        <p:nvSpPr>
          <p:cNvPr id="10" name="Text 8"/>
          <p:cNvSpPr txBox="1"/>
          <p:nvPr/>
        </p:nvSpPr>
        <p:spPr>
          <a:xfrm>
            <a:off x="896112" y="1837944"/>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Reliability bands</a:t>
            </a:r>
            <a:endParaRPr lang="en-US" sz="1050" dirty="0"/>
          </a:p>
        </p:txBody>
      </p:sp>
      <p:sp>
        <p:nvSpPr>
          <p:cNvPr id="11" name="Text 9"/>
          <p:cNvSpPr txBox="1"/>
          <p:nvPr/>
        </p:nvSpPr>
        <p:spPr>
          <a:xfrm>
            <a:off x="5166360" y="1837944"/>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High ≥90 / Moderate ≥75 / Low ≥60 / Very Low</a:t>
            </a:r>
            <a:endParaRPr lang="en-US" sz="950" dirty="0"/>
          </a:p>
        </p:txBody>
      </p:sp>
      <p:sp>
        <p:nvSpPr>
          <p:cNvPr id="12" name="Text 10"/>
          <p:cNvSpPr txBox="1"/>
          <p:nvPr/>
        </p:nvSpPr>
        <p:spPr>
          <a:xfrm>
            <a:off x="594360" y="2066544"/>
            <a:ext cx="274320" cy="228600"/>
          </a:xfrm>
          <a:prstGeom prst="rect">
            <a:avLst/>
          </a:prstGeom>
          <a:noFill/>
          <a:ln/>
        </p:spPr>
        <p:txBody>
          <a:bodyPr wrap="square" lIns="0" tIns="0" rIns="0" bIns="0" rtlCol="0" anchor="ctr"/>
          <a:lstStyle/>
          <a:p>
            <a:pPr indent="0" marL="0">
              <a:buNone/>
            </a:pPr>
            <a:r>
              <a:rPr lang="en-US" sz="1000" b="1" dirty="0">
                <a:solidFill>
                  <a:srgbClr val="E9973F"/>
                </a:solidFill>
                <a:latin typeface="Calibri" pitchFamily="34" charset="0"/>
                <a:ea typeface="Calibri" pitchFamily="34" charset="-122"/>
                <a:cs typeface="Calibri" pitchFamily="34" charset="-120"/>
              </a:rPr>
              <a:t>✓</a:t>
            </a:r>
            <a:endParaRPr lang="en-US" sz="1000" dirty="0"/>
          </a:p>
        </p:txBody>
      </p:sp>
      <p:sp>
        <p:nvSpPr>
          <p:cNvPr id="13" name="Text 11"/>
          <p:cNvSpPr txBox="1"/>
          <p:nvPr/>
        </p:nvSpPr>
        <p:spPr>
          <a:xfrm>
            <a:off x="896112" y="2066544"/>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Low-confidence safeguard</a:t>
            </a:r>
            <a:endParaRPr lang="en-US" sz="1050" dirty="0"/>
          </a:p>
        </p:txBody>
      </p:sp>
      <p:sp>
        <p:nvSpPr>
          <p:cNvPr id="14" name="Text 12"/>
          <p:cNvSpPr txBox="1"/>
          <p:nvPr/>
        </p:nvSpPr>
        <p:spPr>
          <a:xfrm>
            <a:off x="5166360" y="2066544"/>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&lt; 70% flagged provisional — 49 of 1,600 scans</a:t>
            </a:r>
            <a:endParaRPr lang="en-US" sz="950" dirty="0"/>
          </a:p>
        </p:txBody>
      </p:sp>
      <p:sp>
        <p:nvSpPr>
          <p:cNvPr id="15" name="Text 13"/>
          <p:cNvSpPr txBox="1"/>
          <p:nvPr/>
        </p:nvSpPr>
        <p:spPr>
          <a:xfrm>
            <a:off x="594360" y="2295144"/>
            <a:ext cx="274320" cy="228600"/>
          </a:xfrm>
          <a:prstGeom prst="rect">
            <a:avLst/>
          </a:prstGeom>
          <a:noFill/>
          <a:ln/>
        </p:spPr>
        <p:txBody>
          <a:bodyPr wrap="square" lIns="0" tIns="0" rIns="0" bIns="0" rtlCol="0" anchor="ctr"/>
          <a:lstStyle/>
          <a:p>
            <a:pPr indent="0" marL="0">
              <a:buNone/>
            </a:pPr>
            <a:r>
              <a:rPr lang="en-US" sz="1000" b="1" dirty="0">
                <a:solidFill>
                  <a:srgbClr val="E9973F"/>
                </a:solidFill>
                <a:latin typeface="Calibri" pitchFamily="34" charset="0"/>
                <a:ea typeface="Calibri" pitchFamily="34" charset="-122"/>
                <a:cs typeface="Calibri" pitchFamily="34" charset="-120"/>
              </a:rPr>
              <a:t>✓</a:t>
            </a:r>
            <a:endParaRPr lang="en-US" sz="1000" dirty="0"/>
          </a:p>
        </p:txBody>
      </p:sp>
      <p:sp>
        <p:nvSpPr>
          <p:cNvPr id="16" name="Text 14"/>
          <p:cNvSpPr txBox="1"/>
          <p:nvPr/>
        </p:nvSpPr>
        <p:spPr>
          <a:xfrm>
            <a:off x="896112" y="2295144"/>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Tumour sensitivity alert</a:t>
            </a:r>
            <a:endParaRPr lang="en-US" sz="1050" dirty="0"/>
          </a:p>
        </p:txBody>
      </p:sp>
      <p:sp>
        <p:nvSpPr>
          <p:cNvPr id="17" name="Text 15"/>
          <p:cNvSpPr txBox="1"/>
          <p:nvPr/>
        </p:nvSpPr>
        <p:spPr>
          <a:xfrm>
            <a:off x="5166360" y="2295144"/>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≥30% tumour mass surfaces the top tumour class</a:t>
            </a:r>
            <a:endParaRPr lang="en-US" sz="950" dirty="0"/>
          </a:p>
        </p:txBody>
      </p:sp>
      <p:sp>
        <p:nvSpPr>
          <p:cNvPr id="18" name="Text 16"/>
          <p:cNvSpPr txBox="1"/>
          <p:nvPr/>
        </p:nvSpPr>
        <p:spPr>
          <a:xfrm>
            <a:off x="594360" y="2523744"/>
            <a:ext cx="274320" cy="228600"/>
          </a:xfrm>
          <a:prstGeom prst="rect">
            <a:avLst/>
          </a:prstGeom>
          <a:noFill/>
          <a:ln/>
        </p:spPr>
        <p:txBody>
          <a:bodyPr wrap="square" lIns="0" tIns="0" rIns="0" bIns="0" rtlCol="0" anchor="ctr"/>
          <a:lstStyle/>
          <a:p>
            <a:pPr indent="0" marL="0">
              <a:buNone/>
            </a:pPr>
            <a:r>
              <a:rPr lang="en-US" sz="1000" b="1" dirty="0">
                <a:solidFill>
                  <a:srgbClr val="E9973F"/>
                </a:solidFill>
                <a:latin typeface="Calibri" pitchFamily="34" charset="0"/>
                <a:ea typeface="Calibri" pitchFamily="34" charset="-122"/>
                <a:cs typeface="Calibri" pitchFamily="34" charset="-120"/>
              </a:rPr>
              <a:t>✓</a:t>
            </a:r>
            <a:endParaRPr lang="en-US" sz="1000" dirty="0"/>
          </a:p>
        </p:txBody>
      </p:sp>
      <p:sp>
        <p:nvSpPr>
          <p:cNvPr id="19" name="Text 17"/>
          <p:cNvSpPr txBox="1"/>
          <p:nvPr/>
        </p:nvSpPr>
        <p:spPr>
          <a:xfrm>
            <a:off x="896112" y="2523744"/>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Clinical reasoning narrative</a:t>
            </a:r>
            <a:endParaRPr lang="en-US" sz="1050" dirty="0"/>
          </a:p>
        </p:txBody>
      </p:sp>
      <p:sp>
        <p:nvSpPr>
          <p:cNvPr id="20" name="Text 18"/>
          <p:cNvSpPr txBox="1"/>
          <p:nvPr/>
        </p:nvSpPr>
        <p:spPr>
          <a:xfrm>
            <a:off x="5166360" y="2523744"/>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~2,000-character structured findings block</a:t>
            </a:r>
            <a:endParaRPr lang="en-US" sz="950" dirty="0"/>
          </a:p>
        </p:txBody>
      </p:sp>
      <p:sp>
        <p:nvSpPr>
          <p:cNvPr id="21" name="Text 19"/>
          <p:cNvSpPr txBox="1"/>
          <p:nvPr/>
        </p:nvSpPr>
        <p:spPr>
          <a:xfrm>
            <a:off x="594360" y="2752344"/>
            <a:ext cx="274320" cy="228600"/>
          </a:xfrm>
          <a:prstGeom prst="rect">
            <a:avLst/>
          </a:prstGeom>
          <a:noFill/>
          <a:ln/>
        </p:spPr>
        <p:txBody>
          <a:bodyPr wrap="square" lIns="0" tIns="0" rIns="0" bIns="0" rtlCol="0" anchor="ctr"/>
          <a:lstStyle/>
          <a:p>
            <a:pPr indent="0" marL="0">
              <a:buNone/>
            </a:pPr>
            <a:r>
              <a:rPr lang="en-US" sz="1000" b="1" dirty="0">
                <a:solidFill>
                  <a:srgbClr val="E9973F"/>
                </a:solidFill>
                <a:latin typeface="Calibri" pitchFamily="34" charset="0"/>
                <a:ea typeface="Calibri" pitchFamily="34" charset="-122"/>
                <a:cs typeface="Calibri" pitchFamily="34" charset="-120"/>
              </a:rPr>
              <a:t>✓</a:t>
            </a:r>
            <a:endParaRPr lang="en-US" sz="1000" dirty="0"/>
          </a:p>
        </p:txBody>
      </p:sp>
      <p:sp>
        <p:nvSpPr>
          <p:cNvPr id="22" name="Text 20"/>
          <p:cNvSpPr txBox="1"/>
          <p:nvPr/>
        </p:nvSpPr>
        <p:spPr>
          <a:xfrm>
            <a:off x="896112" y="2752344"/>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PDF report + SHA checksum</a:t>
            </a:r>
            <a:endParaRPr lang="en-US" sz="1050" dirty="0"/>
          </a:p>
        </p:txBody>
      </p:sp>
      <p:sp>
        <p:nvSpPr>
          <p:cNvPr id="23" name="Text 21"/>
          <p:cNvSpPr txBox="1"/>
          <p:nvPr/>
        </p:nvSpPr>
        <p:spPr>
          <a:xfrm>
            <a:off x="5166360" y="2752344"/>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4-page ReportLab report, audit-stamped</a:t>
            </a:r>
            <a:endParaRPr lang="en-US" sz="950" dirty="0"/>
          </a:p>
        </p:txBody>
      </p:sp>
      <p:sp>
        <p:nvSpPr>
          <p:cNvPr id="24" name="Shape 22"/>
          <p:cNvSpPr/>
          <p:nvPr/>
        </p:nvSpPr>
        <p:spPr>
          <a:xfrm>
            <a:off x="548640" y="3099816"/>
            <a:ext cx="2926080" cy="274320"/>
          </a:xfrm>
          <a:prstGeom prst="roundRect">
            <a:avLst>
              <a:gd name="adj" fmla="val 20000"/>
            </a:avLst>
          </a:prstGeom>
          <a:solidFill>
            <a:srgbClr val="0E2A47"/>
          </a:solidFill>
          <a:ln w="12700">
            <a:solidFill>
              <a:srgbClr val="0E2A47"/>
            </a:solidFill>
            <a:prstDash val="solid"/>
          </a:ln>
        </p:spPr>
      </p:sp>
      <p:sp>
        <p:nvSpPr>
          <p:cNvPr id="25" name="Text 23"/>
          <p:cNvSpPr txBox="1"/>
          <p:nvPr/>
        </p:nvSpPr>
        <p:spPr>
          <a:xfrm>
            <a:off x="548640" y="3099816"/>
            <a:ext cx="2926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Interfaces &amp; formats</a:t>
            </a:r>
            <a:endParaRPr lang="en-US" sz="1050" dirty="0"/>
          </a:p>
        </p:txBody>
      </p:sp>
      <p:sp>
        <p:nvSpPr>
          <p:cNvPr id="26" name="Text 24"/>
          <p:cNvSpPr txBox="1"/>
          <p:nvPr/>
        </p:nvSpPr>
        <p:spPr>
          <a:xfrm>
            <a:off x="594360" y="3447288"/>
            <a:ext cx="274320" cy="228600"/>
          </a:xfrm>
          <a:prstGeom prst="rect">
            <a:avLst/>
          </a:prstGeom>
          <a:noFill/>
          <a:ln/>
        </p:spPr>
        <p:txBody>
          <a:bodyPr wrap="square" lIns="0" tIns="0" rIns="0" bIns="0" rtlCol="0" anchor="ctr"/>
          <a:lstStyle/>
          <a:p>
            <a:pPr indent="0" marL="0">
              <a:buNone/>
            </a:pPr>
            <a:r>
              <a:rPr lang="en-US" sz="1000" b="1" dirty="0">
                <a:solidFill>
                  <a:srgbClr val="0E2A47"/>
                </a:solidFill>
                <a:latin typeface="Calibri" pitchFamily="34" charset="0"/>
                <a:ea typeface="Calibri" pitchFamily="34" charset="-122"/>
                <a:cs typeface="Calibri" pitchFamily="34" charset="-120"/>
              </a:rPr>
              <a:t>✓</a:t>
            </a:r>
            <a:endParaRPr lang="en-US" sz="1000" dirty="0"/>
          </a:p>
        </p:txBody>
      </p:sp>
      <p:sp>
        <p:nvSpPr>
          <p:cNvPr id="27" name="Text 25"/>
          <p:cNvSpPr txBox="1"/>
          <p:nvPr/>
        </p:nvSpPr>
        <p:spPr>
          <a:xfrm>
            <a:off x="896112" y="3447288"/>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Streamlit dashboard</a:t>
            </a:r>
            <a:endParaRPr lang="en-US" sz="1050" dirty="0"/>
          </a:p>
        </p:txBody>
      </p:sp>
      <p:sp>
        <p:nvSpPr>
          <p:cNvPr id="28" name="Text 26"/>
          <p:cNvSpPr txBox="1"/>
          <p:nvPr/>
        </p:nvSpPr>
        <p:spPr>
          <a:xfrm>
            <a:off x="5166360" y="3447288"/>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upload → analyse → Grad-CAM → staging → PDF</a:t>
            </a:r>
            <a:endParaRPr lang="en-US" sz="950" dirty="0"/>
          </a:p>
        </p:txBody>
      </p:sp>
      <p:sp>
        <p:nvSpPr>
          <p:cNvPr id="29" name="Text 27"/>
          <p:cNvSpPr txBox="1"/>
          <p:nvPr/>
        </p:nvSpPr>
        <p:spPr>
          <a:xfrm>
            <a:off x="594360" y="3675888"/>
            <a:ext cx="274320" cy="228600"/>
          </a:xfrm>
          <a:prstGeom prst="rect">
            <a:avLst/>
          </a:prstGeom>
          <a:noFill/>
          <a:ln/>
        </p:spPr>
        <p:txBody>
          <a:bodyPr wrap="square" lIns="0" tIns="0" rIns="0" bIns="0" rtlCol="0" anchor="ctr"/>
          <a:lstStyle/>
          <a:p>
            <a:pPr indent="0" marL="0">
              <a:buNone/>
            </a:pPr>
            <a:r>
              <a:rPr lang="en-US" sz="1000" b="1" dirty="0">
                <a:solidFill>
                  <a:srgbClr val="0E2A47"/>
                </a:solidFill>
                <a:latin typeface="Calibri" pitchFamily="34" charset="0"/>
                <a:ea typeface="Calibri" pitchFamily="34" charset="-122"/>
                <a:cs typeface="Calibri" pitchFamily="34" charset="-120"/>
              </a:rPr>
              <a:t>✓</a:t>
            </a:r>
            <a:endParaRPr lang="en-US" sz="1000" dirty="0"/>
          </a:p>
        </p:txBody>
      </p:sp>
      <p:sp>
        <p:nvSpPr>
          <p:cNvPr id="30" name="Text 28"/>
          <p:cNvSpPr txBox="1"/>
          <p:nvPr/>
        </p:nvSpPr>
        <p:spPr>
          <a:xfrm>
            <a:off x="896112" y="3675888"/>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FastAPI REST (/predict, /health)</a:t>
            </a:r>
            <a:endParaRPr lang="en-US" sz="1050" dirty="0"/>
          </a:p>
        </p:txBody>
      </p:sp>
      <p:sp>
        <p:nvSpPr>
          <p:cNvPr id="31" name="Text 29"/>
          <p:cNvSpPr txBox="1"/>
          <p:nvPr/>
        </p:nvSpPr>
        <p:spPr>
          <a:xfrm>
            <a:off x="5166360" y="3675888"/>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full clinical payload; 422 on bad input</a:t>
            </a:r>
            <a:endParaRPr lang="en-US" sz="950" dirty="0"/>
          </a:p>
        </p:txBody>
      </p:sp>
      <p:sp>
        <p:nvSpPr>
          <p:cNvPr id="32" name="Text 30"/>
          <p:cNvSpPr txBox="1"/>
          <p:nvPr/>
        </p:nvSpPr>
        <p:spPr>
          <a:xfrm>
            <a:off x="594360" y="3904488"/>
            <a:ext cx="274320" cy="228600"/>
          </a:xfrm>
          <a:prstGeom prst="rect">
            <a:avLst/>
          </a:prstGeom>
          <a:noFill/>
          <a:ln/>
        </p:spPr>
        <p:txBody>
          <a:bodyPr wrap="square" lIns="0" tIns="0" rIns="0" bIns="0" rtlCol="0" anchor="ctr"/>
          <a:lstStyle/>
          <a:p>
            <a:pPr indent="0" marL="0">
              <a:buNone/>
            </a:pPr>
            <a:r>
              <a:rPr lang="en-US" sz="1000" b="1" dirty="0">
                <a:solidFill>
                  <a:srgbClr val="0E2A47"/>
                </a:solidFill>
                <a:latin typeface="Calibri" pitchFamily="34" charset="0"/>
                <a:ea typeface="Calibri" pitchFamily="34" charset="-122"/>
                <a:cs typeface="Calibri" pitchFamily="34" charset="-120"/>
              </a:rPr>
              <a:t>✓</a:t>
            </a:r>
            <a:endParaRPr lang="en-US" sz="1000" dirty="0"/>
          </a:p>
        </p:txBody>
      </p:sp>
      <p:sp>
        <p:nvSpPr>
          <p:cNvPr id="33" name="Text 31"/>
          <p:cNvSpPr txBox="1"/>
          <p:nvPr/>
        </p:nvSpPr>
        <p:spPr>
          <a:xfrm>
            <a:off x="896112" y="3904488"/>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CLI — single scan and volume</a:t>
            </a:r>
            <a:endParaRPr lang="en-US" sz="1050" dirty="0"/>
          </a:p>
        </p:txBody>
      </p:sp>
      <p:sp>
        <p:nvSpPr>
          <p:cNvPr id="34" name="Text 32"/>
          <p:cNvSpPr txBox="1"/>
          <p:nvPr/>
        </p:nvSpPr>
        <p:spPr>
          <a:xfrm>
            <a:off x="5166360" y="3904488"/>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auto-detects NIfTI, prints per-slice evidence</a:t>
            </a:r>
            <a:endParaRPr lang="en-US" sz="950" dirty="0"/>
          </a:p>
        </p:txBody>
      </p:sp>
      <p:sp>
        <p:nvSpPr>
          <p:cNvPr id="35" name="Text 33"/>
          <p:cNvSpPr txBox="1"/>
          <p:nvPr/>
        </p:nvSpPr>
        <p:spPr>
          <a:xfrm>
            <a:off x="594360" y="4133088"/>
            <a:ext cx="274320" cy="228600"/>
          </a:xfrm>
          <a:prstGeom prst="rect">
            <a:avLst/>
          </a:prstGeom>
          <a:noFill/>
          <a:ln/>
        </p:spPr>
        <p:txBody>
          <a:bodyPr wrap="square" lIns="0" tIns="0" rIns="0" bIns="0" rtlCol="0" anchor="ctr"/>
          <a:lstStyle/>
          <a:p>
            <a:pPr indent="0" marL="0">
              <a:buNone/>
            </a:pPr>
            <a:r>
              <a:rPr lang="en-US" sz="1000" b="1" dirty="0">
                <a:solidFill>
                  <a:srgbClr val="0E2A47"/>
                </a:solidFill>
                <a:latin typeface="Calibri" pitchFamily="34" charset="0"/>
                <a:ea typeface="Calibri" pitchFamily="34" charset="-122"/>
                <a:cs typeface="Calibri" pitchFamily="34" charset="-120"/>
              </a:rPr>
              <a:t>✓</a:t>
            </a:r>
            <a:endParaRPr lang="en-US" sz="1000" dirty="0"/>
          </a:p>
        </p:txBody>
      </p:sp>
      <p:sp>
        <p:nvSpPr>
          <p:cNvPr id="36" name="Text 34"/>
          <p:cNvSpPr txBox="1"/>
          <p:nvPr/>
        </p:nvSpPr>
        <p:spPr>
          <a:xfrm>
            <a:off x="896112" y="4133088"/>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Batch folder → CSV</a:t>
            </a:r>
            <a:endParaRPr lang="en-US" sz="1050" dirty="0"/>
          </a:p>
        </p:txBody>
      </p:sp>
      <p:sp>
        <p:nvSpPr>
          <p:cNvPr id="37" name="Text 35"/>
          <p:cNvSpPr txBox="1"/>
          <p:nvPr/>
        </p:nvSpPr>
        <p:spPr>
          <a:xfrm>
            <a:off x="5166360" y="4133088"/>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18-column decision record per scan</a:t>
            </a:r>
            <a:endParaRPr lang="en-US" sz="950" dirty="0"/>
          </a:p>
        </p:txBody>
      </p:sp>
      <p:sp>
        <p:nvSpPr>
          <p:cNvPr id="38" name="Text 36"/>
          <p:cNvSpPr txBox="1"/>
          <p:nvPr/>
        </p:nvSpPr>
        <p:spPr>
          <a:xfrm>
            <a:off x="594360" y="4361688"/>
            <a:ext cx="274320" cy="228600"/>
          </a:xfrm>
          <a:prstGeom prst="rect">
            <a:avLst/>
          </a:prstGeom>
          <a:noFill/>
          <a:ln/>
        </p:spPr>
        <p:txBody>
          <a:bodyPr wrap="square" lIns="0" tIns="0" rIns="0" bIns="0" rtlCol="0" anchor="ctr"/>
          <a:lstStyle/>
          <a:p>
            <a:pPr indent="0" marL="0">
              <a:buNone/>
            </a:pPr>
            <a:r>
              <a:rPr lang="en-US" sz="1000" b="1" dirty="0">
                <a:solidFill>
                  <a:srgbClr val="0E2A47"/>
                </a:solidFill>
                <a:latin typeface="Calibri" pitchFamily="34" charset="0"/>
                <a:ea typeface="Calibri" pitchFamily="34" charset="-122"/>
                <a:cs typeface="Calibri" pitchFamily="34" charset="-120"/>
              </a:rPr>
              <a:t>✓</a:t>
            </a:r>
            <a:endParaRPr lang="en-US" sz="1000" dirty="0"/>
          </a:p>
        </p:txBody>
      </p:sp>
      <p:sp>
        <p:nvSpPr>
          <p:cNvPr id="39" name="Text 37"/>
          <p:cNvSpPr txBox="1"/>
          <p:nvPr/>
        </p:nvSpPr>
        <p:spPr>
          <a:xfrm>
            <a:off x="896112" y="4361688"/>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PNG / JPG / BMP / TIFF · DICOM · NIfTI</a:t>
            </a:r>
            <a:endParaRPr lang="en-US" sz="1050" dirty="0"/>
          </a:p>
        </p:txBody>
      </p:sp>
      <p:sp>
        <p:nvSpPr>
          <p:cNvPr id="40" name="Text 38"/>
          <p:cNvSpPr txBox="1"/>
          <p:nvPr/>
        </p:nvSpPr>
        <p:spPr>
          <a:xfrm>
            <a:off x="5166360" y="4361688"/>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all decoded and classified identically</a:t>
            </a:r>
            <a:endParaRPr lang="en-US" sz="950" dirty="0"/>
          </a:p>
        </p:txBody>
      </p:sp>
      <p:sp>
        <p:nvSpPr>
          <p:cNvPr id="41" name="Shape 39"/>
          <p:cNvSpPr/>
          <p:nvPr/>
        </p:nvSpPr>
        <p:spPr>
          <a:xfrm>
            <a:off x="548640" y="4709160"/>
            <a:ext cx="2926080" cy="274320"/>
          </a:xfrm>
          <a:prstGeom prst="roundRect">
            <a:avLst>
              <a:gd name="adj" fmla="val 20000"/>
            </a:avLst>
          </a:prstGeom>
          <a:solidFill>
            <a:srgbClr val="00A896"/>
          </a:solidFill>
          <a:ln w="12700">
            <a:solidFill>
              <a:srgbClr val="00A896"/>
            </a:solidFill>
            <a:prstDash val="solid"/>
          </a:ln>
        </p:spPr>
      </p:sp>
      <p:sp>
        <p:nvSpPr>
          <p:cNvPr id="42" name="Text 40"/>
          <p:cNvSpPr txBox="1"/>
          <p:nvPr/>
        </p:nvSpPr>
        <p:spPr>
          <a:xfrm>
            <a:off x="548640" y="4709160"/>
            <a:ext cx="2926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Engineering tooling</a:t>
            </a:r>
            <a:endParaRPr lang="en-US" sz="1050" dirty="0"/>
          </a:p>
        </p:txBody>
      </p:sp>
      <p:sp>
        <p:nvSpPr>
          <p:cNvPr id="43" name="Text 41"/>
          <p:cNvSpPr txBox="1"/>
          <p:nvPr/>
        </p:nvSpPr>
        <p:spPr>
          <a:xfrm>
            <a:off x="594360" y="5056632"/>
            <a:ext cx="274320" cy="228600"/>
          </a:xfrm>
          <a:prstGeom prst="rect">
            <a:avLst/>
          </a:prstGeom>
          <a:noFill/>
          <a:ln/>
        </p:spPr>
        <p:txBody>
          <a:bodyPr wrap="square" lIns="0" tIns="0" rIns="0" bIns="0"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a:t>
            </a:r>
            <a:endParaRPr lang="en-US" sz="1000" dirty="0"/>
          </a:p>
        </p:txBody>
      </p:sp>
      <p:sp>
        <p:nvSpPr>
          <p:cNvPr id="44" name="Text 42"/>
          <p:cNvSpPr txBox="1"/>
          <p:nvPr/>
        </p:nvSpPr>
        <p:spPr>
          <a:xfrm>
            <a:off x="896112" y="5056632"/>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compare_checkpoints.py</a:t>
            </a:r>
            <a:endParaRPr lang="en-US" sz="1050" dirty="0"/>
          </a:p>
        </p:txBody>
      </p:sp>
      <p:sp>
        <p:nvSpPr>
          <p:cNvPr id="45" name="Text 43"/>
          <p:cNvSpPr txBox="1"/>
          <p:nvPr/>
        </p:nvSpPr>
        <p:spPr>
          <a:xfrm>
            <a:off x="5166360" y="5056632"/>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A/B on held-out data; promotes only on a macro-F1 win</a:t>
            </a:r>
            <a:endParaRPr lang="en-US" sz="950" dirty="0"/>
          </a:p>
        </p:txBody>
      </p:sp>
      <p:sp>
        <p:nvSpPr>
          <p:cNvPr id="46" name="Text 44"/>
          <p:cNvSpPr txBox="1"/>
          <p:nvPr/>
        </p:nvSpPr>
        <p:spPr>
          <a:xfrm>
            <a:off x="594360" y="5285232"/>
            <a:ext cx="274320" cy="228600"/>
          </a:xfrm>
          <a:prstGeom prst="rect">
            <a:avLst/>
          </a:prstGeom>
          <a:noFill/>
          <a:ln/>
        </p:spPr>
        <p:txBody>
          <a:bodyPr wrap="square" lIns="0" tIns="0" rIns="0" bIns="0"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a:t>
            </a:r>
            <a:endParaRPr lang="en-US" sz="1000" dirty="0"/>
          </a:p>
        </p:txBody>
      </p:sp>
      <p:sp>
        <p:nvSpPr>
          <p:cNvPr id="47" name="Text 45"/>
          <p:cNvSpPr txBox="1"/>
          <p:nvPr/>
        </p:nvSpPr>
        <p:spPr>
          <a:xfrm>
            <a:off x="896112" y="5285232"/>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calibrate.py · audit_leakage.py</a:t>
            </a:r>
            <a:endParaRPr lang="en-US" sz="1050" dirty="0"/>
          </a:p>
        </p:txBody>
      </p:sp>
      <p:sp>
        <p:nvSpPr>
          <p:cNvPr id="48" name="Text 46"/>
          <p:cNvSpPr txBox="1"/>
          <p:nvPr/>
        </p:nvSpPr>
        <p:spPr>
          <a:xfrm>
            <a:off x="5166360" y="5285232"/>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temperature fitting; contamination audit + corrected rescore</a:t>
            </a:r>
            <a:endParaRPr lang="en-US" sz="950" dirty="0"/>
          </a:p>
        </p:txBody>
      </p:sp>
      <p:sp>
        <p:nvSpPr>
          <p:cNvPr id="49" name="Text 47"/>
          <p:cNvSpPr txBox="1"/>
          <p:nvPr/>
        </p:nvSpPr>
        <p:spPr>
          <a:xfrm>
            <a:off x="594360" y="5513832"/>
            <a:ext cx="274320" cy="228600"/>
          </a:xfrm>
          <a:prstGeom prst="rect">
            <a:avLst/>
          </a:prstGeom>
          <a:noFill/>
          <a:ln/>
        </p:spPr>
        <p:txBody>
          <a:bodyPr wrap="square" lIns="0" tIns="0" rIns="0" bIns="0"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a:t>
            </a:r>
            <a:endParaRPr lang="en-US" sz="1000" dirty="0"/>
          </a:p>
        </p:txBody>
      </p:sp>
      <p:sp>
        <p:nvSpPr>
          <p:cNvPr id="50" name="Text 48"/>
          <p:cNvSpPr txBox="1"/>
          <p:nvPr/>
        </p:nvSpPr>
        <p:spPr>
          <a:xfrm>
            <a:off x="896112" y="5513832"/>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deduplicate_dataset.py</a:t>
            </a:r>
            <a:endParaRPr lang="en-US" sz="1050" dirty="0"/>
          </a:p>
        </p:txBody>
      </p:sp>
      <p:sp>
        <p:nvSpPr>
          <p:cNvPr id="51" name="Text 49"/>
          <p:cNvSpPr txBox="1"/>
          <p:nvPr/>
        </p:nvSpPr>
        <p:spPr>
          <a:xfrm>
            <a:off x="5166360" y="5513832"/>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removed 700 leaking images, verified 0 remaining</a:t>
            </a:r>
            <a:endParaRPr lang="en-US" sz="950" dirty="0"/>
          </a:p>
        </p:txBody>
      </p:sp>
      <p:sp>
        <p:nvSpPr>
          <p:cNvPr id="52" name="Text 50"/>
          <p:cNvSpPr txBox="1"/>
          <p:nvPr/>
        </p:nvSpPr>
        <p:spPr>
          <a:xfrm>
            <a:off x="594360" y="5742432"/>
            <a:ext cx="274320" cy="228600"/>
          </a:xfrm>
          <a:prstGeom prst="rect">
            <a:avLst/>
          </a:prstGeom>
          <a:noFill/>
          <a:ln/>
        </p:spPr>
        <p:txBody>
          <a:bodyPr wrap="square" lIns="0" tIns="0" rIns="0" bIns="0"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a:t>
            </a:r>
            <a:endParaRPr lang="en-US" sz="1000" dirty="0"/>
          </a:p>
        </p:txBody>
      </p:sp>
      <p:sp>
        <p:nvSpPr>
          <p:cNvPr id="53" name="Text 51"/>
          <p:cNvSpPr txBox="1"/>
          <p:nvPr/>
        </p:nvSpPr>
        <p:spPr>
          <a:xfrm>
            <a:off x="896112" y="5742432"/>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validate_localisation.py</a:t>
            </a:r>
            <a:endParaRPr lang="en-US" sz="1050" dirty="0"/>
          </a:p>
        </p:txBody>
      </p:sp>
      <p:sp>
        <p:nvSpPr>
          <p:cNvPr id="54" name="Text 52"/>
          <p:cNvSpPr txBox="1"/>
          <p:nvPr/>
        </p:nvSpPr>
        <p:spPr>
          <a:xfrm>
            <a:off x="5166360" y="5742432"/>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proves Grad-CAM cannot localise well enough for radiomics</a:t>
            </a:r>
            <a:endParaRPr lang="en-US" sz="950" dirty="0"/>
          </a:p>
        </p:txBody>
      </p:sp>
      <p:sp>
        <p:nvSpPr>
          <p:cNvPr id="55" name="Text 53"/>
          <p:cNvSpPr txBox="1"/>
          <p:nvPr/>
        </p:nvSpPr>
        <p:spPr>
          <a:xfrm>
            <a:off x="594360" y="5971032"/>
            <a:ext cx="274320" cy="228600"/>
          </a:xfrm>
          <a:prstGeom prst="rect">
            <a:avLst/>
          </a:prstGeom>
          <a:noFill/>
          <a:ln/>
        </p:spPr>
        <p:txBody>
          <a:bodyPr wrap="square" lIns="0" tIns="0" rIns="0" bIns="0" rtlCol="0" anchor="ctr"/>
          <a:lstStyle/>
          <a:p>
            <a:pPr indent="0" marL="0">
              <a:buNone/>
            </a:pPr>
            <a:r>
              <a:rPr lang="en-US" sz="1000" b="1" dirty="0">
                <a:solidFill>
                  <a:srgbClr val="00A896"/>
                </a:solidFill>
                <a:latin typeface="Calibri" pitchFamily="34" charset="0"/>
                <a:ea typeface="Calibri" pitchFamily="34" charset="-122"/>
                <a:cs typeface="Calibri" pitchFamily="34" charset="-120"/>
              </a:rPr>
              <a:t>✓</a:t>
            </a:r>
            <a:endParaRPr lang="en-US" sz="1000" dirty="0"/>
          </a:p>
        </p:txBody>
      </p:sp>
      <p:sp>
        <p:nvSpPr>
          <p:cNvPr id="56" name="Text 54"/>
          <p:cNvSpPr txBox="1"/>
          <p:nvPr/>
        </p:nvSpPr>
        <p:spPr>
          <a:xfrm>
            <a:off x="896112" y="5971032"/>
            <a:ext cx="4206240" cy="228600"/>
          </a:xfrm>
          <a:prstGeom prst="rect">
            <a:avLst/>
          </a:prstGeom>
          <a:noFill/>
          <a:ln/>
        </p:spPr>
        <p:txBody>
          <a:bodyPr wrap="square" lIns="0" tIns="0" rIns="0" bIns="0" rtlCol="0" anchor="t"/>
          <a:lstStyle/>
          <a:p>
            <a:pPr indent="0" marL="0">
              <a:buNone/>
            </a:pPr>
            <a:r>
              <a:rPr lang="en-US" sz="1050" b="1" dirty="0">
                <a:solidFill>
                  <a:srgbClr val="12263A"/>
                </a:solidFill>
                <a:latin typeface="Calibri" pitchFamily="34" charset="0"/>
                <a:ea typeface="Calibri" pitchFamily="34" charset="-122"/>
                <a:cs typeface="Calibri" pitchFamily="34" charset="-120"/>
              </a:rPr>
              <a:t>3 test suites + deployment manifest</a:t>
            </a:r>
            <a:endParaRPr lang="en-US" sz="1050" dirty="0"/>
          </a:p>
        </p:txBody>
      </p:sp>
      <p:sp>
        <p:nvSpPr>
          <p:cNvPr id="57" name="Text 55"/>
          <p:cNvSpPr txBox="1"/>
          <p:nvPr/>
        </p:nvSpPr>
        <p:spPr>
          <a:xfrm>
            <a:off x="5166360" y="5971032"/>
            <a:ext cx="6263640" cy="228600"/>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pipeline / API / frontend green; SHA-stamped artifacts</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WHY EXERCISING EVERY FEATURE MATTERS</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The verification caught a live safety bug</a:t>
            </a:r>
            <a:endParaRPr lang="en-US" sz="3200" dirty="0"/>
          </a:p>
        </p:txBody>
      </p:sp>
      <p:sp>
        <p:nvSpPr>
          <p:cNvPr id="4" name="Text 2"/>
          <p:cNvSpPr txBox="1"/>
          <p:nvPr/>
        </p:nvSpPr>
        <p:spPr>
          <a:xfrm>
            <a:off x="548640" y="1325880"/>
            <a:ext cx="11064240" cy="384048"/>
          </a:xfrm>
          <a:prstGeom prst="rect">
            <a:avLst/>
          </a:prstGeom>
          <a:noFill/>
          <a:ln/>
        </p:spPr>
        <p:txBody>
          <a:bodyPr wrap="square" lIns="0" tIns="0" rIns="0" bIns="0" rtlCol="0" anchor="t"/>
          <a:lstStyle/>
          <a:p>
            <a:pPr indent="0" marL="0">
              <a:buNone/>
            </a:pPr>
            <a:r>
              <a:rPr lang="en-US" sz="1250" dirty="0">
                <a:solidFill>
                  <a:srgbClr val="12263A"/>
                </a:solidFill>
                <a:latin typeface="Calibri" pitchFamily="34" charset="0"/>
                <a:ea typeface="Calibri" pitchFamily="34" charset="-122"/>
                <a:cs typeface="Calibri" pitchFamily="34" charset="-120"/>
              </a:rPr>
              <a:t>Running all 36 features end-to-end — rather than trusting that they worked — found a defect in the sensitivity-first safeguard that no test suite had caught.</a:t>
            </a:r>
            <a:endParaRPr lang="en-US" sz="1250" dirty="0"/>
          </a:p>
        </p:txBody>
      </p:sp>
      <p:sp>
        <p:nvSpPr>
          <p:cNvPr id="5" name="Shape 3"/>
          <p:cNvSpPr/>
          <p:nvPr/>
        </p:nvSpPr>
        <p:spPr>
          <a:xfrm>
            <a:off x="548640" y="1828800"/>
            <a:ext cx="11064240" cy="1234440"/>
          </a:xfrm>
          <a:prstGeom prst="roundRect">
            <a:avLst>
              <a:gd name="adj" fmla="val 5926"/>
            </a:avLst>
          </a:prstGeom>
          <a:solidFill>
            <a:srgbClr val="0B2038"/>
          </a:solidFill>
          <a:ln w="12700">
            <a:solidFill>
              <a:srgbClr val="0B2038"/>
            </a:solidFill>
            <a:prstDash val="solid"/>
          </a:ln>
          <a:effectLst>
            <a:outerShdw sx="100000" sy="100000" kx="0" ky="0" algn="bl" rotWithShape="0" blurRad="127000" dist="25400" dir="5400000">
              <a:srgbClr val="0A1C2E">
                <a:alpha val="16000"/>
              </a:srgbClr>
            </a:outerShdw>
          </a:effectLst>
        </p:spPr>
      </p:sp>
      <p:sp>
        <p:nvSpPr>
          <p:cNvPr id="6" name="Text 4"/>
          <p:cNvSpPr txBox="1"/>
          <p:nvPr/>
        </p:nvSpPr>
        <p:spPr>
          <a:xfrm>
            <a:off x="822960" y="1975104"/>
            <a:ext cx="10424160" cy="237744"/>
          </a:xfrm>
          <a:prstGeom prst="rect">
            <a:avLst/>
          </a:prstGeom>
          <a:noFill/>
          <a:ln/>
        </p:spPr>
        <p:txBody>
          <a:bodyPr wrap="square" lIns="0" tIns="0" rIns="0" bIns="0" rtlCol="0" anchor="t"/>
          <a:lstStyle/>
          <a:p>
            <a:pPr indent="0" marL="0">
              <a:buNone/>
            </a:pPr>
            <a:r>
              <a:rPr lang="en-US" sz="1050" b="1" dirty="0">
                <a:solidFill>
                  <a:srgbClr val="00A896"/>
                </a:solidFill>
                <a:latin typeface="Courier New" pitchFamily="34" charset="0"/>
                <a:ea typeface="Courier New" pitchFamily="34" charset="-122"/>
                <a:cs typeface="Courier New" pitchFamily="34" charset="-120"/>
              </a:rPr>
              <a:t>inference.py · TUMOR_CLASS_INDICES</a:t>
            </a:r>
            <a:endParaRPr lang="en-US" sz="1050" dirty="0"/>
          </a:p>
        </p:txBody>
      </p:sp>
      <p:sp>
        <p:nvSpPr>
          <p:cNvPr id="7" name="Text 5"/>
          <p:cNvSpPr txBox="1"/>
          <p:nvPr/>
        </p:nvSpPr>
        <p:spPr>
          <a:xfrm>
            <a:off x="822960" y="2267712"/>
            <a:ext cx="10424160" cy="713232"/>
          </a:xfrm>
          <a:prstGeom prst="rect">
            <a:avLst/>
          </a:prstGeom>
          <a:noFill/>
          <a:ln/>
        </p:spPr>
        <p:txBody>
          <a:bodyPr wrap="square" lIns="0" tIns="0" rIns="0" bIns="0" rtlCol="0" anchor="t"/>
          <a:lstStyle/>
          <a:p>
            <a:pPr indent="0" marL="0">
              <a:lnSpc>
                <a:spcPct val="115000"/>
              </a:lnSpc>
              <a:buNone/>
            </a:pPr>
            <a:r>
              <a:rPr lang="en-US" sz="950" dirty="0">
                <a:solidFill>
                  <a:srgbClr val="DCE9F7"/>
                </a:solidFill>
                <a:latin typeface="Courier New" pitchFamily="34" charset="0"/>
                <a:ea typeface="Courier New" pitchFamily="34" charset="-122"/>
                <a:cs typeface="Courier New" pitchFamily="34" charset="-120"/>
              </a:rPr>
              <a:t>idx for idx, name in enumerate(CLASSES) if name.lower() != "notumor"        # the label is "No_Tumor"</a:t>
            </a:r>
            <a:endParaRPr lang="en-US" sz="950" dirty="0"/>
          </a:p>
          <a:p>
            <a:pPr indent="0" marL="0">
              <a:lnSpc>
                <a:spcPct val="115000"/>
              </a:lnSpc>
              <a:buNone/>
            </a:pPr>
            <a:r>
              <a:rPr lang="en-US" sz="950" dirty="0">
                <a:solidFill>
                  <a:srgbClr val="DCE9F7"/>
                </a:solidFill>
                <a:latin typeface="Courier New" pitchFamily="34" charset="0"/>
                <a:ea typeface="Courier New" pitchFamily="34" charset="-122"/>
                <a:cs typeface="Courier New" pitchFamily="34" charset="-120"/>
              </a:rPr>
              <a:t>                                                                              # .lower() -&gt; "no_tumor"  (underscore)</a:t>
            </a:r>
            <a:endParaRPr lang="en-US" sz="950" dirty="0"/>
          </a:p>
          <a:p>
            <a:pPr indent="0" marL="0">
              <a:lnSpc>
                <a:spcPct val="115000"/>
              </a:lnSpc>
              <a:buNone/>
            </a:pPr>
            <a:r>
              <a:rPr lang="en-US" sz="950" dirty="0">
                <a:solidFill>
                  <a:srgbClr val="DCE9F7"/>
                </a:solidFill>
                <a:latin typeface="Courier New" pitchFamily="34" charset="0"/>
                <a:ea typeface="Courier New" pitchFamily="34" charset="-122"/>
                <a:cs typeface="Courier New" pitchFamily="34" charset="-120"/>
              </a:rPr>
              <a:t>                                                                              # never matches -&gt; nothing excluded</a:t>
            </a:r>
            <a:endParaRPr lang="en-US" sz="950" dirty="0"/>
          </a:p>
        </p:txBody>
      </p:sp>
      <p:sp>
        <p:nvSpPr>
          <p:cNvPr id="8" name="Shape 6"/>
          <p:cNvSpPr/>
          <p:nvPr/>
        </p:nvSpPr>
        <p:spPr>
          <a:xfrm>
            <a:off x="548640" y="3200400"/>
            <a:ext cx="5394960" cy="1828800"/>
          </a:xfrm>
          <a:prstGeom prst="roundRect">
            <a:avLst>
              <a:gd name="adj" fmla="val 4000"/>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9" name="Text 7"/>
          <p:cNvSpPr txBox="1"/>
          <p:nvPr/>
        </p:nvSpPr>
        <p:spPr>
          <a:xfrm>
            <a:off x="822960" y="3383280"/>
            <a:ext cx="4846320" cy="274320"/>
          </a:xfrm>
          <a:prstGeom prst="rect">
            <a:avLst/>
          </a:prstGeom>
          <a:noFill/>
          <a:ln/>
        </p:spPr>
        <p:txBody>
          <a:bodyPr wrap="square" lIns="0" tIns="0" rIns="0" bIns="0" rtlCol="0" anchor="t"/>
          <a:lstStyle/>
          <a:p>
            <a:pPr indent="0" marL="0">
              <a:buNone/>
            </a:pPr>
            <a:r>
              <a:rPr lang="en-US" sz="1400" b="1" dirty="0">
                <a:solidFill>
                  <a:srgbClr val="E9973F"/>
                </a:solidFill>
                <a:latin typeface="Calibri" pitchFamily="34" charset="0"/>
                <a:ea typeface="Calibri" pitchFamily="34" charset="-122"/>
                <a:cs typeface="Calibri" pitchFamily="34" charset="-120"/>
              </a:rPr>
              <a:t>What it broke</a:t>
            </a:r>
            <a:endParaRPr lang="en-US" sz="1400" dirty="0"/>
          </a:p>
        </p:txBody>
      </p:sp>
      <p:sp>
        <p:nvSpPr>
          <p:cNvPr id="10" name="Text 8"/>
          <p:cNvSpPr txBox="1"/>
          <p:nvPr/>
        </p:nvSpPr>
        <p:spPr>
          <a:xfrm>
            <a:off x="822960" y="3703320"/>
            <a:ext cx="4846320" cy="12344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2263A"/>
                </a:solidFill>
                <a:latin typeface="Calibri" pitchFamily="34" charset="0"/>
                <a:ea typeface="Calibri" pitchFamily="34" charset="-122"/>
                <a:cs typeface="Calibri" pitchFamily="34" charset="-120"/>
              </a:rPr>
              <a:t>The tumour-class list contained ALL four classes, including No_Tumor.</a:t>
            </a:r>
            <a:endParaRPr lang="en-US" sz="1050" dirty="0"/>
          </a:p>
          <a:p>
            <a:pPr marL="342900" indent="-342900">
              <a:spcAft>
                <a:spcPts val="600"/>
              </a:spcAft>
              <a:buSzPct val="100000"/>
              <a:buChar char="•"/>
            </a:pPr>
            <a:r>
              <a:rPr lang="en-US" sz="1050" dirty="0">
                <a:solidFill>
                  <a:srgbClr val="12263A"/>
                </a:solidFill>
                <a:latin typeface="Calibri" pitchFamily="34" charset="0"/>
                <a:ea typeface="Calibri" pitchFamily="34" charset="-122"/>
                <a:cs typeface="Calibri" pitchFamily="34" charset="-120"/>
              </a:rPr>
              <a:t>Aggregate tumour probability summed to 1.0 on every scan — so the ≥30% alert fired on all 1,600 images, including healthy ones.</a:t>
            </a:r>
            <a:endParaRPr lang="en-US" sz="1050" dirty="0"/>
          </a:p>
          <a:p>
            <a:pPr marL="342900" indent="-342900">
              <a:spcAft>
                <a:spcPts val="600"/>
              </a:spcAft>
              <a:buSzPct val="100000"/>
              <a:buChar char="•"/>
            </a:pPr>
            <a:r>
              <a:rPr lang="en-US" sz="1050" dirty="0">
                <a:solidFill>
                  <a:srgbClr val="12263A"/>
                </a:solidFill>
                <a:latin typeface="Calibri" pitchFamily="34" charset="0"/>
                <a:ea typeface="Calibri" pitchFamily="34" charset="-122"/>
                <a:cs typeface="Calibri" pitchFamily="34" charset="-120"/>
              </a:rPr>
              <a:t>The "surface the most likely tumour class" override selected No_Tumor itself — a silent no-op.</a:t>
            </a:r>
            <a:endParaRPr lang="en-US" sz="1050" dirty="0"/>
          </a:p>
        </p:txBody>
      </p:sp>
      <p:sp>
        <p:nvSpPr>
          <p:cNvPr id="11" name="Shape 9"/>
          <p:cNvSpPr/>
          <p:nvPr/>
        </p:nvSpPr>
        <p:spPr>
          <a:xfrm>
            <a:off x="6217920" y="3200400"/>
            <a:ext cx="5394960" cy="1828800"/>
          </a:xfrm>
          <a:prstGeom prst="roundRect">
            <a:avLst>
              <a:gd name="adj" fmla="val 4000"/>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2" name="Text 10"/>
          <p:cNvSpPr txBox="1"/>
          <p:nvPr/>
        </p:nvSpPr>
        <p:spPr>
          <a:xfrm>
            <a:off x="6492240" y="3383280"/>
            <a:ext cx="4846320" cy="274320"/>
          </a:xfrm>
          <a:prstGeom prst="rect">
            <a:avLst/>
          </a:prstGeom>
          <a:noFill/>
          <a:ln/>
        </p:spPr>
        <p:txBody>
          <a:bodyPr wrap="square" lIns="0" tIns="0" rIns="0" bIns="0" rtlCol="0" anchor="t"/>
          <a:lstStyle/>
          <a:p>
            <a:pPr indent="0" marL="0">
              <a:buNone/>
            </a:pPr>
            <a:r>
              <a:rPr lang="en-US" sz="1400" b="1" dirty="0">
                <a:solidFill>
                  <a:srgbClr val="00A896"/>
                </a:solidFill>
                <a:latin typeface="Calibri" pitchFamily="34" charset="0"/>
                <a:ea typeface="Calibri" pitchFamily="34" charset="-122"/>
                <a:cs typeface="Calibri" pitchFamily="34" charset="-120"/>
              </a:rPr>
              <a:t>After the fix — measured on 1,600 scans</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92240" y="3703320"/>
          <a:ext cx="4846320" cy="914400"/>
        </p:xfrm>
        <a:graphic>
          <a:graphicData uri="http://schemas.openxmlformats.org/drawingml/2006/table">
            <a:tbl>
              <a:tblPr/>
              <a:tblGrid>
                <a:gridCol w="2286000"/>
                <a:gridCol w="1280160"/>
                <a:gridCol w="1280160"/>
              </a:tblGrid>
              <a:tr h="2468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True class</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alert</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no alert</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r>
              <a:tr h="246888">
                <a:tc>
                  <a:txBody>
                    <a:bodyPr/>
                    <a:lstStyle/>
                    <a:p>
                      <a:pPr algn="ctr" indent="0" marL="0">
                        <a:buNone/>
                      </a:pPr>
                      <a:r>
                        <a:rPr lang="en-US" sz="1000" dirty="0">
                          <a:solidFill>
                            <a:srgbClr val="12263A"/>
                          </a:solidFill>
                          <a:latin typeface="Calibri" pitchFamily="34" charset="0"/>
                          <a:ea typeface="Calibri" pitchFamily="34" charset="-122"/>
                          <a:cs typeface="Calibri" pitchFamily="34" charset="-120"/>
                        </a:rPr>
                        <a:t>Glioma</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263A"/>
                          </a:solidFill>
                          <a:latin typeface="Calibri" pitchFamily="34" charset="0"/>
                          <a:ea typeface="Calibri" pitchFamily="34" charset="-122"/>
                          <a:cs typeface="Calibri" pitchFamily="34" charset="-120"/>
                        </a:rPr>
                        <a:t>388</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263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246888">
                <a:tc>
                  <a:txBody>
                    <a:bodyPr/>
                    <a:lstStyle/>
                    <a:p>
                      <a:pPr algn="ctr" indent="0" marL="0">
                        <a:buNone/>
                      </a:pPr>
                      <a:r>
                        <a:rPr lang="en-US" sz="1000" dirty="0">
                          <a:solidFill>
                            <a:srgbClr val="12263A"/>
                          </a:solidFill>
                          <a:latin typeface="Calibri" pitchFamily="34" charset="0"/>
                          <a:ea typeface="Calibri" pitchFamily="34" charset="-122"/>
                          <a:cs typeface="Calibri" pitchFamily="34" charset="-120"/>
                        </a:rPr>
                        <a:t>Meningioma</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263A"/>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26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246888">
                <a:tc>
                  <a:txBody>
                    <a:bodyPr/>
                    <a:lstStyle/>
                    <a:p>
                      <a:pPr algn="ctr" indent="0" marL="0">
                        <a:buNone/>
                      </a:pPr>
                      <a:r>
                        <a:rPr lang="en-US" sz="1000" b="1" dirty="0">
                          <a:solidFill>
                            <a:srgbClr val="12263A"/>
                          </a:solidFill>
                          <a:latin typeface="Calibri" pitchFamily="34" charset="0"/>
                          <a:ea typeface="Calibri" pitchFamily="34" charset="-122"/>
                          <a:cs typeface="Calibri" pitchFamily="34" charset="-120"/>
                        </a:rPr>
                        <a:t>No_Tumor</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A6B5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2263A"/>
                          </a:solidFill>
                          <a:latin typeface="Calibri" pitchFamily="34" charset="0"/>
                          <a:ea typeface="Calibri" pitchFamily="34" charset="-122"/>
                          <a:cs typeface="Calibri" pitchFamily="34" charset="-120"/>
                        </a:rPr>
                        <a:t>398</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246888">
                <a:tc>
                  <a:txBody>
                    <a:bodyPr/>
                    <a:lstStyle/>
                    <a:p>
                      <a:pPr algn="ctr" indent="0" marL="0">
                        <a:buNone/>
                      </a:pPr>
                      <a:r>
                        <a:rPr lang="en-US" sz="1000" dirty="0">
                          <a:solidFill>
                            <a:srgbClr val="12263A"/>
                          </a:solidFill>
                          <a:latin typeface="Calibri" pitchFamily="34" charset="0"/>
                          <a:ea typeface="Calibri" pitchFamily="34" charset="-122"/>
                          <a:cs typeface="Calibri" pitchFamily="34" charset="-120"/>
                        </a:rPr>
                        <a:t>Pituitary</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263A"/>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226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548640" y="5193792"/>
            <a:ext cx="11064240" cy="502920"/>
          </a:xfrm>
          <a:prstGeom prst="rect">
            <a:avLst/>
          </a:prstGeom>
          <a:noFill/>
          <a:ln/>
        </p:spPr>
        <p:txBody>
          <a:bodyPr wrap="square" lIns="0" tIns="0" rIns="0" bIns="0" rtlCol="0" anchor="t"/>
          <a:lstStyle/>
          <a:p>
            <a:pPr indent="0" marL="0">
              <a:buNone/>
            </a:pPr>
            <a:r>
              <a:rPr lang="en-US" sz="1150" i="1" dirty="0">
                <a:solidFill>
                  <a:srgbClr val="0E2A47"/>
                </a:solidFill>
                <a:latin typeface="Calibri" pitchFamily="34" charset="0"/>
                <a:ea typeface="Calibri" pitchFamily="34" charset="-122"/>
                <a:cs typeface="Calibri" pitchFamily="34" charset="-120"/>
              </a:rPr>
              <a:t>False alarms on healthy scans: 400/400 → 2/400. The working safeguard costs 0.06 accuracy points on the full test set (0.9556 → 0.9550) because the override now genuinely fires — that trade is the point of a sensitivity-first rule.</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PAPER · §V DISCUSSION + §VI CONCLUSION</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What the authors said comes next</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t"/>
          <a:lstStyle/>
          <a:p>
            <a:pPr indent="0" marL="0">
              <a:buNone/>
            </a:pPr>
            <a:r>
              <a:rPr lang="en-US" sz="1250" dirty="0">
                <a:solidFill>
                  <a:srgbClr val="12263A"/>
                </a:solidFill>
                <a:latin typeface="Calibri" pitchFamily="34" charset="0"/>
                <a:ea typeface="Calibri" pitchFamily="34" charset="-122"/>
                <a:cs typeface="Calibri" pitchFamily="34" charset="-120"/>
              </a:rPr>
              <a:t>The paper states its own future work in three places. Quoting them exactly matters — it is the checklist our project was built against.</a:t>
            </a:r>
            <a:endParaRPr lang="en-US" sz="1250" dirty="0"/>
          </a:p>
        </p:txBody>
      </p:sp>
      <p:sp>
        <p:nvSpPr>
          <p:cNvPr id="5" name="Shape 3"/>
          <p:cNvSpPr/>
          <p:nvPr/>
        </p:nvSpPr>
        <p:spPr>
          <a:xfrm>
            <a:off x="548640" y="1783080"/>
            <a:ext cx="11064240" cy="1234440"/>
          </a:xfrm>
          <a:prstGeom prst="roundRect">
            <a:avLst>
              <a:gd name="adj" fmla="val 5926"/>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6" name="Shape 4"/>
          <p:cNvSpPr/>
          <p:nvPr/>
        </p:nvSpPr>
        <p:spPr>
          <a:xfrm>
            <a:off x="804672" y="2002536"/>
            <a:ext cx="2286000" cy="384048"/>
          </a:xfrm>
          <a:prstGeom prst="roundRect">
            <a:avLst>
              <a:gd name="adj" fmla="val 14286"/>
            </a:avLst>
          </a:prstGeom>
          <a:solidFill>
            <a:srgbClr val="0E2A47"/>
          </a:solidFill>
          <a:ln w="12700">
            <a:solidFill>
              <a:srgbClr val="0E2A47"/>
            </a:solidFill>
            <a:prstDash val="solid"/>
          </a:ln>
        </p:spPr>
      </p:sp>
      <p:sp>
        <p:nvSpPr>
          <p:cNvPr id="7" name="Text 5"/>
          <p:cNvSpPr txBox="1"/>
          <p:nvPr/>
        </p:nvSpPr>
        <p:spPr>
          <a:xfrm>
            <a:off x="804672" y="2002536"/>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Abstract</a:t>
            </a:r>
            <a:endParaRPr lang="en-US" sz="1000" dirty="0"/>
          </a:p>
        </p:txBody>
      </p:sp>
      <p:sp>
        <p:nvSpPr>
          <p:cNvPr id="8" name="Text 6"/>
          <p:cNvSpPr txBox="1"/>
          <p:nvPr/>
        </p:nvSpPr>
        <p:spPr>
          <a:xfrm>
            <a:off x="3291840" y="1965960"/>
            <a:ext cx="8092440" cy="914400"/>
          </a:xfrm>
          <a:prstGeom prst="rect">
            <a:avLst/>
          </a:prstGeom>
          <a:noFill/>
          <a:ln/>
        </p:spPr>
        <p:txBody>
          <a:bodyPr wrap="square" lIns="0" tIns="0" rIns="0" bIns="0" rtlCol="0" anchor="t"/>
          <a:lstStyle/>
          <a:p>
            <a:pPr indent="0" marL="0">
              <a:buNone/>
            </a:pPr>
            <a:r>
              <a:rPr lang="en-US" sz="1100" i="1" dirty="0">
                <a:solidFill>
                  <a:srgbClr val="12263A"/>
                </a:solidFill>
                <a:latin typeface="Calibri" pitchFamily="34" charset="0"/>
                <a:ea typeface="Calibri" pitchFamily="34" charset="-122"/>
                <a:cs typeface="Calibri" pitchFamily="34" charset="-120"/>
              </a:rPr>
              <a:t>“Future work will extend the approach to multi-modal MRI sequences, higher-resolution inputs, and transformer-based attention architectures for enhanced diagnostic performance.”</a:t>
            </a:r>
            <a:endParaRPr lang="en-US" sz="1100" dirty="0"/>
          </a:p>
        </p:txBody>
      </p:sp>
      <p:sp>
        <p:nvSpPr>
          <p:cNvPr id="9" name="Shape 7"/>
          <p:cNvSpPr/>
          <p:nvPr/>
        </p:nvSpPr>
        <p:spPr>
          <a:xfrm>
            <a:off x="548640" y="3154680"/>
            <a:ext cx="11064240" cy="1234440"/>
          </a:xfrm>
          <a:prstGeom prst="roundRect">
            <a:avLst>
              <a:gd name="adj" fmla="val 5926"/>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0" name="Shape 8"/>
          <p:cNvSpPr/>
          <p:nvPr/>
        </p:nvSpPr>
        <p:spPr>
          <a:xfrm>
            <a:off x="804672" y="3374136"/>
            <a:ext cx="2286000" cy="384048"/>
          </a:xfrm>
          <a:prstGeom prst="roundRect">
            <a:avLst>
              <a:gd name="adj" fmla="val 14286"/>
            </a:avLst>
          </a:prstGeom>
          <a:solidFill>
            <a:srgbClr val="0E2A47"/>
          </a:solidFill>
          <a:ln w="12700">
            <a:solidFill>
              <a:srgbClr val="0E2A47"/>
            </a:solidFill>
            <a:prstDash val="solid"/>
          </a:ln>
        </p:spPr>
      </p:sp>
      <p:sp>
        <p:nvSpPr>
          <p:cNvPr id="11" name="Text 9"/>
          <p:cNvSpPr txBox="1"/>
          <p:nvPr/>
        </p:nvSpPr>
        <p:spPr>
          <a:xfrm>
            <a:off x="804672" y="3374136"/>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 Discussion — limitations</a:t>
            </a:r>
            <a:endParaRPr lang="en-US" sz="1000" dirty="0"/>
          </a:p>
        </p:txBody>
      </p:sp>
      <p:sp>
        <p:nvSpPr>
          <p:cNvPr id="12" name="Text 10"/>
          <p:cNvSpPr txBox="1"/>
          <p:nvPr/>
        </p:nvSpPr>
        <p:spPr>
          <a:xfrm>
            <a:off x="3291840" y="3337560"/>
            <a:ext cx="8092440" cy="914400"/>
          </a:xfrm>
          <a:prstGeom prst="rect">
            <a:avLst/>
          </a:prstGeom>
          <a:noFill/>
          <a:ln/>
        </p:spPr>
        <p:txBody>
          <a:bodyPr wrap="square" lIns="0" tIns="0" rIns="0" bIns="0" rtlCol="0" anchor="t"/>
          <a:lstStyle/>
          <a:p>
            <a:pPr indent="0" marL="0">
              <a:buNone/>
            </a:pPr>
            <a:r>
              <a:rPr lang="en-US" sz="1100" dirty="0">
                <a:solidFill>
                  <a:srgbClr val="12263A"/>
                </a:solidFill>
                <a:latin typeface="Calibri" pitchFamily="34" charset="0"/>
                <a:ea typeface="Calibri" pitchFamily="34" charset="-122"/>
                <a:cs typeface="Calibri" pitchFamily="34" charset="-120"/>
              </a:rPr>
              <a:t>Higher resolution than 64×64 (they suggest 128×128 via MobileNet / EfficientNet-lite) · deeper networks or transfer learning from ResNet, DenseNet or Vision Transformers · stratified K-fold cross-validation · grid search over the SVM's C and gamma · multimodal FLAIR and T2 sequences.</a:t>
            </a:r>
            <a:endParaRPr lang="en-US" sz="1100" dirty="0"/>
          </a:p>
        </p:txBody>
      </p:sp>
      <p:sp>
        <p:nvSpPr>
          <p:cNvPr id="13" name="Shape 11"/>
          <p:cNvSpPr/>
          <p:nvPr/>
        </p:nvSpPr>
        <p:spPr>
          <a:xfrm>
            <a:off x="548640" y="4526280"/>
            <a:ext cx="11064240" cy="1234440"/>
          </a:xfrm>
          <a:prstGeom prst="roundRect">
            <a:avLst>
              <a:gd name="adj" fmla="val 5926"/>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4" name="Shape 12"/>
          <p:cNvSpPr/>
          <p:nvPr/>
        </p:nvSpPr>
        <p:spPr>
          <a:xfrm>
            <a:off x="804672" y="4745736"/>
            <a:ext cx="2286000" cy="384048"/>
          </a:xfrm>
          <a:prstGeom prst="roundRect">
            <a:avLst>
              <a:gd name="adj" fmla="val 14286"/>
            </a:avLst>
          </a:prstGeom>
          <a:solidFill>
            <a:srgbClr val="0E2A47"/>
          </a:solidFill>
          <a:ln w="12700">
            <a:solidFill>
              <a:srgbClr val="0E2A47"/>
            </a:solidFill>
            <a:prstDash val="solid"/>
          </a:ln>
        </p:spPr>
      </p:sp>
      <p:sp>
        <p:nvSpPr>
          <p:cNvPr id="15" name="Text 13"/>
          <p:cNvSpPr txBox="1"/>
          <p:nvPr/>
        </p:nvSpPr>
        <p:spPr>
          <a:xfrm>
            <a:off x="804672" y="4745736"/>
            <a:ext cx="22860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§VI Conclusion</a:t>
            </a:r>
            <a:endParaRPr lang="en-US" sz="1000" dirty="0"/>
          </a:p>
        </p:txBody>
      </p:sp>
      <p:sp>
        <p:nvSpPr>
          <p:cNvPr id="16" name="Text 14"/>
          <p:cNvSpPr txBox="1"/>
          <p:nvPr/>
        </p:nvSpPr>
        <p:spPr>
          <a:xfrm>
            <a:off x="3291840" y="4709160"/>
            <a:ext cx="8092440" cy="914400"/>
          </a:xfrm>
          <a:prstGeom prst="rect">
            <a:avLst/>
          </a:prstGeom>
          <a:noFill/>
          <a:ln/>
        </p:spPr>
        <p:txBody>
          <a:bodyPr wrap="square" lIns="0" tIns="0" rIns="0" bIns="0" rtlCol="0" anchor="t"/>
          <a:lstStyle/>
          <a:p>
            <a:pPr indent="0" marL="0">
              <a:buNone/>
            </a:pPr>
            <a:r>
              <a:rPr lang="en-US" sz="1100" i="1" dirty="0">
                <a:solidFill>
                  <a:srgbClr val="12263A"/>
                </a:solidFill>
                <a:latin typeface="Calibri" pitchFamily="34" charset="0"/>
                <a:ea typeface="Calibri" pitchFamily="34" charset="-122"/>
                <a:cs typeface="Calibri" pitchFamily="34" charset="-120"/>
              </a:rPr>
              <a:t>“…incorporating larger and more diverse datasets, integrating multi-modal imaging sequences (e.g., T2, FLAIR), and exploring advanced attention schemes such as transformer-based models or 3D attention modules. Additionally, external validation on clinical data and longitudinal studies…”</a:t>
            </a:r>
            <a:endParaRPr lang="en-US" sz="1100" dirty="0"/>
          </a:p>
        </p:txBody>
      </p:sp>
      <p:sp>
        <p:nvSpPr>
          <p:cNvPr id="17" name="Text 15"/>
          <p:cNvSpPr txBox="1"/>
          <p:nvPr/>
        </p:nvSpPr>
        <p:spPr>
          <a:xfrm>
            <a:off x="548640" y="5943600"/>
            <a:ext cx="11064240" cy="310896"/>
          </a:xfrm>
          <a:prstGeom prst="rect">
            <a:avLst/>
          </a:prstGeom>
          <a:noFill/>
          <a:ln/>
        </p:spPr>
        <p:txBody>
          <a:bodyPr wrap="square" lIns="0" tIns="0" rIns="0" bIns="0" rtlCol="0" anchor="t"/>
          <a:lstStyle/>
          <a:p>
            <a:pPr indent="0" marL="0">
              <a:buNone/>
            </a:pPr>
            <a:r>
              <a:rPr lang="en-US" sz="1200" i="1" dirty="0">
                <a:solidFill>
                  <a:srgbClr val="0E2A47"/>
                </a:solidFill>
                <a:latin typeface="Calibri" pitchFamily="34" charset="0"/>
                <a:ea typeface="Calibri" pitchFamily="34" charset="-122"/>
                <a:cs typeface="Calibri" pitchFamily="34" charset="-120"/>
              </a:rPr>
              <a:t>Our project is, in effect, their future-work section implemented — and then measured.</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SCORECARD</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How much of their future work we delivered</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114800"/>
                <a:gridCol w="1737360"/>
                <a:gridCol w="521208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Author's proposed future work</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we actually did</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E2A47"/>
                    </a:solidFill>
                  </a:tcPr>
                </a:tc>
              </a:tr>
              <a:tr h="402336">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Higher-resolution inputs (they suggest 128×128)</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b="1" dirty="0">
                          <a:solidFill>
                            <a:srgbClr val="0A6B5B"/>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Trained at 144 × 144</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Deeper net / transfer learning — ResNet, DenseNet, ViT</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b="1" dirty="0">
                          <a:solidFill>
                            <a:srgbClr val="0A6B5B"/>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ResNet50, ImageNet-pretrained, + CBAM (27.07 M params)</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Multi-modal sequences (T2, FLAIR)</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b="1" dirty="0">
                          <a:solidFill>
                            <a:srgbClr val="0A6B5B"/>
                          </a:solidFill>
                          <a:latin typeface="Calibri" pitchFamily="34" charset="0"/>
                          <a:ea typeface="Calibri" pitchFamily="34" charset="-122"/>
                          <a:cs typeface="Calibri" pitchFamily="34" charset="-120"/>
                        </a:rPr>
                        <a:t>DONE</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T1c + T2 + FLAIR accepted, composited, missing ones logged</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Grid search over the SVM's C and gamma</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b="1" dirty="0">
                          <a:solidFill>
                            <a:srgbClr val="0A6B5B"/>
                          </a:solidFill>
                          <a:latin typeface="Calibri" pitchFamily="34" charset="0"/>
                          <a:ea typeface="Calibri" pitchFamily="34" charset="-122"/>
                          <a:cs typeface="Calibri" pitchFamily="34" charset="-120"/>
                        </a:rPr>
                        <a:t>SUPERSEDED</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SVM removed — replaced by an end-to-end trained fusion head</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3D attention modules</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b="1" dirty="0">
                          <a:solidFill>
                            <a:srgbClr val="9A5B1E"/>
                          </a:solidFill>
                          <a:latin typeface="Calibri" pitchFamily="34" charset="0"/>
                          <a:ea typeface="Calibri" pitchFamily="34" charset="-122"/>
                          <a:cs typeface="Calibri" pitchFamily="34" charset="-120"/>
                        </a:rPr>
                        <a:t>PARTIAL</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Volumetric inference: every slice scored and aggregated. Not 3D attention</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Stratified K-fold cross-validation</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b="1" dirty="0">
                          <a:solidFill>
                            <a:srgbClr val="9A5B1E"/>
                          </a:solidFill>
                          <a:latin typeface="Calibri" pitchFamily="34" charset="0"/>
                          <a:ea typeface="Calibri" pitchFamily="34" charset="-122"/>
                          <a:cs typeface="Calibri" pitchFamily="34" charset="-120"/>
                        </a:rPr>
                        <a:t>PARTIAL</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Stratified splits + a separate 1,600-image held-out set, not K-fold</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Larger / more diverse datasets</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5B6E88"/>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Same dataset — and we found 7% of it was duplicated</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Transformer-based attention</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5B6E88"/>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Not attempted</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External validation on clinical data</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5B6E88"/>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Requires a second cohort we do not have</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Longitudinal studies</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5B6E88"/>
                          </a:solidFill>
                          <a:latin typeface="Calibri" pitchFamily="34" charset="0"/>
                          <a:ea typeface="Calibri" pitchFamily="34" charset="-122"/>
                          <a:cs typeface="Calibri" pitchFamily="34" charset="-120"/>
                        </a:rPr>
                        <a:t>OPEN</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050" dirty="0">
                          <a:solidFill>
                            <a:srgbClr val="12263A"/>
                          </a:solidFill>
                          <a:latin typeface="Calibri" pitchFamily="34" charset="0"/>
                          <a:ea typeface="Calibri" pitchFamily="34" charset="-122"/>
                          <a:cs typeface="Calibri" pitchFamily="34" charset="-120"/>
                        </a:rPr>
                        <a:t>Requires follow-up imaging over time</a:t>
                      </a:r>
                      <a:endParaRPr lang="en-US" sz="105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70448"/>
            <a:ext cx="11064240" cy="310896"/>
          </a:xfrm>
          <a:prstGeom prst="rect">
            <a:avLst/>
          </a:prstGeom>
          <a:noFill/>
          <a:ln/>
        </p:spPr>
        <p:txBody>
          <a:bodyPr wrap="square" lIns="0" tIns="0" rIns="0" bIns="0" rtlCol="0" anchor="t"/>
          <a:lstStyle/>
          <a:p>
            <a:pPr indent="0" marL="0">
              <a:buNone/>
            </a:pPr>
            <a:r>
              <a:rPr lang="en-US" sz="1150" i="1" dirty="0">
                <a:solidFill>
                  <a:srgbClr val="0E2A47"/>
                </a:solidFill>
                <a:latin typeface="Calibri" pitchFamily="34" charset="0"/>
                <a:ea typeface="Calibri" pitchFamily="34" charset="-122"/>
                <a:cs typeface="Calibri" pitchFamily="34" charset="-120"/>
              </a:rPr>
              <a:t>Four delivered, two partially, four open — and the four that remain need data or compute, not a different design.</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WHAT WE WOULD DO NEXT, AND WHY</a:t>
            </a:r>
            <a:endParaRPr lang="en-US" sz="110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3200" b="1" dirty="0">
                <a:solidFill>
                  <a:srgbClr val="0E2A47"/>
                </a:solidFill>
                <a:latin typeface="Cambria" pitchFamily="34" charset="0"/>
                <a:ea typeface="Cambria" pitchFamily="34" charset="-122"/>
                <a:cs typeface="Cambria" pitchFamily="34" charset="-120"/>
              </a:rPr>
              <a:t>Our future work — measured, not guessed</a:t>
            </a:r>
            <a:endParaRPr lang="en-US" sz="3200" dirty="0"/>
          </a:p>
        </p:txBody>
      </p:sp>
      <p:sp>
        <p:nvSpPr>
          <p:cNvPr id="4" name="Text 2"/>
          <p:cNvSpPr txBox="1"/>
          <p:nvPr/>
        </p:nvSpPr>
        <p:spPr>
          <a:xfrm>
            <a:off x="548640" y="1298448"/>
            <a:ext cx="11064240" cy="329184"/>
          </a:xfrm>
          <a:prstGeom prst="rect">
            <a:avLst/>
          </a:prstGeom>
          <a:noFill/>
          <a:ln/>
        </p:spPr>
        <p:txBody>
          <a:bodyPr wrap="square" lIns="0" tIns="0" rIns="0" bIns="0" rtlCol="0" anchor="t"/>
          <a:lstStyle/>
          <a:p>
            <a:pPr indent="0" marL="0">
              <a:buNone/>
            </a:pPr>
            <a:r>
              <a:rPr lang="en-US" sz="1250" dirty="0">
                <a:solidFill>
                  <a:srgbClr val="12263A"/>
                </a:solidFill>
                <a:latin typeface="Calibri" pitchFamily="34" charset="0"/>
                <a:ea typeface="Calibri" pitchFamily="34" charset="-122"/>
                <a:cs typeface="Calibri" pitchFamily="34" charset="-120"/>
              </a:rPr>
              <a:t>Each item below came out of something we measured during this project, so the next step is specified rather than aspirational.</a:t>
            </a:r>
            <a:endParaRPr lang="en-US" sz="1250" dirty="0"/>
          </a:p>
        </p:txBody>
      </p:sp>
      <p:sp>
        <p:nvSpPr>
          <p:cNvPr id="5" name="Shape 3"/>
          <p:cNvSpPr/>
          <p:nvPr/>
        </p:nvSpPr>
        <p:spPr>
          <a:xfrm>
            <a:off x="548640" y="1719072"/>
            <a:ext cx="11064240" cy="786384"/>
          </a:xfrm>
          <a:prstGeom prst="roundRect">
            <a:avLst>
              <a:gd name="adj" fmla="val 93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6" name="Shape 4"/>
          <p:cNvSpPr/>
          <p:nvPr/>
        </p:nvSpPr>
        <p:spPr>
          <a:xfrm>
            <a:off x="786384" y="1920240"/>
            <a:ext cx="384048" cy="384048"/>
          </a:xfrm>
          <a:prstGeom prst="ellipse">
            <a:avLst/>
          </a:prstGeom>
          <a:solidFill>
            <a:srgbClr val="E9973F"/>
          </a:solidFill>
          <a:ln w="12700">
            <a:solidFill>
              <a:srgbClr val="E9973F"/>
            </a:solidFill>
            <a:prstDash val="solid"/>
          </a:ln>
        </p:spPr>
      </p:sp>
      <p:sp>
        <p:nvSpPr>
          <p:cNvPr id="7" name="Text 5"/>
          <p:cNvSpPr txBox="1"/>
          <p:nvPr/>
        </p:nvSpPr>
        <p:spPr>
          <a:xfrm>
            <a:off x="786384" y="1920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810512"/>
            <a:ext cx="2514600" cy="603504"/>
          </a:xfrm>
          <a:prstGeom prst="rect">
            <a:avLst/>
          </a:prstGeom>
          <a:noFill/>
          <a:ln/>
        </p:spPr>
        <p:txBody>
          <a:bodyPr wrap="square" lIns="0" tIns="0" rIns="0" bIns="0" rtlCol="0" anchor="t"/>
          <a:lstStyle/>
          <a:p>
            <a:pPr indent="0" marL="0">
              <a:buNone/>
            </a:pPr>
            <a:r>
              <a:rPr lang="en-US" sz="1200" b="1" dirty="0">
                <a:solidFill>
                  <a:srgbClr val="0E2A47"/>
                </a:solidFill>
                <a:latin typeface="Calibri" pitchFamily="34" charset="0"/>
                <a:ea typeface="Calibri" pitchFamily="34" charset="-122"/>
                <a:cs typeface="Calibri" pitchFamily="34" charset="-120"/>
              </a:rPr>
              <a:t>Lesion segmentation</a:t>
            </a:r>
            <a:endParaRPr lang="en-US" sz="1200" dirty="0"/>
          </a:p>
        </p:txBody>
      </p:sp>
      <p:sp>
        <p:nvSpPr>
          <p:cNvPr id="9" name="Text 7"/>
          <p:cNvSpPr txBox="1"/>
          <p:nvPr/>
        </p:nvSpPr>
        <p:spPr>
          <a:xfrm>
            <a:off x="3840480" y="1792224"/>
            <a:ext cx="4800600" cy="658368"/>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We attempted imaging-based WHO grading and tested it: Grad-CAM++ ROIs are statistically identical to a random patch of the same brain (|diff| 0.001–0.008 vs a 0.05 threshold). layer4 is 5×5 for a 144×144 input — too coarse to delimit a boundary.</a:t>
            </a:r>
            <a:endParaRPr lang="en-US" sz="950" dirty="0"/>
          </a:p>
        </p:txBody>
      </p:sp>
      <p:sp>
        <p:nvSpPr>
          <p:cNvPr id="10" name="Text 8"/>
          <p:cNvSpPr txBox="1"/>
          <p:nvPr/>
        </p:nvSpPr>
        <p:spPr>
          <a:xfrm>
            <a:off x="8778240" y="1792224"/>
            <a:ext cx="2606040" cy="658368"/>
          </a:xfrm>
          <a:prstGeom prst="rect">
            <a:avLst/>
          </a:prstGeom>
          <a:noFill/>
          <a:ln/>
        </p:spPr>
        <p:txBody>
          <a:bodyPr wrap="square" lIns="0" tIns="0" rIns="0" bIns="0" rtlCol="0" anchor="t"/>
          <a:lstStyle/>
          <a:p>
            <a:pPr indent="0" marL="0">
              <a:buNone/>
            </a:pPr>
            <a:r>
              <a:rPr lang="en-US" sz="950" b="1" dirty="0">
                <a:solidFill>
                  <a:srgbClr val="E9973F"/>
                </a:solidFill>
                <a:latin typeface="Calibri" pitchFamily="34" charset="0"/>
                <a:ea typeface="Calibri" pitchFamily="34" charset="-122"/>
                <a:cs typeface="Calibri" pitchFamily="34" charset="-120"/>
              </a:rPr>
              <a:t>Needs segmentation masks or a segmentation model. Then grading becomes measurable.</a:t>
            </a:r>
            <a:endParaRPr lang="en-US" sz="950" dirty="0"/>
          </a:p>
        </p:txBody>
      </p:sp>
      <p:sp>
        <p:nvSpPr>
          <p:cNvPr id="11" name="Shape 9"/>
          <p:cNvSpPr/>
          <p:nvPr/>
        </p:nvSpPr>
        <p:spPr>
          <a:xfrm>
            <a:off x="548640" y="2596896"/>
            <a:ext cx="11064240" cy="786384"/>
          </a:xfrm>
          <a:prstGeom prst="roundRect">
            <a:avLst>
              <a:gd name="adj" fmla="val 93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2" name="Shape 10"/>
          <p:cNvSpPr/>
          <p:nvPr/>
        </p:nvSpPr>
        <p:spPr>
          <a:xfrm>
            <a:off x="786384" y="2798064"/>
            <a:ext cx="384048" cy="384048"/>
          </a:xfrm>
          <a:prstGeom prst="ellipse">
            <a:avLst/>
          </a:prstGeom>
          <a:solidFill>
            <a:srgbClr val="E9973F"/>
          </a:solidFill>
          <a:ln w="12700">
            <a:solidFill>
              <a:srgbClr val="E9973F"/>
            </a:solidFill>
            <a:prstDash val="solid"/>
          </a:ln>
        </p:spPr>
      </p:sp>
      <p:sp>
        <p:nvSpPr>
          <p:cNvPr id="13" name="Text 11"/>
          <p:cNvSpPr txBox="1"/>
          <p:nvPr/>
        </p:nvSpPr>
        <p:spPr>
          <a:xfrm>
            <a:off x="786384" y="2798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298448" y="2688336"/>
            <a:ext cx="2514600" cy="603504"/>
          </a:xfrm>
          <a:prstGeom prst="rect">
            <a:avLst/>
          </a:prstGeom>
          <a:noFill/>
          <a:ln/>
        </p:spPr>
        <p:txBody>
          <a:bodyPr wrap="square" lIns="0" tIns="0" rIns="0" bIns="0" rtlCol="0" anchor="t"/>
          <a:lstStyle/>
          <a:p>
            <a:pPr indent="0" marL="0">
              <a:buNone/>
            </a:pPr>
            <a:r>
              <a:rPr lang="en-US" sz="1200" b="1" dirty="0">
                <a:solidFill>
                  <a:srgbClr val="0E2A47"/>
                </a:solidFill>
                <a:latin typeface="Calibri" pitchFamily="34" charset="0"/>
                <a:ea typeface="Calibri" pitchFamily="34" charset="-122"/>
                <a:cs typeface="Calibri" pitchFamily="34" charset="-120"/>
              </a:rPr>
              <a:t>Patient-level splitting</a:t>
            </a:r>
            <a:endParaRPr lang="en-US" sz="1200" dirty="0"/>
          </a:p>
        </p:txBody>
      </p:sp>
      <p:sp>
        <p:nvSpPr>
          <p:cNvPr id="15" name="Text 13"/>
          <p:cNvSpPr txBox="1"/>
          <p:nvPr/>
        </p:nvSpPr>
        <p:spPr>
          <a:xfrm>
            <a:off x="3840480" y="2670048"/>
            <a:ext cx="4800600" cy="658368"/>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We removed 700 duplicate and near-duplicate images, verified 0 remaining. But two different slices of the same patient are undetectable without identifiers, which this dataset does not ship.</a:t>
            </a:r>
            <a:endParaRPr lang="en-US" sz="950" dirty="0"/>
          </a:p>
        </p:txBody>
      </p:sp>
      <p:sp>
        <p:nvSpPr>
          <p:cNvPr id="16" name="Text 14"/>
          <p:cNvSpPr txBox="1"/>
          <p:nvPr/>
        </p:nvSpPr>
        <p:spPr>
          <a:xfrm>
            <a:off x="8778240" y="2670048"/>
            <a:ext cx="2606040" cy="658368"/>
          </a:xfrm>
          <a:prstGeom prst="rect">
            <a:avLst/>
          </a:prstGeom>
          <a:noFill/>
          <a:ln/>
        </p:spPr>
        <p:txBody>
          <a:bodyPr wrap="square" lIns="0" tIns="0" rIns="0" bIns="0" rtlCol="0" anchor="t"/>
          <a:lstStyle/>
          <a:p>
            <a:pPr indent="0" marL="0">
              <a:buNone/>
            </a:pPr>
            <a:r>
              <a:rPr lang="en-US" sz="950" b="1" dirty="0">
                <a:solidFill>
                  <a:srgbClr val="E9973F"/>
                </a:solidFill>
                <a:latin typeface="Calibri" pitchFamily="34" charset="0"/>
                <a:ea typeface="Calibri" pitchFamily="34" charset="-122"/>
                <a:cs typeface="Calibri" pitchFamily="34" charset="-120"/>
              </a:rPr>
              <a:t>Needs a dataset with patient IDs — or the original DICOM headers.</a:t>
            </a:r>
            <a:endParaRPr lang="en-US" sz="950" dirty="0"/>
          </a:p>
        </p:txBody>
      </p:sp>
      <p:sp>
        <p:nvSpPr>
          <p:cNvPr id="17" name="Shape 15"/>
          <p:cNvSpPr/>
          <p:nvPr/>
        </p:nvSpPr>
        <p:spPr>
          <a:xfrm>
            <a:off x="548640" y="3474720"/>
            <a:ext cx="11064240" cy="786384"/>
          </a:xfrm>
          <a:prstGeom prst="roundRect">
            <a:avLst>
              <a:gd name="adj" fmla="val 93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18" name="Shape 16"/>
          <p:cNvSpPr/>
          <p:nvPr/>
        </p:nvSpPr>
        <p:spPr>
          <a:xfrm>
            <a:off x="786384" y="3675888"/>
            <a:ext cx="384048" cy="384048"/>
          </a:xfrm>
          <a:prstGeom prst="ellipse">
            <a:avLst/>
          </a:prstGeom>
          <a:solidFill>
            <a:srgbClr val="00A896"/>
          </a:solidFill>
          <a:ln w="12700">
            <a:solidFill>
              <a:srgbClr val="00A896"/>
            </a:solidFill>
            <a:prstDash val="solid"/>
          </a:ln>
        </p:spPr>
      </p:sp>
      <p:sp>
        <p:nvSpPr>
          <p:cNvPr id="19" name="Text 17"/>
          <p:cNvSpPr txBox="1"/>
          <p:nvPr/>
        </p:nvSpPr>
        <p:spPr>
          <a:xfrm>
            <a:off x="786384" y="3675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298448" y="3566160"/>
            <a:ext cx="2514600" cy="603504"/>
          </a:xfrm>
          <a:prstGeom prst="rect">
            <a:avLst/>
          </a:prstGeom>
          <a:noFill/>
          <a:ln/>
        </p:spPr>
        <p:txBody>
          <a:bodyPr wrap="square" lIns="0" tIns="0" rIns="0" bIns="0" rtlCol="0" anchor="t"/>
          <a:lstStyle/>
          <a:p>
            <a:pPr indent="0" marL="0">
              <a:buNone/>
            </a:pPr>
            <a:r>
              <a:rPr lang="en-US" sz="1200" b="1" dirty="0">
                <a:solidFill>
                  <a:srgbClr val="0E2A47"/>
                </a:solidFill>
                <a:latin typeface="Calibri" pitchFamily="34" charset="0"/>
                <a:ea typeface="Calibri" pitchFamily="34" charset="-122"/>
                <a:cs typeface="Calibri" pitchFamily="34" charset="-120"/>
              </a:rPr>
              <a:t>Calibration on deployment data</a:t>
            </a:r>
            <a:endParaRPr lang="en-US" sz="1200" dirty="0"/>
          </a:p>
        </p:txBody>
      </p:sp>
      <p:sp>
        <p:nvSpPr>
          <p:cNvPr id="21" name="Text 19"/>
          <p:cNvSpPr txBox="1"/>
          <p:nvPr/>
        </p:nvSpPr>
        <p:spPr>
          <a:xfrm>
            <a:off x="3840480" y="3547872"/>
            <a:ext cx="4800600" cy="658368"/>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Measured: fitting the temperature on a training split makes calibration worse (ECE 0.0214 → 0.0369); fitting within the deployment distribution works (0.0238 → 0.0165, −31%).</a:t>
            </a:r>
            <a:endParaRPr lang="en-US" sz="950" dirty="0"/>
          </a:p>
        </p:txBody>
      </p:sp>
      <p:sp>
        <p:nvSpPr>
          <p:cNvPr id="22" name="Text 20"/>
          <p:cNvSpPr txBox="1"/>
          <p:nvPr/>
        </p:nvSpPr>
        <p:spPr>
          <a:xfrm>
            <a:off x="8778240" y="3547872"/>
            <a:ext cx="2606040" cy="658368"/>
          </a:xfrm>
          <a:prstGeom prst="rect">
            <a:avLst/>
          </a:prstGeom>
          <a:noFill/>
          <a:ln/>
        </p:spPr>
        <p:txBody>
          <a:bodyPr wrap="square" lIns="0" tIns="0" rIns="0" bIns="0" rtlCol="0" anchor="t"/>
          <a:lstStyle/>
          <a:p>
            <a:pPr indent="0" marL="0">
              <a:buNone/>
            </a:pPr>
            <a:r>
              <a:rPr lang="en-US" sz="950" b="1" dirty="0">
                <a:solidFill>
                  <a:srgbClr val="00A896"/>
                </a:solidFill>
                <a:latin typeface="Calibri" pitchFamily="34" charset="0"/>
                <a:ea typeface="Calibri" pitchFamily="34" charset="-122"/>
                <a:cs typeface="Calibri" pitchFamily="34" charset="-120"/>
              </a:rPr>
              <a:t>The tool ships. It needs a calibration set from the target site's own scanner.</a:t>
            </a:r>
            <a:endParaRPr lang="en-US" sz="950" dirty="0"/>
          </a:p>
        </p:txBody>
      </p:sp>
      <p:sp>
        <p:nvSpPr>
          <p:cNvPr id="23" name="Shape 21"/>
          <p:cNvSpPr/>
          <p:nvPr/>
        </p:nvSpPr>
        <p:spPr>
          <a:xfrm>
            <a:off x="548640" y="4352544"/>
            <a:ext cx="11064240" cy="786384"/>
          </a:xfrm>
          <a:prstGeom prst="roundRect">
            <a:avLst>
              <a:gd name="adj" fmla="val 93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24" name="Shape 22"/>
          <p:cNvSpPr/>
          <p:nvPr/>
        </p:nvSpPr>
        <p:spPr>
          <a:xfrm>
            <a:off x="786384" y="4553712"/>
            <a:ext cx="384048" cy="384048"/>
          </a:xfrm>
          <a:prstGeom prst="ellipse">
            <a:avLst/>
          </a:prstGeom>
          <a:solidFill>
            <a:srgbClr val="00A896"/>
          </a:solidFill>
          <a:ln w="12700">
            <a:solidFill>
              <a:srgbClr val="00A896"/>
            </a:solidFill>
            <a:prstDash val="solid"/>
          </a:ln>
        </p:spPr>
      </p:sp>
      <p:sp>
        <p:nvSpPr>
          <p:cNvPr id="25" name="Text 23"/>
          <p:cNvSpPr txBox="1"/>
          <p:nvPr/>
        </p:nvSpPr>
        <p:spPr>
          <a:xfrm>
            <a:off x="786384" y="4553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1298448" y="4443984"/>
            <a:ext cx="2514600" cy="603504"/>
          </a:xfrm>
          <a:prstGeom prst="rect">
            <a:avLst/>
          </a:prstGeom>
          <a:noFill/>
          <a:ln/>
        </p:spPr>
        <p:txBody>
          <a:bodyPr wrap="square" lIns="0" tIns="0" rIns="0" bIns="0" rtlCol="0" anchor="t"/>
          <a:lstStyle/>
          <a:p>
            <a:pPr indent="0" marL="0">
              <a:buNone/>
            </a:pPr>
            <a:r>
              <a:rPr lang="en-US" sz="1200" b="1" dirty="0">
                <a:solidFill>
                  <a:srgbClr val="0E2A47"/>
                </a:solidFill>
                <a:latin typeface="Calibri" pitchFamily="34" charset="0"/>
                <a:ea typeface="Calibri" pitchFamily="34" charset="-122"/>
                <a:cs typeface="Calibri" pitchFamily="34" charset="-120"/>
              </a:rPr>
              <a:t>Training on volumes</a:t>
            </a:r>
            <a:endParaRPr lang="en-US" sz="1200" dirty="0"/>
          </a:p>
        </p:txBody>
      </p:sp>
      <p:sp>
        <p:nvSpPr>
          <p:cNvPr id="27" name="Text 25"/>
          <p:cNvSpPr txBox="1"/>
          <p:nvPr/>
        </p:nvSpPr>
        <p:spPr>
          <a:xfrm>
            <a:off x="3840480" y="4425696"/>
            <a:ext cx="4800600" cy="658368"/>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Volumetric inference is implemented and tested — a 15-slice study scored 9 informative slices and stayed correct where 3 individual slices disagreed.</a:t>
            </a:r>
            <a:endParaRPr lang="en-US" sz="950" dirty="0"/>
          </a:p>
        </p:txBody>
      </p:sp>
      <p:sp>
        <p:nvSpPr>
          <p:cNvPr id="28" name="Text 26"/>
          <p:cNvSpPr txBox="1"/>
          <p:nvPr/>
        </p:nvSpPr>
        <p:spPr>
          <a:xfrm>
            <a:off x="8778240" y="4425696"/>
            <a:ext cx="2606040" cy="658368"/>
          </a:xfrm>
          <a:prstGeom prst="rect">
            <a:avLst/>
          </a:prstGeom>
          <a:noFill/>
          <a:ln/>
        </p:spPr>
        <p:txBody>
          <a:bodyPr wrap="square" lIns="0" tIns="0" rIns="0" bIns="0" rtlCol="0" anchor="t"/>
          <a:lstStyle/>
          <a:p>
            <a:pPr indent="0" marL="0">
              <a:buNone/>
            </a:pPr>
            <a:r>
              <a:rPr lang="en-US" sz="950" b="1" dirty="0">
                <a:solidFill>
                  <a:srgbClr val="00A896"/>
                </a:solidFill>
                <a:latin typeface="Calibri" pitchFamily="34" charset="0"/>
                <a:ea typeface="Calibri" pitchFamily="34" charset="-122"/>
                <a:cs typeface="Calibri" pitchFamily="34" charset="-120"/>
              </a:rPr>
              <a:t>Training is still slice-level. A 3D backbone needs volumetric training data.</a:t>
            </a:r>
            <a:endParaRPr lang="en-US" sz="950" dirty="0"/>
          </a:p>
        </p:txBody>
      </p:sp>
      <p:sp>
        <p:nvSpPr>
          <p:cNvPr id="29" name="Shape 27"/>
          <p:cNvSpPr/>
          <p:nvPr/>
        </p:nvSpPr>
        <p:spPr>
          <a:xfrm>
            <a:off x="548640" y="5230368"/>
            <a:ext cx="11064240" cy="786384"/>
          </a:xfrm>
          <a:prstGeom prst="roundRect">
            <a:avLst>
              <a:gd name="adj" fmla="val 9302"/>
            </a:avLst>
          </a:prstGeom>
          <a:solidFill>
            <a:srgbClr val="FFFFFF"/>
          </a:solidFill>
          <a:ln w="12700">
            <a:solidFill>
              <a:srgbClr val="E2E9F2"/>
            </a:solidFill>
            <a:prstDash val="solid"/>
          </a:ln>
          <a:effectLst>
            <a:outerShdw sx="100000" sy="100000" kx="0" ky="0" algn="bl" rotWithShape="0" blurRad="127000" dist="25400" dir="5400000">
              <a:srgbClr val="0A1C2E">
                <a:alpha val="16000"/>
              </a:srgbClr>
            </a:outerShdw>
          </a:effectLst>
        </p:spPr>
      </p:sp>
      <p:sp>
        <p:nvSpPr>
          <p:cNvPr id="30" name="Shape 28"/>
          <p:cNvSpPr/>
          <p:nvPr/>
        </p:nvSpPr>
        <p:spPr>
          <a:xfrm>
            <a:off x="786384" y="5431536"/>
            <a:ext cx="384048" cy="384048"/>
          </a:xfrm>
          <a:prstGeom prst="ellipse">
            <a:avLst/>
          </a:prstGeom>
          <a:solidFill>
            <a:srgbClr val="5B6E88"/>
          </a:solidFill>
          <a:ln w="12700">
            <a:solidFill>
              <a:srgbClr val="5B6E88"/>
            </a:solidFill>
            <a:prstDash val="solid"/>
          </a:ln>
        </p:spPr>
      </p:sp>
      <p:sp>
        <p:nvSpPr>
          <p:cNvPr id="31" name="Text 29"/>
          <p:cNvSpPr txBox="1"/>
          <p:nvPr/>
        </p:nvSpPr>
        <p:spPr>
          <a:xfrm>
            <a:off x="786384" y="5431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298448" y="5321808"/>
            <a:ext cx="2514600" cy="603504"/>
          </a:xfrm>
          <a:prstGeom prst="rect">
            <a:avLst/>
          </a:prstGeom>
          <a:noFill/>
          <a:ln/>
        </p:spPr>
        <p:txBody>
          <a:bodyPr wrap="square" lIns="0" tIns="0" rIns="0" bIns="0" rtlCol="0" anchor="t"/>
          <a:lstStyle/>
          <a:p>
            <a:pPr indent="0" marL="0">
              <a:buNone/>
            </a:pPr>
            <a:r>
              <a:rPr lang="en-US" sz="1200" b="1" dirty="0">
                <a:solidFill>
                  <a:srgbClr val="0E2A47"/>
                </a:solidFill>
                <a:latin typeface="Calibri" pitchFamily="34" charset="0"/>
                <a:ea typeface="Calibri" pitchFamily="34" charset="-122"/>
                <a:cs typeface="Calibri" pitchFamily="34" charset="-120"/>
              </a:rPr>
              <a:t>External cohort validation</a:t>
            </a:r>
            <a:endParaRPr lang="en-US" sz="1200" dirty="0"/>
          </a:p>
        </p:txBody>
      </p:sp>
      <p:sp>
        <p:nvSpPr>
          <p:cNvPr id="33" name="Text 31"/>
          <p:cNvSpPr txBox="1"/>
          <p:nvPr/>
        </p:nvSpPr>
        <p:spPr>
          <a:xfrm>
            <a:off x="3840480" y="5303520"/>
            <a:ext cx="4800600" cy="658368"/>
          </a:xfrm>
          <a:prstGeom prst="rect">
            <a:avLst/>
          </a:prstGeom>
          <a:noFill/>
          <a:ln/>
        </p:spPr>
        <p:txBody>
          <a:bodyPr wrap="square" lIns="0" tIns="0" rIns="0" bIns="0" rtlCol="0" anchor="t"/>
          <a:lstStyle/>
          <a:p>
            <a:pPr indent="0" marL="0">
              <a:buNone/>
            </a:pPr>
            <a:r>
              <a:rPr lang="en-US" sz="950" dirty="0">
                <a:solidFill>
                  <a:srgbClr val="5B6E88"/>
                </a:solidFill>
                <a:latin typeface="Calibri" pitchFamily="34" charset="0"/>
                <a:ea typeface="Calibri" pitchFamily="34" charset="-122"/>
                <a:cs typeface="Calibri" pitchFamily="34" charset="-120"/>
              </a:rPr>
              <a:t>Every number in this deck comes from one public dataset, whose integrity problems we had to find ourselves.</a:t>
            </a:r>
            <a:endParaRPr lang="en-US" sz="950" dirty="0"/>
          </a:p>
        </p:txBody>
      </p:sp>
      <p:sp>
        <p:nvSpPr>
          <p:cNvPr id="34" name="Text 32"/>
          <p:cNvSpPr txBox="1"/>
          <p:nvPr/>
        </p:nvSpPr>
        <p:spPr>
          <a:xfrm>
            <a:off x="8778240" y="5303520"/>
            <a:ext cx="2606040" cy="658368"/>
          </a:xfrm>
          <a:prstGeom prst="rect">
            <a:avLst/>
          </a:prstGeom>
          <a:noFill/>
          <a:ln/>
        </p:spPr>
        <p:txBody>
          <a:bodyPr wrap="square" lIns="0" tIns="0" rIns="0" bIns="0" rtlCol="0" anchor="t"/>
          <a:lstStyle/>
          <a:p>
            <a:pPr indent="0" marL="0">
              <a:buNone/>
            </a:pPr>
            <a:r>
              <a:rPr lang="en-US" sz="950" b="1" dirty="0">
                <a:solidFill>
                  <a:srgbClr val="5B6E88"/>
                </a:solidFill>
                <a:latin typeface="Calibri" pitchFamily="34" charset="0"/>
                <a:ea typeface="Calibri" pitchFamily="34" charset="-122"/>
                <a:cs typeface="Calibri" pitchFamily="34" charset="-120"/>
              </a:rPr>
              <a:t>A second, independent cohort is the only way to test the domain gap honestly.</a:t>
            </a:r>
            <a:endParaRPr lang="en-US" sz="950" dirty="0"/>
          </a:p>
        </p:txBody>
      </p:sp>
      <p:sp>
        <p:nvSpPr>
          <p:cNvPr id="35" name="Text 33"/>
          <p:cNvSpPr txBox="1"/>
          <p:nvPr/>
        </p:nvSpPr>
        <p:spPr>
          <a:xfrm>
            <a:off x="548640" y="6144768"/>
            <a:ext cx="11064240" cy="310896"/>
          </a:xfrm>
          <a:prstGeom prst="rect">
            <a:avLst/>
          </a:prstGeom>
          <a:noFill/>
          <a:ln/>
        </p:spPr>
        <p:txBody>
          <a:bodyPr wrap="square" lIns="0" tIns="0" rIns="0" bIns="0" rtlCol="0" anchor="t"/>
          <a:lstStyle/>
          <a:p>
            <a:pPr indent="0" marL="0">
              <a:buNone/>
            </a:pPr>
            <a:r>
              <a:rPr lang="en-US" sz="1150" i="1" dirty="0">
                <a:solidFill>
                  <a:srgbClr val="0E2A47"/>
                </a:solidFill>
                <a:latin typeface="Calibri" pitchFamily="34" charset="0"/>
                <a:ea typeface="Calibri" pitchFamily="34" charset="-122"/>
                <a:cs typeface="Calibri" pitchFamily="34" charset="-120"/>
              </a:rPr>
              <a:t>The strongest thing we can say about item 1: we did not skip grading — we implemented it, failed to validate it, and can show the numbers.</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9326880" y="-1645920"/>
            <a:ext cx="4572000" cy="4572000"/>
          </a:xfrm>
          <a:prstGeom prst="ellipse">
            <a:avLst/>
          </a:prstGeom>
          <a:solidFill>
            <a:srgbClr val="16395E"/>
          </a:solidFill>
          <a:ln/>
        </p:spPr>
      </p:sp>
      <p:sp>
        <p:nvSpPr>
          <p:cNvPr id="3" name="Text 1"/>
          <p:cNvSpPr txBox="1"/>
          <p:nvPr/>
        </p:nvSpPr>
        <p:spPr>
          <a:xfrm>
            <a:off x="548640" y="868680"/>
            <a:ext cx="7315200" cy="274320"/>
          </a:xfrm>
          <a:prstGeom prst="rect">
            <a:avLst/>
          </a:prstGeom>
          <a:noFill/>
          <a:ln/>
        </p:spPr>
        <p:txBody>
          <a:bodyPr wrap="square" lIns="0" tIns="0" rIns="0" bIns="0" rtlCol="0" anchor="ctr"/>
          <a:lstStyle/>
          <a:p>
            <a:pPr indent="0" marL="0">
              <a:buNone/>
            </a:pPr>
            <a:r>
              <a:rPr lang="en-US" sz="1200" b="1" spc="200" kern="0" dirty="0">
                <a:solidFill>
                  <a:srgbClr val="E9973F"/>
                </a:solidFill>
                <a:latin typeface="Calibri" pitchFamily="34" charset="0"/>
                <a:ea typeface="Calibri" pitchFamily="34" charset="-122"/>
                <a:cs typeface="Calibri" pitchFamily="34" charset="-120"/>
              </a:rPr>
              <a:t>IN SUMMARY</a:t>
            </a:r>
            <a:endParaRPr lang="en-US" sz="1200" dirty="0"/>
          </a:p>
        </p:txBody>
      </p:sp>
      <p:sp>
        <p:nvSpPr>
          <p:cNvPr id="4" name="Text 2"/>
          <p:cNvSpPr txBox="1"/>
          <p:nvPr/>
        </p:nvSpPr>
        <p:spPr>
          <a:xfrm>
            <a:off x="548640" y="1234440"/>
            <a:ext cx="8412480" cy="13716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From a published classifier</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to a deployable system</a:t>
            </a:r>
            <a:endParaRPr lang="en-US" sz="3600" dirty="0"/>
          </a:p>
        </p:txBody>
      </p:sp>
      <p:sp>
        <p:nvSpPr>
          <p:cNvPr id="5" name="Shape 3"/>
          <p:cNvSpPr/>
          <p:nvPr/>
        </p:nvSpPr>
        <p:spPr>
          <a:xfrm>
            <a:off x="548640" y="2880360"/>
            <a:ext cx="5394960" cy="1280160"/>
          </a:xfrm>
          <a:prstGeom prst="roundRect">
            <a:avLst>
              <a:gd name="adj" fmla="val 5714"/>
            </a:avLst>
          </a:prstGeom>
          <a:solidFill>
            <a:srgbClr val="16395E"/>
          </a:solidFill>
          <a:ln w="12700">
            <a:solidFill>
              <a:srgbClr val="27496F"/>
            </a:solidFill>
            <a:prstDash val="solid"/>
          </a:ln>
        </p:spPr>
      </p:sp>
      <p:sp>
        <p:nvSpPr>
          <p:cNvPr id="6" name="Text 4"/>
          <p:cNvSpPr txBox="1"/>
          <p:nvPr/>
        </p:nvSpPr>
        <p:spPr>
          <a:xfrm>
            <a:off x="804672" y="3044952"/>
            <a:ext cx="4846320" cy="27432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We kept what worked</a:t>
            </a:r>
            <a:endParaRPr lang="en-US" sz="1300" dirty="0"/>
          </a:p>
        </p:txBody>
      </p:sp>
      <p:sp>
        <p:nvSpPr>
          <p:cNvPr id="7" name="Text 5"/>
          <p:cNvSpPr txBox="1"/>
          <p:nvPr/>
        </p:nvSpPr>
        <p:spPr>
          <a:xfrm>
            <a:off x="804672" y="3355848"/>
            <a:ext cx="4846320" cy="731520"/>
          </a:xfrm>
          <a:prstGeom prst="rect">
            <a:avLst/>
          </a:prstGeom>
          <a:noFill/>
          <a:ln/>
        </p:spPr>
        <p:txBody>
          <a:bodyPr wrap="square" lIns="0" tIns="0" rIns="0" bIns="0" rtlCol="0" anchor="ctr"/>
          <a:lstStyle/>
          <a:p>
            <a:pPr indent="0" marL="0">
              <a:buNone/>
            </a:pPr>
            <a:r>
              <a:rPr lang="en-US" sz="1050" dirty="0">
                <a:solidFill>
                  <a:srgbClr val="C9DCEF"/>
                </a:solidFill>
                <a:latin typeface="Calibri" pitchFamily="34" charset="0"/>
                <a:ea typeface="Calibri" pitchFamily="34" charset="-122"/>
                <a:cs typeface="Calibri" pitchFamily="34" charset="-120"/>
              </a:rPr>
              <a:t>The hybrid idea itself — deep features plus handcrafted HOG, guided by CBAM attention — is the paper's contribution and it is sound.</a:t>
            </a:r>
            <a:endParaRPr lang="en-US" sz="1050" dirty="0"/>
          </a:p>
        </p:txBody>
      </p:sp>
      <p:sp>
        <p:nvSpPr>
          <p:cNvPr id="8" name="Shape 6"/>
          <p:cNvSpPr/>
          <p:nvPr/>
        </p:nvSpPr>
        <p:spPr>
          <a:xfrm>
            <a:off x="6217920" y="2880360"/>
            <a:ext cx="5394960" cy="1280160"/>
          </a:xfrm>
          <a:prstGeom prst="roundRect">
            <a:avLst>
              <a:gd name="adj" fmla="val 5714"/>
            </a:avLst>
          </a:prstGeom>
          <a:solidFill>
            <a:srgbClr val="16395E"/>
          </a:solidFill>
          <a:ln w="12700">
            <a:solidFill>
              <a:srgbClr val="27496F"/>
            </a:solidFill>
            <a:prstDash val="solid"/>
          </a:ln>
        </p:spPr>
      </p:sp>
      <p:sp>
        <p:nvSpPr>
          <p:cNvPr id="9" name="Text 7"/>
          <p:cNvSpPr txBox="1"/>
          <p:nvPr/>
        </p:nvSpPr>
        <p:spPr>
          <a:xfrm>
            <a:off x="6473952" y="3044952"/>
            <a:ext cx="4846320" cy="27432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We replaced what limited it</a:t>
            </a:r>
            <a:endParaRPr lang="en-US" sz="1300" dirty="0"/>
          </a:p>
        </p:txBody>
      </p:sp>
      <p:sp>
        <p:nvSpPr>
          <p:cNvPr id="10" name="Text 8"/>
          <p:cNvSpPr txBox="1"/>
          <p:nvPr/>
        </p:nvSpPr>
        <p:spPr>
          <a:xfrm>
            <a:off x="6473952" y="3355848"/>
            <a:ext cx="4846320" cy="731520"/>
          </a:xfrm>
          <a:prstGeom prst="rect">
            <a:avLst/>
          </a:prstGeom>
          <a:noFill/>
          <a:ln/>
        </p:spPr>
        <p:txBody>
          <a:bodyPr wrap="square" lIns="0" tIns="0" rIns="0" bIns="0" rtlCol="0" anchor="ctr"/>
          <a:lstStyle/>
          <a:p>
            <a:pPr indent="0" marL="0">
              <a:buNone/>
            </a:pPr>
            <a:r>
              <a:rPr lang="en-US" sz="1050" dirty="0">
                <a:solidFill>
                  <a:srgbClr val="C9DCEF"/>
                </a:solidFill>
                <a:latin typeface="Calibri" pitchFamily="34" charset="0"/>
                <a:ea typeface="Calibri" pitchFamily="34" charset="-122"/>
                <a:cs typeface="Calibri" pitchFamily="34" charset="-120"/>
              </a:rPr>
              <a:t>Deeper pretrained backbone, higher resolution, end-to-end training in place of a frozen two-stage SVM.</a:t>
            </a:r>
            <a:endParaRPr lang="en-US" sz="1050" dirty="0"/>
          </a:p>
        </p:txBody>
      </p:sp>
      <p:sp>
        <p:nvSpPr>
          <p:cNvPr id="11" name="Shape 9"/>
          <p:cNvSpPr/>
          <p:nvPr/>
        </p:nvSpPr>
        <p:spPr>
          <a:xfrm>
            <a:off x="548640" y="4343400"/>
            <a:ext cx="5394960" cy="1280160"/>
          </a:xfrm>
          <a:prstGeom prst="roundRect">
            <a:avLst>
              <a:gd name="adj" fmla="val 5714"/>
            </a:avLst>
          </a:prstGeom>
          <a:solidFill>
            <a:srgbClr val="16395E"/>
          </a:solidFill>
          <a:ln w="12700">
            <a:solidFill>
              <a:srgbClr val="27496F"/>
            </a:solidFill>
            <a:prstDash val="solid"/>
          </a:ln>
        </p:spPr>
      </p:sp>
      <p:sp>
        <p:nvSpPr>
          <p:cNvPr id="12" name="Text 10"/>
          <p:cNvSpPr txBox="1"/>
          <p:nvPr/>
        </p:nvSpPr>
        <p:spPr>
          <a:xfrm>
            <a:off x="804672" y="4507992"/>
            <a:ext cx="4846320" cy="27432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We measured instead of assuming</a:t>
            </a:r>
            <a:endParaRPr lang="en-US" sz="1300" dirty="0"/>
          </a:p>
        </p:txBody>
      </p:sp>
      <p:sp>
        <p:nvSpPr>
          <p:cNvPr id="13" name="Text 11"/>
          <p:cNvSpPr txBox="1"/>
          <p:nvPr/>
        </p:nvSpPr>
        <p:spPr>
          <a:xfrm>
            <a:off x="804672" y="4818888"/>
            <a:ext cx="4846320" cy="731520"/>
          </a:xfrm>
          <a:prstGeom prst="rect">
            <a:avLst/>
          </a:prstGeom>
          <a:noFill/>
          <a:ln/>
        </p:spPr>
        <p:txBody>
          <a:bodyPr wrap="square" lIns="0" tIns="0" rIns="0" bIns="0" rtlCol="0" anchor="ctr"/>
          <a:lstStyle/>
          <a:p>
            <a:pPr indent="0" marL="0">
              <a:buNone/>
            </a:pPr>
            <a:r>
              <a:rPr lang="en-US" sz="1050" dirty="0">
                <a:solidFill>
                  <a:srgbClr val="C9DCEF"/>
                </a:solidFill>
                <a:latin typeface="Calibri" pitchFamily="34" charset="0"/>
                <a:ea typeface="Calibri" pitchFamily="34" charset="-122"/>
                <a:cs typeface="Calibri" pitchFamily="34" charset="-120"/>
              </a:rPr>
              <a:t>The TTA policy was chosen by experiment, not intuition — and it was worth 6.6 accuracy points.</a:t>
            </a:r>
            <a:endParaRPr lang="en-US" sz="1050" dirty="0"/>
          </a:p>
        </p:txBody>
      </p:sp>
      <p:sp>
        <p:nvSpPr>
          <p:cNvPr id="14" name="Shape 12"/>
          <p:cNvSpPr/>
          <p:nvPr/>
        </p:nvSpPr>
        <p:spPr>
          <a:xfrm>
            <a:off x="6217920" y="4343400"/>
            <a:ext cx="5394960" cy="1280160"/>
          </a:xfrm>
          <a:prstGeom prst="roundRect">
            <a:avLst>
              <a:gd name="adj" fmla="val 5714"/>
            </a:avLst>
          </a:prstGeom>
          <a:solidFill>
            <a:srgbClr val="16395E"/>
          </a:solidFill>
          <a:ln w="12700">
            <a:solidFill>
              <a:srgbClr val="27496F"/>
            </a:solidFill>
            <a:prstDash val="solid"/>
          </a:ln>
        </p:spPr>
      </p:sp>
      <p:sp>
        <p:nvSpPr>
          <p:cNvPr id="15" name="Text 13"/>
          <p:cNvSpPr txBox="1"/>
          <p:nvPr/>
        </p:nvSpPr>
        <p:spPr>
          <a:xfrm>
            <a:off x="6473952" y="4507992"/>
            <a:ext cx="4846320" cy="27432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We built the layer a clinic needs</a:t>
            </a:r>
            <a:endParaRPr lang="en-US" sz="1300" dirty="0"/>
          </a:p>
        </p:txBody>
      </p:sp>
      <p:sp>
        <p:nvSpPr>
          <p:cNvPr id="16" name="Text 14"/>
          <p:cNvSpPr txBox="1"/>
          <p:nvPr/>
        </p:nvSpPr>
        <p:spPr>
          <a:xfrm>
            <a:off x="6473952" y="4818888"/>
            <a:ext cx="4846320" cy="731520"/>
          </a:xfrm>
          <a:prstGeom prst="rect">
            <a:avLst/>
          </a:prstGeom>
          <a:noFill/>
          <a:ln/>
        </p:spPr>
        <p:txBody>
          <a:bodyPr wrap="square" lIns="0" tIns="0" rIns="0" bIns="0" rtlCol="0" anchor="ctr"/>
          <a:lstStyle/>
          <a:p>
            <a:pPr indent="0" marL="0">
              <a:buNone/>
            </a:pPr>
            <a:r>
              <a:rPr lang="en-US" sz="1050" dirty="0">
                <a:solidFill>
                  <a:srgbClr val="C9DCEF"/>
                </a:solidFill>
                <a:latin typeface="Calibri" pitchFamily="34" charset="0"/>
                <a:ea typeface="Calibri" pitchFamily="34" charset="-122"/>
                <a:cs typeface="Calibri" pitchFamily="34" charset="-120"/>
              </a:rPr>
              <a:t>Staging, safeguards, explainability, reports, and three interfaces including DICOM input.</a:t>
            </a:r>
            <a:endParaRPr lang="en-US" sz="1050" dirty="0"/>
          </a:p>
        </p:txBody>
      </p:sp>
      <p:sp>
        <p:nvSpPr>
          <p:cNvPr id="17" name="Text 15"/>
          <p:cNvSpPr txBox="1"/>
          <p:nvPr/>
        </p:nvSpPr>
        <p:spPr>
          <a:xfrm>
            <a:off x="548640" y="5943600"/>
            <a:ext cx="11064240" cy="329184"/>
          </a:xfrm>
          <a:prstGeom prst="rect">
            <a:avLst/>
          </a:prstGeom>
          <a:noFill/>
          <a:ln/>
        </p:spPr>
        <p:txBody>
          <a:bodyPr wrap="square" lIns="0" tIns="0" rIns="0" bIns="0" rtlCol="0" anchor="ctr"/>
          <a:lstStyle/>
          <a:p>
            <a:pPr indent="0" marL="0">
              <a:buNone/>
            </a:pPr>
            <a:r>
              <a:rPr lang="en-US" sz="1200" i="1" dirty="0">
                <a:solidFill>
                  <a:srgbClr val="8FA9C4"/>
                </a:solidFill>
                <a:latin typeface="Calibri" pitchFamily="34" charset="0"/>
                <a:ea typeface="Calibri" pitchFamily="34" charset="-122"/>
                <a:cs typeface="Calibri" pitchFamily="34" charset="-120"/>
              </a:rPr>
              <a:t>FreeBuff v4  ·  94.53% accuracy, macro F1 0.9431 on 1,189 held-out images audited free of training contamination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FreeBuff v4 vs. Source Paper</dc:title>
  <dc:subject>PptxGenJS Presentation</dc:subject>
  <dc:creator>FreeBuff v4 Project Team</dc:creator>
  <cp:lastModifiedBy>FreeBuff v4 Project Team</cp:lastModifiedBy>
  <cp:revision>1</cp:revision>
  <dcterms:created xsi:type="dcterms:W3CDTF">2026-09-25T13:53:22Z</dcterms:created>
  <dcterms:modified xsi:type="dcterms:W3CDTF">2026-09-25T13:53:22Z</dcterms:modified>
</cp:coreProperties>
</file>